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  <p:sldId id="263" r:id="rId9"/>
    <p:sldId id="264" r:id="rId10"/>
    <p:sldId id="289" r:id="rId11"/>
    <p:sldId id="291" r:id="rId12"/>
    <p:sldId id="290" r:id="rId13"/>
    <p:sldId id="265" r:id="rId14"/>
    <p:sldId id="266" r:id="rId15"/>
    <p:sldId id="268" r:id="rId16"/>
    <p:sldId id="267" r:id="rId17"/>
    <p:sldId id="269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61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27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13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434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21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532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658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126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903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535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946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25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38F5D-2E6C-4456-BB2D-28F89E692B2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284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38F5D-2E6C-4456-BB2D-28F89E692B20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FD6BF-0FEB-422B-A474-E7CD5A320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19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82468" y="1945716"/>
            <a:ext cx="71481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 smtClean="0">
                <a:solidFill>
                  <a:srgbClr val="FF0000"/>
                </a:solidFill>
              </a:rPr>
              <a:t>Verilog HDL</a:t>
            </a:r>
            <a:r>
              <a:rPr lang="ko-KR" altLang="en-US" sz="5400" b="1" dirty="0" smtClean="0">
                <a:solidFill>
                  <a:srgbClr val="FF0000"/>
                </a:solidFill>
              </a:rPr>
              <a:t>로 </a:t>
            </a:r>
            <a:endParaRPr lang="en-US" altLang="ko-KR" sz="5400" b="1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sz="5400" b="1" dirty="0" smtClean="0">
                <a:solidFill>
                  <a:srgbClr val="FF0000"/>
                </a:solidFill>
                <a:latin typeface="inherit"/>
              </a:rPr>
              <a:t>디지털 회로설계 </a:t>
            </a:r>
            <a:endParaRPr lang="ko-KR" altLang="en-US" sz="54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80439" y="5322278"/>
            <a:ext cx="71481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b="1" smtClean="0"/>
              <a:t>Feb 11,2026</a:t>
            </a:r>
            <a:endParaRPr lang="en-US" altLang="ko-KR" sz="2400" b="1" dirty="0" smtClean="0"/>
          </a:p>
          <a:p>
            <a:pPr algn="r"/>
            <a:r>
              <a:rPr lang="en-US" altLang="ko-KR" sz="2400" b="1" dirty="0" smtClean="0"/>
              <a:t>by SIKWON</a:t>
            </a:r>
          </a:p>
          <a:p>
            <a:pPr algn="r"/>
            <a:endParaRPr lang="en-US" altLang="ko-KR" sz="2400" b="1" dirty="0"/>
          </a:p>
          <a:p>
            <a:pPr algn="r"/>
            <a:r>
              <a:rPr lang="ko-KR" altLang="en-US" sz="2400" b="1" dirty="0"/>
              <a:t> </a:t>
            </a:r>
          </a:p>
          <a:p>
            <a:endParaRPr lang="ko-KR" alt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20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63843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ko-KR" altLang="en-US" sz="2800" b="1" dirty="0" err="1" smtClean="0"/>
              <a:t>조합회로</a:t>
            </a:r>
            <a:r>
              <a:rPr lang="en-US" altLang="ko-KR" sz="2800" b="1" dirty="0" smtClean="0"/>
              <a:t>(</a:t>
            </a:r>
            <a:r>
              <a:rPr lang="en-US" altLang="ko-KR" sz="2800" b="1" dirty="0" err="1" smtClean="0"/>
              <a:t>arithmetric</a:t>
            </a:r>
            <a:r>
              <a:rPr lang="en-US" altLang="ko-KR" sz="2800" b="1" dirty="0" smtClean="0"/>
              <a:t> logic)</a:t>
            </a:r>
            <a:endParaRPr lang="ko-KR" alt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79379" y="234754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27287" y="895846"/>
            <a:ext cx="6732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1. Half adder</a:t>
            </a:r>
            <a:r>
              <a:rPr lang="ko-KR" altLang="en-US" b="1" dirty="0" smtClean="0"/>
              <a:t> </a:t>
            </a:r>
            <a:endParaRPr lang="en-US" altLang="ko-KR" b="1" dirty="0" smtClean="0"/>
          </a:p>
          <a:p>
            <a:r>
              <a:rPr lang="en-US" altLang="ko-KR" b="1" dirty="0" smtClean="0"/>
              <a:t>2. 1bit full adder </a:t>
            </a:r>
            <a:r>
              <a:rPr lang="ko-KR" altLang="en-US" b="1" dirty="0" smtClean="0"/>
              <a:t> </a:t>
            </a:r>
            <a:endParaRPr lang="en-US" altLang="ko-KR" b="1" dirty="0" smtClean="0"/>
          </a:p>
          <a:p>
            <a:r>
              <a:rPr lang="en-US" altLang="ko-KR" b="1" dirty="0" smtClean="0"/>
              <a:t>3. 4bit </a:t>
            </a:r>
            <a:r>
              <a:rPr lang="en-US" altLang="ko-KR" b="1" dirty="0"/>
              <a:t>full </a:t>
            </a:r>
            <a:r>
              <a:rPr lang="en-US" altLang="ko-KR" b="1" dirty="0" smtClean="0"/>
              <a:t>adder  </a:t>
            </a:r>
          </a:p>
        </p:txBody>
      </p:sp>
    </p:spTree>
    <p:extLst>
      <p:ext uri="{BB962C8B-B14F-4D97-AF65-F5344CB8AC3E}">
        <p14:creationId xmlns:p14="http://schemas.microsoft.com/office/powerpoint/2010/main" val="594628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69461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ko-KR" altLang="en-US" sz="2800" b="1" dirty="0" err="1" smtClean="0"/>
              <a:t>조합회로</a:t>
            </a:r>
            <a:r>
              <a:rPr lang="en-US" altLang="ko-KR" sz="2800" b="1" dirty="0" smtClean="0"/>
              <a:t>(combinational logic)</a:t>
            </a:r>
            <a:endParaRPr lang="ko-KR" alt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79379" y="234754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9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11823192" cy="507342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조합회로</a:t>
            </a:r>
            <a:r>
              <a:rPr lang="ko-KR" altLang="en-US" dirty="0" smtClean="0">
                <a:solidFill>
                  <a:srgbClr val="FF0000"/>
                </a:solidFill>
              </a:rPr>
              <a:t>출력이 </a:t>
            </a:r>
            <a:r>
              <a:rPr lang="ko-KR" altLang="en-US" dirty="0">
                <a:solidFill>
                  <a:srgbClr val="FF0000"/>
                </a:solidFill>
              </a:rPr>
              <a:t>현재의 입력에 의해 결정되는 기억소자가 없는 회로</a:t>
            </a:r>
            <a:endParaRPr lang="en-US" altLang="ko-KR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/>
              <a:t>순차회로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Clock</a:t>
            </a:r>
            <a:r>
              <a:rPr lang="ko-KR" altLang="en-US" dirty="0">
                <a:solidFill>
                  <a:srgbClr val="FF0000"/>
                </a:solidFill>
              </a:rPr>
              <a:t>이 발생할 때 </a:t>
            </a:r>
            <a:r>
              <a:rPr lang="en-US" altLang="ko-KR" dirty="0">
                <a:solidFill>
                  <a:srgbClr val="FF0000"/>
                </a:solidFill>
              </a:rPr>
              <a:t>Data</a:t>
            </a:r>
            <a:r>
              <a:rPr lang="ko-KR" altLang="en-US" dirty="0">
                <a:solidFill>
                  <a:srgbClr val="FF0000"/>
                </a:solidFill>
              </a:rPr>
              <a:t>를 출력하고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다음 </a:t>
            </a:r>
            <a:r>
              <a:rPr lang="en-US" altLang="ko-KR" dirty="0">
                <a:solidFill>
                  <a:srgbClr val="FF0000"/>
                </a:solidFill>
              </a:rPr>
              <a:t>clock</a:t>
            </a:r>
            <a:r>
              <a:rPr lang="ko-KR" altLang="en-US" dirty="0">
                <a:solidFill>
                  <a:srgbClr val="FF0000"/>
                </a:solidFill>
              </a:rPr>
              <a:t>이 발생할 때 까지 그 값을 유지하는 </a:t>
            </a:r>
            <a:r>
              <a:rPr lang="ko-KR" altLang="en-US" dirty="0" smtClean="0">
                <a:solidFill>
                  <a:srgbClr val="FF0000"/>
                </a:solidFill>
              </a:rPr>
              <a:t>회로</a:t>
            </a:r>
            <a:r>
              <a:rPr lang="en-US" altLang="ko-KR" b="1" dirty="0" smtClean="0">
                <a:solidFill>
                  <a:srgbClr val="FF0000"/>
                </a:solidFill>
              </a:rPr>
              <a:t>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solidFill>
                  <a:srgbClr val="FF0000"/>
                </a:solidFill>
              </a:rPr>
              <a:t>출력이 </a:t>
            </a:r>
            <a:r>
              <a:rPr lang="ko-KR" altLang="en-US" dirty="0">
                <a:solidFill>
                  <a:srgbClr val="FF0000"/>
                </a:solidFill>
              </a:rPr>
              <a:t>현재의 입력과 과거의 입력 정보를 포함하여 결정되는 기억소자를 포함하는 </a:t>
            </a:r>
            <a:r>
              <a:rPr lang="ko-KR" altLang="en-US" dirty="0" smtClean="0">
                <a:solidFill>
                  <a:srgbClr val="FF0000"/>
                </a:solidFill>
              </a:rPr>
              <a:t>회로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dirty="0" smtClean="0">
                <a:solidFill>
                  <a:srgbClr val="FF0000"/>
                </a:solidFill>
              </a:rPr>
              <a:t>종류</a:t>
            </a:r>
            <a:r>
              <a:rPr lang="en-US" altLang="ko-KR" dirty="0" smtClean="0">
                <a:solidFill>
                  <a:srgbClr val="FF0000"/>
                </a:solidFill>
              </a:rPr>
              <a:t>: D f/f, register, counter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41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6034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/ </a:t>
            </a:r>
            <a:r>
              <a:rPr lang="ko-KR" altLang="en-US" sz="2800" b="1" dirty="0" smtClean="0"/>
              <a:t>논리 게이트</a:t>
            </a:r>
            <a:r>
              <a:rPr lang="en-US" altLang="ko-KR" sz="2800" b="1" dirty="0" smtClean="0"/>
              <a:t>(logic gate)</a:t>
            </a:r>
            <a:endParaRPr lang="ko-KR" alt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467515" y="234754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b="1" dirty="0"/>
          </a:p>
          <a:p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699696" y="4077072"/>
            <a:ext cx="252028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</a:rPr>
              <a:t>module</a:t>
            </a:r>
            <a:r>
              <a:rPr lang="en-US" altLang="ko-KR" sz="1200" dirty="0"/>
              <a:t>  inv(a, y);</a:t>
            </a:r>
            <a:endParaRPr lang="ko-KR" altLang="ko-KR" sz="1200" dirty="0"/>
          </a:p>
          <a:p>
            <a:r>
              <a:rPr lang="en-US" altLang="ko-KR" sz="1200" b="1" dirty="0">
                <a:solidFill>
                  <a:schemeClr val="accent2"/>
                </a:solidFill>
              </a:rPr>
              <a:t>input</a:t>
            </a:r>
            <a:r>
              <a:rPr lang="en-US" altLang="ko-KR" sz="1200" dirty="0"/>
              <a:t>  a;</a:t>
            </a:r>
            <a:endParaRPr lang="ko-KR" altLang="ko-KR" sz="1200" dirty="0"/>
          </a:p>
          <a:p>
            <a:r>
              <a:rPr lang="en-US" altLang="ko-KR" sz="1200" b="1" dirty="0">
                <a:solidFill>
                  <a:schemeClr val="accent2"/>
                </a:solidFill>
              </a:rPr>
              <a:t>output</a:t>
            </a:r>
            <a:r>
              <a:rPr lang="en-US" altLang="ko-KR" sz="1200" dirty="0"/>
              <a:t> y;</a:t>
            </a:r>
            <a:endParaRPr lang="ko-KR" altLang="ko-KR" sz="1200" dirty="0"/>
          </a:p>
          <a:p>
            <a:r>
              <a:rPr lang="en-US" altLang="ko-KR" sz="1200" dirty="0"/>
              <a:t>	</a:t>
            </a:r>
            <a:r>
              <a:rPr lang="en-US" altLang="ko-KR" sz="1200" b="1" dirty="0">
                <a:solidFill>
                  <a:schemeClr val="accent2"/>
                </a:solidFill>
              </a:rPr>
              <a:t>assign</a:t>
            </a:r>
            <a:r>
              <a:rPr lang="en-US" altLang="ko-KR" sz="1200" dirty="0"/>
              <a:t>  y  = ~a ;</a:t>
            </a:r>
            <a:endParaRPr lang="ko-KR" altLang="ko-KR" sz="1200" dirty="0"/>
          </a:p>
          <a:p>
            <a:r>
              <a:rPr lang="en-US" altLang="ko-KR" sz="1200" b="1" dirty="0" err="1">
                <a:solidFill>
                  <a:schemeClr val="accent2"/>
                </a:solidFill>
              </a:rPr>
              <a:t>endmodule</a:t>
            </a:r>
            <a:endParaRPr lang="ko-KR" altLang="en-US" sz="1200" b="1" dirty="0">
              <a:solidFill>
                <a:schemeClr val="accent2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08008" y="4077072"/>
            <a:ext cx="252028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</a:rPr>
              <a:t>module</a:t>
            </a:r>
            <a:r>
              <a:rPr lang="en-US" altLang="ko-KR" sz="1200" dirty="0"/>
              <a:t> and(a, b, y);</a:t>
            </a:r>
            <a:endParaRPr lang="ko-KR" altLang="ko-KR" sz="1200" dirty="0"/>
          </a:p>
          <a:p>
            <a:r>
              <a:rPr lang="en-US" altLang="ko-KR" sz="1200" b="1" dirty="0">
                <a:solidFill>
                  <a:schemeClr val="accent2"/>
                </a:solidFill>
              </a:rPr>
              <a:t>input</a:t>
            </a:r>
            <a:r>
              <a:rPr lang="en-US" altLang="ko-KR" sz="1200" dirty="0"/>
              <a:t> a, b;</a:t>
            </a:r>
            <a:endParaRPr lang="ko-KR" altLang="ko-KR" sz="1200" dirty="0"/>
          </a:p>
          <a:p>
            <a:r>
              <a:rPr lang="en-US" altLang="ko-KR" sz="1200" b="1" dirty="0">
                <a:solidFill>
                  <a:schemeClr val="accent2"/>
                </a:solidFill>
              </a:rPr>
              <a:t>output</a:t>
            </a:r>
            <a:r>
              <a:rPr lang="en-US" altLang="ko-KR" sz="1200" dirty="0"/>
              <a:t> y;</a:t>
            </a:r>
            <a:endParaRPr lang="ko-KR" altLang="ko-KR" sz="1200" dirty="0"/>
          </a:p>
          <a:p>
            <a:r>
              <a:rPr lang="en-US" altLang="ko-KR" sz="1200" dirty="0"/>
              <a:t>	</a:t>
            </a:r>
            <a:r>
              <a:rPr lang="en-US" altLang="ko-KR" sz="1200" b="1" dirty="0">
                <a:solidFill>
                  <a:schemeClr val="accent2"/>
                </a:solidFill>
              </a:rPr>
              <a:t> assign</a:t>
            </a:r>
            <a:r>
              <a:rPr lang="en-US" altLang="ko-KR" sz="1200" dirty="0"/>
              <a:t> y  = </a:t>
            </a:r>
            <a:r>
              <a:rPr lang="en-US" altLang="ko-KR" sz="1200" dirty="0" err="1"/>
              <a:t>a&amp;b</a:t>
            </a:r>
            <a:r>
              <a:rPr lang="en-US" altLang="ko-KR" sz="1200" dirty="0"/>
              <a:t> ;</a:t>
            </a:r>
            <a:endParaRPr lang="ko-KR" altLang="ko-KR" sz="1200" dirty="0"/>
          </a:p>
          <a:p>
            <a:r>
              <a:rPr lang="en-US" altLang="ko-KR" sz="1200" b="1" dirty="0" err="1">
                <a:solidFill>
                  <a:schemeClr val="accent2"/>
                </a:solidFill>
              </a:rPr>
              <a:t>endmodule</a:t>
            </a:r>
            <a:endParaRPr lang="ko-KR" altLang="en-US" sz="1200" dirty="0">
              <a:solidFill>
                <a:schemeClr val="accent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6320" y="4077072"/>
            <a:ext cx="252028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</a:rPr>
              <a:t>module</a:t>
            </a:r>
            <a:r>
              <a:rPr lang="en-US" altLang="ko-KR" sz="1200" dirty="0"/>
              <a:t> or(a, b, y);</a:t>
            </a:r>
            <a:endParaRPr lang="ko-KR" altLang="ko-KR" sz="1200" dirty="0"/>
          </a:p>
          <a:p>
            <a:r>
              <a:rPr lang="en-US" altLang="ko-KR" sz="1200" b="1" dirty="0">
                <a:solidFill>
                  <a:schemeClr val="accent2"/>
                </a:solidFill>
              </a:rPr>
              <a:t>input</a:t>
            </a:r>
            <a:r>
              <a:rPr lang="en-US" altLang="ko-KR" sz="1200" dirty="0"/>
              <a:t> a, b;</a:t>
            </a:r>
            <a:endParaRPr lang="ko-KR" altLang="ko-KR" sz="1200" dirty="0"/>
          </a:p>
          <a:p>
            <a:r>
              <a:rPr lang="en-US" altLang="ko-KR" sz="1200" b="1" dirty="0">
                <a:solidFill>
                  <a:schemeClr val="accent2"/>
                </a:solidFill>
              </a:rPr>
              <a:t>output</a:t>
            </a:r>
            <a:r>
              <a:rPr lang="en-US" altLang="ko-KR" sz="1200" dirty="0"/>
              <a:t> y;</a:t>
            </a:r>
            <a:endParaRPr lang="ko-KR" altLang="ko-KR" sz="1200" dirty="0"/>
          </a:p>
          <a:p>
            <a:r>
              <a:rPr lang="en-US" altLang="ko-KR" sz="1200" dirty="0"/>
              <a:t>	</a:t>
            </a:r>
            <a:r>
              <a:rPr lang="en-US" altLang="ko-KR" sz="1200" b="1" dirty="0">
                <a:solidFill>
                  <a:schemeClr val="accent2"/>
                </a:solidFill>
              </a:rPr>
              <a:t> assign</a:t>
            </a:r>
            <a:r>
              <a:rPr lang="en-US" altLang="ko-KR" sz="1200" dirty="0"/>
              <a:t> y  = </a:t>
            </a:r>
            <a:r>
              <a:rPr lang="en-US" altLang="ko-KR" sz="1200" dirty="0" err="1"/>
              <a:t>a|b</a:t>
            </a:r>
            <a:r>
              <a:rPr lang="en-US" altLang="ko-KR" sz="1200" dirty="0"/>
              <a:t> ;</a:t>
            </a:r>
            <a:endParaRPr lang="ko-KR" altLang="ko-KR" sz="1200" dirty="0"/>
          </a:p>
          <a:p>
            <a:r>
              <a:rPr lang="en-US" altLang="ko-KR" sz="1200" b="1" dirty="0" err="1">
                <a:solidFill>
                  <a:schemeClr val="accent2"/>
                </a:solidFill>
              </a:rPr>
              <a:t>endmodule</a:t>
            </a:r>
            <a:endParaRPr lang="ko-KR" altLang="ko-KR" sz="1200" dirty="0"/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4009" y="1526649"/>
            <a:ext cx="1597025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96040" y="1488628"/>
            <a:ext cx="1695450" cy="2084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32344" y="1512441"/>
            <a:ext cx="1706563" cy="206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4720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52838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/ </a:t>
            </a:r>
            <a:r>
              <a:rPr lang="ko-KR" altLang="en-US" sz="2800" b="1" dirty="0" err="1" smtClean="0"/>
              <a:t>조합회로</a:t>
            </a:r>
            <a:r>
              <a:rPr lang="ko-KR" altLang="en-US" sz="2800" b="1" dirty="0" smtClean="0"/>
              <a:t> 기술 하기</a:t>
            </a:r>
            <a:endParaRPr lang="ko-KR" altLang="en-US" sz="2800" b="1" dirty="0"/>
          </a:p>
        </p:txBody>
      </p:sp>
      <p:sp>
        <p:nvSpPr>
          <p:cNvPr id="16" name="내용 개체 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dirty="0"/>
              <a:t>모듈</a:t>
            </a:r>
            <a:r>
              <a:rPr lang="en-US" altLang="ko-KR" dirty="0"/>
              <a:t>: </a:t>
            </a:r>
            <a:r>
              <a:rPr lang="ko-KR" altLang="en-US" dirty="0"/>
              <a:t>입력과 출력을 가지고 있는 단위 블록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None/>
            </a:pPr>
            <a:endParaRPr lang="en-US" altLang="ko-KR" dirty="0"/>
          </a:p>
          <a:p>
            <a:r>
              <a:rPr lang="en-US" altLang="ko-KR" dirty="0" smtClean="0"/>
              <a:t>Behavioral </a:t>
            </a:r>
            <a:r>
              <a:rPr lang="ko-KR" altLang="en-US" dirty="0"/>
              <a:t>모델</a:t>
            </a:r>
            <a:endParaRPr lang="en-US" altLang="ko-KR" dirty="0"/>
          </a:p>
          <a:p>
            <a:pPr lvl="1"/>
            <a:r>
              <a:rPr lang="ko-KR" altLang="en-US" dirty="0"/>
              <a:t>모듈의 </a:t>
            </a:r>
            <a:r>
              <a:rPr lang="ko-KR" altLang="en-US"/>
              <a:t>기능을 </a:t>
            </a:r>
            <a:r>
              <a:rPr lang="ko-KR" altLang="en-US" smtClean="0"/>
              <a:t>기술 하듯이 표현</a:t>
            </a:r>
            <a:endParaRPr lang="ko-KR" altLang="en-US" dirty="0"/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1556792"/>
            <a:ext cx="3046037" cy="1078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899592" y="2852936"/>
            <a:ext cx="7344816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</a:rPr>
              <a:t>module</a:t>
            </a:r>
            <a:r>
              <a:rPr lang="en-US" altLang="ko-KR" sz="1200" dirty="0"/>
              <a:t> </a:t>
            </a:r>
            <a:r>
              <a:rPr lang="en-US" altLang="ko-KR" sz="1200" dirty="0" err="1"/>
              <a:t>ex_behavioral</a:t>
            </a:r>
            <a:r>
              <a:rPr lang="en-US" altLang="ko-KR" sz="1200" dirty="0"/>
              <a:t>(x, y, z, f);</a:t>
            </a:r>
            <a:endParaRPr lang="ko-KR" altLang="ko-KR" sz="1200" dirty="0"/>
          </a:p>
          <a:p>
            <a:r>
              <a:rPr lang="en-US" altLang="ko-KR" sz="1200" b="1" dirty="0">
                <a:solidFill>
                  <a:srgbClr val="FF0000"/>
                </a:solidFill>
              </a:rPr>
              <a:t>input</a:t>
            </a:r>
            <a:r>
              <a:rPr lang="en-US" altLang="ko-KR" sz="1200" dirty="0"/>
              <a:t>  x, y, z;</a:t>
            </a:r>
            <a:endParaRPr lang="ko-KR" altLang="ko-KR" sz="1200" dirty="0"/>
          </a:p>
          <a:p>
            <a:r>
              <a:rPr lang="en-US" altLang="ko-KR" sz="1200" b="1" dirty="0">
                <a:solidFill>
                  <a:srgbClr val="FF0000"/>
                </a:solidFill>
              </a:rPr>
              <a:t>output</a:t>
            </a:r>
            <a:r>
              <a:rPr lang="en-US" altLang="ko-KR" sz="1200" dirty="0"/>
              <a:t> f;</a:t>
            </a:r>
            <a:endParaRPr lang="ko-KR" altLang="ko-KR" sz="1200" dirty="0"/>
          </a:p>
          <a:p>
            <a:r>
              <a:rPr lang="en-US" altLang="ko-KR" sz="1200" b="1" dirty="0"/>
              <a:t> </a:t>
            </a:r>
            <a:endParaRPr lang="ko-KR" altLang="ko-KR" sz="1200" dirty="0"/>
          </a:p>
          <a:p>
            <a:r>
              <a:rPr lang="en-US" altLang="ko-KR" sz="1200" b="1" dirty="0">
                <a:solidFill>
                  <a:srgbClr val="FF0000"/>
                </a:solidFill>
              </a:rPr>
              <a:t>assign</a:t>
            </a:r>
            <a:r>
              <a:rPr lang="en-US" altLang="ko-KR" sz="1200" b="1" dirty="0"/>
              <a:t> </a:t>
            </a:r>
            <a:r>
              <a:rPr lang="en-US" altLang="ko-KR" sz="1200" dirty="0"/>
              <a:t>f = ~x &amp; y &amp; z | ~x &amp; y &amp; ~z | x &amp; z;</a:t>
            </a:r>
            <a:endParaRPr lang="ko-KR" altLang="ko-KR" sz="1200" dirty="0"/>
          </a:p>
          <a:p>
            <a:r>
              <a:rPr lang="en-US" altLang="ko-KR" sz="1200" dirty="0"/>
              <a:t> </a:t>
            </a:r>
            <a:endParaRPr lang="ko-KR" altLang="ko-KR" sz="1200" dirty="0"/>
          </a:p>
          <a:p>
            <a:r>
              <a:rPr lang="en-US" altLang="ko-KR" sz="1200" b="1" dirty="0" err="1" smtClean="0">
                <a:solidFill>
                  <a:srgbClr val="FF0000"/>
                </a:solidFill>
              </a:rPr>
              <a:t>Endmodule</a:t>
            </a:r>
            <a:r>
              <a:rPr lang="en-US" altLang="ko-KR" sz="1200" b="1" dirty="0" smtClean="0">
                <a:solidFill>
                  <a:srgbClr val="FF0000"/>
                </a:solidFill>
              </a:rPr>
              <a:t> 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82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smtClean="0"/>
              <a:t> </a:t>
            </a:r>
            <a:r>
              <a:rPr lang="ko-KR" altLang="en-US" sz="2800" b="1" smtClean="0"/>
              <a:t>산술연산</a:t>
            </a:r>
            <a:endParaRPr lang="ko-KR" altLang="en-US" sz="28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971600" y="1213595"/>
            <a:ext cx="3528392" cy="4339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</a:rPr>
              <a:t>module</a:t>
            </a:r>
            <a:r>
              <a:rPr lang="en-US" altLang="ko-KR" sz="1200" dirty="0"/>
              <a:t>  inv(a, y);   // NOT</a:t>
            </a:r>
            <a:endParaRPr lang="ko-KR" altLang="ko-KR" sz="1200" dirty="0"/>
          </a:p>
          <a:p>
            <a:r>
              <a:rPr lang="en-US" altLang="ko-KR" sz="1200" dirty="0"/>
              <a:t>input  a;</a:t>
            </a:r>
            <a:endParaRPr lang="ko-KR" altLang="ko-KR" sz="1200" dirty="0"/>
          </a:p>
          <a:p>
            <a:r>
              <a:rPr lang="en-US" altLang="ko-KR" sz="1200" dirty="0"/>
              <a:t>output y;</a:t>
            </a:r>
            <a:endParaRPr lang="ko-KR" altLang="ko-KR" sz="1200" dirty="0"/>
          </a:p>
          <a:p>
            <a:r>
              <a:rPr lang="en-US" altLang="ko-KR" sz="1200" dirty="0"/>
              <a:t>	assign  y  = ~a ;</a:t>
            </a:r>
            <a:endParaRPr lang="ko-KR" altLang="ko-KR" sz="1200" dirty="0"/>
          </a:p>
          <a:p>
            <a:r>
              <a:rPr lang="en-US" altLang="ko-KR" sz="1200" b="1" dirty="0" err="1">
                <a:solidFill>
                  <a:schemeClr val="accent2"/>
                </a:solidFill>
              </a:rPr>
              <a:t>endmodule</a:t>
            </a:r>
            <a:endParaRPr lang="ko-KR" altLang="ko-KR" sz="1200" b="1" dirty="0">
              <a:solidFill>
                <a:schemeClr val="accent2"/>
              </a:solidFill>
            </a:endParaRPr>
          </a:p>
          <a:p>
            <a:r>
              <a:rPr lang="en-US" altLang="ko-KR" sz="1200" dirty="0"/>
              <a:t> </a:t>
            </a:r>
            <a:endParaRPr lang="ko-KR" altLang="ko-KR" sz="1200" dirty="0"/>
          </a:p>
          <a:p>
            <a:r>
              <a:rPr lang="en-US" altLang="ko-KR" sz="1200" b="1" dirty="0">
                <a:solidFill>
                  <a:schemeClr val="accent2"/>
                </a:solidFill>
              </a:rPr>
              <a:t>module</a:t>
            </a:r>
            <a:r>
              <a:rPr lang="en-US" altLang="ko-KR" sz="1200" dirty="0"/>
              <a:t>  and2( a, b, y);  // 2-input AND</a:t>
            </a:r>
            <a:endParaRPr lang="ko-KR" altLang="ko-KR" sz="1200" dirty="0"/>
          </a:p>
          <a:p>
            <a:r>
              <a:rPr lang="en-US" altLang="ko-KR" sz="1200" dirty="0"/>
              <a:t>input  a, b;</a:t>
            </a:r>
            <a:endParaRPr lang="ko-KR" altLang="ko-KR" sz="1200" dirty="0"/>
          </a:p>
          <a:p>
            <a:r>
              <a:rPr lang="en-US" altLang="ko-KR" sz="1200" dirty="0"/>
              <a:t>output y;</a:t>
            </a:r>
            <a:endParaRPr lang="ko-KR" altLang="ko-KR" sz="1200" dirty="0"/>
          </a:p>
          <a:p>
            <a:r>
              <a:rPr lang="en-US" altLang="ko-KR" sz="1200" dirty="0"/>
              <a:t>	assign  y  = a &amp; b;</a:t>
            </a:r>
            <a:endParaRPr lang="ko-KR" altLang="ko-KR" sz="1200" dirty="0"/>
          </a:p>
          <a:p>
            <a:r>
              <a:rPr lang="en-US" altLang="ko-KR" sz="1200" b="1" dirty="0" err="1">
                <a:solidFill>
                  <a:schemeClr val="accent2"/>
                </a:solidFill>
              </a:rPr>
              <a:t>endmodule</a:t>
            </a:r>
            <a:endParaRPr lang="ko-KR" altLang="ko-KR" sz="1200" b="1" dirty="0">
              <a:solidFill>
                <a:schemeClr val="accent2"/>
              </a:solidFill>
            </a:endParaRPr>
          </a:p>
          <a:p>
            <a:r>
              <a:rPr lang="en-US" altLang="ko-KR" sz="1200" dirty="0"/>
              <a:t> </a:t>
            </a:r>
            <a:endParaRPr lang="ko-KR" altLang="ko-KR" sz="1200" dirty="0"/>
          </a:p>
          <a:p>
            <a:r>
              <a:rPr lang="en-US" altLang="ko-KR" sz="1200" b="1" dirty="0">
                <a:solidFill>
                  <a:schemeClr val="accent2"/>
                </a:solidFill>
              </a:rPr>
              <a:t>module</a:t>
            </a:r>
            <a:r>
              <a:rPr lang="en-US" altLang="ko-KR" sz="1200" dirty="0"/>
              <a:t>  and3( a, b, c, y);  // 3-input AND</a:t>
            </a:r>
            <a:endParaRPr lang="ko-KR" altLang="ko-KR" sz="1200" dirty="0"/>
          </a:p>
          <a:p>
            <a:r>
              <a:rPr lang="en-US" altLang="ko-KR" sz="1200" dirty="0"/>
              <a:t>input  a, b, c;</a:t>
            </a:r>
            <a:endParaRPr lang="ko-KR" altLang="ko-KR" sz="1200" dirty="0"/>
          </a:p>
          <a:p>
            <a:r>
              <a:rPr lang="en-US" altLang="ko-KR" sz="1200" dirty="0"/>
              <a:t>output y;</a:t>
            </a:r>
            <a:endParaRPr lang="ko-KR" altLang="ko-KR" sz="1200" dirty="0"/>
          </a:p>
          <a:p>
            <a:r>
              <a:rPr lang="en-US" altLang="ko-KR" sz="1200" dirty="0"/>
              <a:t>	assign  y  = a &amp; b &amp; c;</a:t>
            </a:r>
            <a:endParaRPr lang="ko-KR" altLang="ko-KR" sz="1200" dirty="0"/>
          </a:p>
          <a:p>
            <a:r>
              <a:rPr lang="en-US" altLang="ko-KR" sz="1200" b="1" dirty="0" err="1">
                <a:solidFill>
                  <a:schemeClr val="accent2"/>
                </a:solidFill>
              </a:rPr>
              <a:t>endmodule</a:t>
            </a:r>
            <a:endParaRPr lang="ko-KR" altLang="ko-KR" sz="1200" b="1" dirty="0">
              <a:solidFill>
                <a:schemeClr val="accent2"/>
              </a:solidFill>
            </a:endParaRPr>
          </a:p>
          <a:p>
            <a:r>
              <a:rPr lang="en-US" altLang="ko-KR" sz="1200" dirty="0"/>
              <a:t> </a:t>
            </a:r>
            <a:endParaRPr lang="ko-KR" altLang="ko-KR" sz="1200" dirty="0"/>
          </a:p>
          <a:p>
            <a:r>
              <a:rPr lang="en-US" altLang="ko-KR" sz="1200" b="1" dirty="0">
                <a:solidFill>
                  <a:schemeClr val="accent2"/>
                </a:solidFill>
              </a:rPr>
              <a:t>module</a:t>
            </a:r>
            <a:r>
              <a:rPr lang="en-US" altLang="ko-KR" sz="1200" dirty="0"/>
              <a:t>  or3(a, b, c, y);  // 3-input OR</a:t>
            </a:r>
            <a:endParaRPr lang="ko-KR" altLang="ko-KR" sz="1200" dirty="0"/>
          </a:p>
          <a:p>
            <a:r>
              <a:rPr lang="en-US" altLang="ko-KR" sz="1200" dirty="0"/>
              <a:t>input  a, b, c;</a:t>
            </a:r>
            <a:endParaRPr lang="ko-KR" altLang="ko-KR" sz="1200" dirty="0"/>
          </a:p>
          <a:p>
            <a:r>
              <a:rPr lang="en-US" altLang="ko-KR" sz="1200" dirty="0"/>
              <a:t>output y;</a:t>
            </a:r>
            <a:endParaRPr lang="ko-KR" altLang="ko-KR" sz="1200" dirty="0"/>
          </a:p>
          <a:p>
            <a:r>
              <a:rPr lang="en-US" altLang="ko-KR" sz="1200" dirty="0"/>
              <a:t>	assign  y  = a | b | c;</a:t>
            </a:r>
            <a:endParaRPr lang="ko-KR" altLang="ko-KR" sz="1200" dirty="0"/>
          </a:p>
          <a:p>
            <a:r>
              <a:rPr lang="en-US" altLang="ko-KR" sz="1200" b="1" dirty="0" err="1">
                <a:solidFill>
                  <a:schemeClr val="accent2"/>
                </a:solidFill>
              </a:rPr>
              <a:t>endmodule</a:t>
            </a:r>
            <a:endParaRPr lang="ko-KR" altLang="ko-KR" sz="1200" b="1" dirty="0">
              <a:solidFill>
                <a:schemeClr val="accent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44008" y="1196752"/>
            <a:ext cx="3528392" cy="32316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2"/>
                </a:solidFill>
              </a:rPr>
              <a:t>module</a:t>
            </a:r>
            <a:r>
              <a:rPr lang="en-US" altLang="ko-KR" sz="1200" dirty="0"/>
              <a:t> </a:t>
            </a:r>
            <a:r>
              <a:rPr lang="en-US" altLang="ko-KR" sz="1200" dirty="0" err="1"/>
              <a:t>ex_structure</a:t>
            </a:r>
            <a:r>
              <a:rPr lang="en-US" altLang="ko-KR" sz="1200" dirty="0"/>
              <a:t>(x, y, z, f);</a:t>
            </a:r>
            <a:endParaRPr lang="ko-KR" altLang="ko-KR" sz="1200" dirty="0"/>
          </a:p>
          <a:p>
            <a:r>
              <a:rPr lang="en-US" altLang="ko-KR" sz="1200" dirty="0"/>
              <a:t>input  x, y, z;</a:t>
            </a:r>
            <a:endParaRPr lang="ko-KR" altLang="ko-KR" sz="1200" dirty="0"/>
          </a:p>
          <a:p>
            <a:r>
              <a:rPr lang="en-US" altLang="ko-KR" sz="1200" dirty="0"/>
              <a:t>output f;</a:t>
            </a:r>
            <a:endParaRPr lang="ko-KR" altLang="ko-KR" sz="1200" dirty="0"/>
          </a:p>
          <a:p>
            <a:r>
              <a:rPr lang="en-US" altLang="ko-KR" sz="1200" dirty="0"/>
              <a:t>	wire </a:t>
            </a:r>
            <a:r>
              <a:rPr lang="en-US" altLang="ko-KR" sz="1200" dirty="0" err="1"/>
              <a:t>w_inv_x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w_inv_z</a:t>
            </a:r>
            <a:r>
              <a:rPr lang="en-US" altLang="ko-KR" sz="1200" dirty="0"/>
              <a:t>;</a:t>
            </a:r>
            <a:endParaRPr lang="ko-KR" altLang="ko-KR" sz="1200" dirty="0"/>
          </a:p>
          <a:p>
            <a:r>
              <a:rPr lang="en-US" altLang="ko-KR" sz="1200" dirty="0"/>
              <a:t>	wire w_and3_0, w_and3_1, w_and2_0;</a:t>
            </a:r>
            <a:endParaRPr lang="ko-KR" altLang="ko-KR" sz="1200" dirty="0"/>
          </a:p>
          <a:p>
            <a:r>
              <a:rPr lang="en-US" altLang="ko-KR" sz="1200" dirty="0"/>
              <a:t>	</a:t>
            </a:r>
            <a:endParaRPr lang="ko-KR" altLang="ko-KR" sz="1200" dirty="0"/>
          </a:p>
          <a:p>
            <a:r>
              <a:rPr lang="en-US" altLang="ko-KR" sz="1200" dirty="0"/>
              <a:t>Inv </a:t>
            </a:r>
            <a:r>
              <a:rPr lang="en-US" altLang="ko-KR" sz="1200" dirty="0" err="1"/>
              <a:t>inv_x</a:t>
            </a:r>
            <a:r>
              <a:rPr lang="en-US" altLang="ko-KR" sz="1200" dirty="0"/>
              <a:t> (x, </a:t>
            </a:r>
            <a:r>
              <a:rPr lang="en-US" altLang="ko-KR" sz="1200" dirty="0" err="1"/>
              <a:t>w_inv_x</a:t>
            </a:r>
            <a:r>
              <a:rPr lang="en-US" altLang="ko-KR" sz="1200" dirty="0"/>
              <a:t>);</a:t>
            </a:r>
            <a:endParaRPr lang="ko-KR" altLang="ko-KR" sz="1200" dirty="0"/>
          </a:p>
          <a:p>
            <a:r>
              <a:rPr lang="en-US" altLang="ko-KR" sz="1200" dirty="0"/>
              <a:t>inv </a:t>
            </a:r>
            <a:r>
              <a:rPr lang="en-US" altLang="ko-KR" sz="1200" dirty="0" err="1"/>
              <a:t>inv_z</a:t>
            </a:r>
            <a:r>
              <a:rPr lang="en-US" altLang="ko-KR" sz="1200" dirty="0"/>
              <a:t> (z, </a:t>
            </a:r>
            <a:r>
              <a:rPr lang="en-US" altLang="ko-KR" sz="1200" dirty="0" err="1"/>
              <a:t>w_inv_z</a:t>
            </a:r>
            <a:r>
              <a:rPr lang="en-US" altLang="ko-KR" sz="1200" dirty="0"/>
              <a:t>);</a:t>
            </a:r>
            <a:endParaRPr lang="ko-KR" altLang="ko-KR" sz="1200" dirty="0"/>
          </a:p>
          <a:p>
            <a:r>
              <a:rPr lang="en-US" altLang="ko-KR" sz="1200" dirty="0"/>
              <a:t> </a:t>
            </a:r>
            <a:endParaRPr lang="ko-KR" altLang="ko-KR" sz="1200" dirty="0"/>
          </a:p>
          <a:p>
            <a:r>
              <a:rPr lang="en-US" altLang="ko-KR" sz="1200" dirty="0"/>
              <a:t>and3 and3_0 (</a:t>
            </a:r>
            <a:r>
              <a:rPr lang="en-US" altLang="ko-KR" sz="1200" dirty="0" err="1"/>
              <a:t>w_inv_x</a:t>
            </a:r>
            <a:r>
              <a:rPr lang="en-US" altLang="ko-KR" sz="1200" dirty="0"/>
              <a:t>, y, z, w_and3_0);</a:t>
            </a:r>
            <a:endParaRPr lang="ko-KR" altLang="ko-KR" sz="1200" dirty="0"/>
          </a:p>
          <a:p>
            <a:r>
              <a:rPr lang="en-US" altLang="ko-KR" sz="1200" dirty="0"/>
              <a:t>and3 and3_1 (</a:t>
            </a:r>
            <a:r>
              <a:rPr lang="en-US" altLang="ko-KR" sz="1200" dirty="0" err="1"/>
              <a:t>w_inv_x</a:t>
            </a:r>
            <a:r>
              <a:rPr lang="en-US" altLang="ko-KR" sz="1200" dirty="0"/>
              <a:t>, y, </a:t>
            </a:r>
            <a:r>
              <a:rPr lang="en-US" altLang="ko-KR" sz="1200" dirty="0" err="1"/>
              <a:t>w_inv_z</a:t>
            </a:r>
            <a:r>
              <a:rPr lang="en-US" altLang="ko-KR" sz="1200" dirty="0"/>
              <a:t>, w_and3_1);</a:t>
            </a:r>
            <a:endParaRPr lang="ko-KR" altLang="ko-KR" sz="1200" dirty="0"/>
          </a:p>
          <a:p>
            <a:r>
              <a:rPr lang="en-US" altLang="ko-KR" sz="1200" dirty="0"/>
              <a:t>and2 and2_0 (x, z, w_and2_0);</a:t>
            </a:r>
            <a:endParaRPr lang="ko-KR" altLang="ko-KR" sz="1200" dirty="0"/>
          </a:p>
          <a:p>
            <a:r>
              <a:rPr lang="en-US" altLang="ko-KR" sz="1200" dirty="0"/>
              <a:t> </a:t>
            </a:r>
            <a:endParaRPr lang="ko-KR" altLang="ko-KR" sz="1200" dirty="0"/>
          </a:p>
          <a:p>
            <a:r>
              <a:rPr lang="en-US" altLang="ko-KR" sz="1200" dirty="0"/>
              <a:t>or3 or3_0   (w_and3_0, w_and3_1, w_and2_0, f);</a:t>
            </a:r>
            <a:endParaRPr lang="ko-KR" altLang="ko-KR" sz="1200" dirty="0"/>
          </a:p>
          <a:p>
            <a:r>
              <a:rPr lang="en-US" altLang="ko-KR" sz="1200" dirty="0"/>
              <a:t> </a:t>
            </a:r>
            <a:endParaRPr lang="ko-KR" altLang="ko-KR" sz="1200" dirty="0"/>
          </a:p>
          <a:p>
            <a:r>
              <a:rPr lang="en-US" altLang="ko-KR" sz="1200" b="1" dirty="0" err="1">
                <a:solidFill>
                  <a:schemeClr val="accent2"/>
                </a:solidFill>
              </a:rPr>
              <a:t>endmodule</a:t>
            </a:r>
            <a:endParaRPr lang="ko-KR" altLang="ko-KR" sz="1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73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3911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/ half adder</a:t>
            </a:r>
            <a:endParaRPr lang="ko-KR" altLang="en-US" sz="2800" b="1" dirty="0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9" y="1408701"/>
            <a:ext cx="4824536" cy="1372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76056" y="1408701"/>
            <a:ext cx="3379876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758952" y="3363426"/>
            <a:ext cx="439614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`timescale 1ns / 1ps</a:t>
            </a:r>
          </a:p>
          <a:p>
            <a:endParaRPr lang="en-US" altLang="ko-KR" dirty="0"/>
          </a:p>
          <a:p>
            <a:r>
              <a:rPr lang="en-US" altLang="ko-KR" dirty="0"/>
              <a:t>module </a:t>
            </a:r>
            <a:r>
              <a:rPr lang="en-US" altLang="ko-KR" dirty="0" err="1"/>
              <a:t>half_adder</a:t>
            </a:r>
            <a:r>
              <a:rPr lang="en-US" altLang="ko-KR" dirty="0"/>
              <a:t>(a, b, sum, </a:t>
            </a:r>
            <a:r>
              <a:rPr lang="en-US" altLang="ko-KR" dirty="0" err="1"/>
              <a:t>carry_out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    input a, b;</a:t>
            </a:r>
          </a:p>
          <a:p>
            <a:r>
              <a:rPr lang="en-US" altLang="ko-KR" dirty="0"/>
              <a:t>    output sum, </a:t>
            </a:r>
            <a:r>
              <a:rPr lang="en-US" altLang="ko-KR" dirty="0" err="1"/>
              <a:t>carry_out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    </a:t>
            </a:r>
          </a:p>
          <a:p>
            <a:r>
              <a:rPr lang="en-US" altLang="ko-KR" dirty="0"/>
              <a:t>    assign sum = a ^ b;</a:t>
            </a:r>
          </a:p>
          <a:p>
            <a:r>
              <a:rPr lang="en-US" altLang="ko-KR" dirty="0"/>
              <a:t>    assign </a:t>
            </a:r>
            <a:r>
              <a:rPr lang="en-US" altLang="ko-KR" dirty="0" err="1"/>
              <a:t>carry_out</a:t>
            </a:r>
            <a:r>
              <a:rPr lang="en-US" altLang="ko-KR" dirty="0"/>
              <a:t> = a &amp; b;</a:t>
            </a:r>
          </a:p>
          <a:p>
            <a:endParaRPr lang="en-US" altLang="ko-KR" dirty="0"/>
          </a:p>
          <a:p>
            <a:r>
              <a:rPr lang="en-US" altLang="ko-KR" dirty="0" err="1"/>
              <a:t>endmodule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773936" y="3063240"/>
            <a:ext cx="1412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half_adder.v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8535410" y="1600200"/>
            <a:ext cx="2730363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`timescale 1ns / 1ps</a:t>
            </a:r>
          </a:p>
          <a:p>
            <a:endParaRPr lang="en-US" altLang="ko-KR" sz="1400" dirty="0"/>
          </a:p>
          <a:p>
            <a:r>
              <a:rPr lang="en-US" altLang="ko-KR" sz="1400" dirty="0"/>
              <a:t>module </a:t>
            </a:r>
            <a:r>
              <a:rPr lang="en-US" altLang="ko-KR" sz="1400" dirty="0" err="1"/>
              <a:t>testbench_half_adder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    </a:t>
            </a:r>
            <a:r>
              <a:rPr lang="en-US" altLang="ko-KR" sz="1400" dirty="0" err="1"/>
              <a:t>reg</a:t>
            </a:r>
            <a:r>
              <a:rPr lang="en-US" altLang="ko-KR" sz="1400" dirty="0"/>
              <a:t> a, b;</a:t>
            </a:r>
          </a:p>
          <a:p>
            <a:r>
              <a:rPr lang="en-US" altLang="ko-KR" sz="1400" dirty="0"/>
              <a:t>    wire sum, </a:t>
            </a:r>
            <a:r>
              <a:rPr lang="en-US" altLang="ko-KR" sz="1400" dirty="0" err="1"/>
              <a:t>carry_out</a:t>
            </a:r>
            <a:r>
              <a:rPr lang="en-US" altLang="ko-KR" sz="1400" dirty="0"/>
              <a:t>;</a:t>
            </a:r>
          </a:p>
          <a:p>
            <a:r>
              <a:rPr lang="en-US" altLang="ko-KR" sz="1400" dirty="0"/>
              <a:t>    </a:t>
            </a:r>
          </a:p>
          <a:p>
            <a:r>
              <a:rPr lang="en-US" altLang="ko-KR" sz="1400" dirty="0" err="1"/>
              <a:t>half_adder</a:t>
            </a:r>
            <a:r>
              <a:rPr lang="en-US" altLang="ko-KR" sz="1400" dirty="0"/>
              <a:t> </a:t>
            </a:r>
            <a:r>
              <a:rPr lang="en-US" altLang="ko-KR" sz="1400" dirty="0" err="1"/>
              <a:t>dut</a:t>
            </a:r>
            <a:r>
              <a:rPr lang="en-US" altLang="ko-KR" sz="1400" dirty="0"/>
              <a:t>(</a:t>
            </a:r>
          </a:p>
          <a:p>
            <a:r>
              <a:rPr lang="en-US" altLang="ko-KR" sz="1400" dirty="0"/>
              <a:t>    .a(a), </a:t>
            </a:r>
          </a:p>
          <a:p>
            <a:r>
              <a:rPr lang="en-US" altLang="ko-KR" sz="1400" dirty="0"/>
              <a:t>    .b(b),</a:t>
            </a:r>
          </a:p>
          <a:p>
            <a:r>
              <a:rPr lang="en-US" altLang="ko-KR" sz="1400" dirty="0"/>
              <a:t>    .sum(sum), </a:t>
            </a:r>
          </a:p>
          <a:p>
            <a:r>
              <a:rPr lang="en-US" altLang="ko-KR" sz="1400" dirty="0"/>
              <a:t>    .</a:t>
            </a:r>
            <a:r>
              <a:rPr lang="en-US" altLang="ko-KR" sz="1400" dirty="0" err="1"/>
              <a:t>carry_out</a:t>
            </a:r>
            <a:r>
              <a:rPr lang="en-US" altLang="ko-KR" sz="1400" dirty="0"/>
              <a:t>(</a:t>
            </a:r>
            <a:r>
              <a:rPr lang="en-US" altLang="ko-KR" sz="1400" dirty="0" err="1"/>
              <a:t>carry_out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  ); </a:t>
            </a:r>
          </a:p>
          <a:p>
            <a:r>
              <a:rPr lang="en-US" altLang="ko-KR" sz="1400" dirty="0"/>
              <a:t>    </a:t>
            </a:r>
          </a:p>
          <a:p>
            <a:r>
              <a:rPr lang="en-US" altLang="ko-KR" sz="1400" dirty="0"/>
              <a:t>    initial begin</a:t>
            </a:r>
          </a:p>
          <a:p>
            <a:r>
              <a:rPr lang="en-US" altLang="ko-KR" sz="1400" dirty="0"/>
              <a:t>        #00 a = 1'b0; b = 1'b0;</a:t>
            </a:r>
          </a:p>
          <a:p>
            <a:r>
              <a:rPr lang="en-US" altLang="ko-KR" sz="1400" dirty="0"/>
              <a:t>        #10 a = 1'b0; b = 1'b1;</a:t>
            </a:r>
          </a:p>
          <a:p>
            <a:r>
              <a:rPr lang="en-US" altLang="ko-KR" sz="1400" dirty="0"/>
              <a:t>        #10 a = 1'b1; b = 1'b0;</a:t>
            </a:r>
          </a:p>
          <a:p>
            <a:r>
              <a:rPr lang="en-US" altLang="ko-KR" sz="1400" dirty="0"/>
              <a:t>        #10 a = 1'b1; b = 1'b1;</a:t>
            </a:r>
          </a:p>
          <a:p>
            <a:r>
              <a:rPr lang="en-US" altLang="ko-KR" sz="1400" dirty="0"/>
              <a:t>        #10 $finish;</a:t>
            </a:r>
          </a:p>
          <a:p>
            <a:r>
              <a:rPr lang="en-US" altLang="ko-KR" sz="1400" dirty="0"/>
              <a:t>    end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endmodule</a:t>
            </a:r>
            <a:endParaRPr lang="ko-KR" alt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8965870" y="1224035"/>
            <a:ext cx="20120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err="1" smtClean="0"/>
              <a:t>testbench_half_adder.v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6665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39116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/ half adder</a:t>
            </a:r>
            <a:endParaRPr lang="ko-KR" altLang="en-US" sz="28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54825" y="731298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Constraint file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54825" y="1025424"/>
            <a:ext cx="6626430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altLang="ko-KR" sz="1200" dirty="0"/>
          </a:p>
          <a:p>
            <a:r>
              <a:rPr lang="en-US" altLang="ko-KR" sz="1200" dirty="0"/>
              <a:t>## Switches</a:t>
            </a:r>
          </a:p>
          <a:p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V17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 a }]</a:t>
            </a:r>
          </a:p>
          <a:p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V16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 b }]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## LEDs</a:t>
            </a:r>
          </a:p>
          <a:p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U16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 sum }]</a:t>
            </a:r>
          </a:p>
          <a:p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E19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 </a:t>
            </a:r>
            <a:r>
              <a:rPr lang="en-US" altLang="ko-KR" sz="1200" dirty="0" err="1"/>
              <a:t>carry_out</a:t>
            </a:r>
            <a:r>
              <a:rPr lang="en-US" altLang="ko-KR" sz="1200" dirty="0"/>
              <a:t> }]</a:t>
            </a:r>
          </a:p>
          <a:p>
            <a:endParaRPr lang="en-US" altLang="ko-KR" sz="1200" dirty="0"/>
          </a:p>
          <a:p>
            <a:r>
              <a:rPr lang="en-US" altLang="ko-KR" sz="1200" dirty="0"/>
              <a:t>## Configuration options, can be used for all designs</a:t>
            </a:r>
          </a:p>
          <a:p>
            <a:r>
              <a:rPr lang="en-US" altLang="ko-KR" sz="1200" dirty="0" err="1"/>
              <a:t>set_property</a:t>
            </a:r>
            <a:r>
              <a:rPr lang="en-US" altLang="ko-KR" sz="1200" dirty="0"/>
              <a:t> CONFIG_VOLTAGE 3.3 [</a:t>
            </a:r>
            <a:r>
              <a:rPr lang="en-US" altLang="ko-KR" sz="1200" dirty="0" err="1"/>
              <a:t>current_design</a:t>
            </a:r>
            <a:r>
              <a:rPr lang="en-US" altLang="ko-KR" sz="1200" dirty="0"/>
              <a:t>]</a:t>
            </a:r>
          </a:p>
          <a:p>
            <a:r>
              <a:rPr lang="en-US" altLang="ko-KR" sz="1200" dirty="0" err="1"/>
              <a:t>set_property</a:t>
            </a:r>
            <a:r>
              <a:rPr lang="en-US" altLang="ko-KR" sz="1200" dirty="0"/>
              <a:t> CFGBVS VCCO [</a:t>
            </a:r>
            <a:r>
              <a:rPr lang="en-US" altLang="ko-KR" sz="1200" dirty="0" err="1"/>
              <a:t>current_design</a:t>
            </a:r>
            <a:r>
              <a:rPr lang="en-US" altLang="ko-KR" sz="1200" dirty="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## SPI configuration mode options for QSPI boot, can be used for all designs</a:t>
            </a:r>
          </a:p>
          <a:p>
            <a:r>
              <a:rPr lang="en-US" altLang="ko-KR" sz="1200" dirty="0" err="1"/>
              <a:t>set_property</a:t>
            </a:r>
            <a:r>
              <a:rPr lang="en-US" altLang="ko-KR" sz="1200" dirty="0"/>
              <a:t> BITSTREAM.GENERAL.COMPRESS TRUE [</a:t>
            </a:r>
            <a:r>
              <a:rPr lang="en-US" altLang="ko-KR" sz="1200" dirty="0" err="1"/>
              <a:t>current_design</a:t>
            </a:r>
            <a:r>
              <a:rPr lang="en-US" altLang="ko-KR" sz="1200" dirty="0"/>
              <a:t>]</a:t>
            </a:r>
          </a:p>
          <a:p>
            <a:r>
              <a:rPr lang="en-US" altLang="ko-KR" sz="1200" dirty="0" err="1"/>
              <a:t>set_property</a:t>
            </a:r>
            <a:r>
              <a:rPr lang="en-US" altLang="ko-KR" sz="1200" dirty="0"/>
              <a:t> BITSTREAM.CONFIG.CONFIGRATE 33 [</a:t>
            </a:r>
            <a:r>
              <a:rPr lang="en-US" altLang="ko-KR" sz="1200" dirty="0" err="1"/>
              <a:t>current_design</a:t>
            </a:r>
            <a:r>
              <a:rPr lang="en-US" altLang="ko-KR" sz="1200" dirty="0"/>
              <a:t>]</a:t>
            </a:r>
          </a:p>
          <a:p>
            <a:r>
              <a:rPr lang="en-US" altLang="ko-KR" sz="1200" dirty="0" err="1"/>
              <a:t>set_property</a:t>
            </a:r>
            <a:r>
              <a:rPr lang="en-US" altLang="ko-KR" sz="1200" dirty="0"/>
              <a:t> CONFIG_MODE SPIx4 [</a:t>
            </a:r>
            <a:r>
              <a:rPr lang="en-US" altLang="ko-KR" sz="1200" dirty="0" err="1"/>
              <a:t>current_design</a:t>
            </a:r>
            <a:r>
              <a:rPr lang="en-US" altLang="ko-KR" sz="1200" dirty="0"/>
              <a:t>]</a:t>
            </a:r>
            <a:endParaRPr lang="ko-KR" altLang="en-US" sz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825" y="4441744"/>
            <a:ext cx="7817810" cy="213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11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4735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/ 1 bit full adder</a:t>
            </a:r>
            <a:endParaRPr lang="ko-KR" altLang="en-US" sz="2800" b="1" dirty="0"/>
          </a:p>
        </p:txBody>
      </p:sp>
      <p:cxnSp>
        <p:nvCxnSpPr>
          <p:cNvPr id="17" name="직선 연결선 16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8074" y="3725808"/>
            <a:ext cx="4205330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4125" y="5384372"/>
            <a:ext cx="3853229" cy="1473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1483885" y="3289495"/>
            <a:ext cx="3328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/>
              <a:t>&lt;</a:t>
            </a:r>
            <a:r>
              <a:rPr lang="ko-KR" altLang="en-US" sz="1400" dirty="0" smtClean="0"/>
              <a:t>그림 </a:t>
            </a:r>
            <a:r>
              <a:rPr lang="en-US" altLang="ko-KR" sz="1400" dirty="0" smtClean="0"/>
              <a:t>1&gt; 1bit full adder </a:t>
            </a:r>
            <a:r>
              <a:rPr lang="ko-KR" altLang="en-US" sz="1400" dirty="0" smtClean="0"/>
              <a:t>회로 </a:t>
            </a:r>
            <a:r>
              <a:rPr lang="en-US" altLang="ko-KR" sz="1400" dirty="0" smtClean="0"/>
              <a:t>instance</a:t>
            </a:r>
            <a:endParaRPr lang="ko-KR" altLang="en-US" sz="1400" dirty="0"/>
          </a:p>
        </p:txBody>
      </p:sp>
      <p:sp>
        <p:nvSpPr>
          <p:cNvPr id="28" name="직사각형 27"/>
          <p:cNvSpPr/>
          <p:nvPr/>
        </p:nvSpPr>
        <p:spPr>
          <a:xfrm>
            <a:off x="6198920" y="777552"/>
            <a:ext cx="586641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/>
              <a:t>&lt;</a:t>
            </a:r>
            <a:r>
              <a:rPr lang="ko-KR" altLang="en-US" sz="1400" dirty="0"/>
              <a:t>그림 </a:t>
            </a:r>
            <a:r>
              <a:rPr lang="en-US" altLang="ko-KR" sz="1400" dirty="0"/>
              <a:t>1&gt; 1bit full adder </a:t>
            </a:r>
            <a:r>
              <a:rPr lang="ko-KR" altLang="en-US" sz="1400" dirty="0"/>
              <a:t>회로 </a:t>
            </a:r>
            <a:r>
              <a:rPr lang="en-US" altLang="ko-KR" sz="1400" dirty="0" smtClean="0"/>
              <a:t>instance</a:t>
            </a:r>
            <a:r>
              <a:rPr lang="ko-KR" altLang="en-US" sz="1400" dirty="0" smtClean="0"/>
              <a:t>를 보고</a:t>
            </a:r>
            <a:r>
              <a:rPr lang="en-US" altLang="ko-KR" sz="1400" dirty="0"/>
              <a:t> </a:t>
            </a:r>
            <a:r>
              <a:rPr lang="en-US" altLang="ko-KR" sz="1400" dirty="0" err="1" smtClean="0"/>
              <a:t>Velilog</a:t>
            </a:r>
            <a:r>
              <a:rPr lang="en-US" altLang="ko-KR" sz="1400" dirty="0" smtClean="0"/>
              <a:t> code</a:t>
            </a:r>
            <a:r>
              <a:rPr lang="ko-KR" altLang="en-US" sz="1400" dirty="0" smtClean="0"/>
              <a:t>로</a:t>
            </a:r>
            <a:r>
              <a:rPr lang="en-US" altLang="ko-KR" sz="1400" dirty="0" smtClean="0"/>
              <a:t>coding</a:t>
            </a:r>
            <a:endParaRPr lang="ko-KR" alt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6549242" y="1085329"/>
            <a:ext cx="51646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 smtClean="0"/>
              <a:t>Structrual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모델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모듈의 기능을 간단한 모듈의 조합으로 구조적으로 표현</a:t>
            </a:r>
            <a:endParaRPr lang="ko-KR" altLang="en-US" sz="1200" dirty="0"/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669" y="1487044"/>
            <a:ext cx="4940554" cy="4889751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756" y="882005"/>
            <a:ext cx="6087325" cy="250542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84555" y="6192129"/>
            <a:ext cx="1754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&lt; </a:t>
            </a:r>
            <a:r>
              <a:rPr lang="en-US" altLang="ko-KR" dirty="0" err="1" smtClean="0"/>
              <a:t>full_adder.v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2393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4735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/ 1 bit full adder</a:t>
            </a:r>
            <a:endParaRPr lang="ko-KR" altLang="en-US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16415" y="722601"/>
            <a:ext cx="6021200" cy="64017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en-US" altLang="ko-KR" sz="1000" dirty="0"/>
              <a:t>## Clock signal</a:t>
            </a:r>
          </a:p>
          <a:p>
            <a:r>
              <a:rPr lang="en-US" altLang="ko-KR" sz="1000" dirty="0"/>
              <a:t>###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W5  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</a:t>
            </a:r>
            <a:r>
              <a:rPr lang="en-US" altLang="ko-KR" sz="1000" dirty="0" err="1"/>
              <a:t>clk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###</a:t>
            </a:r>
            <a:r>
              <a:rPr lang="en-US" altLang="ko-KR" sz="1000" dirty="0" err="1"/>
              <a:t>create_clock</a:t>
            </a:r>
            <a:r>
              <a:rPr lang="en-US" altLang="ko-KR" sz="1000" dirty="0"/>
              <a:t> -add -name </a:t>
            </a:r>
            <a:r>
              <a:rPr lang="en-US" altLang="ko-KR" sz="1000" dirty="0" err="1"/>
              <a:t>sys_clk_pin</a:t>
            </a:r>
            <a:r>
              <a:rPr lang="en-US" altLang="ko-KR" sz="1000" dirty="0"/>
              <a:t> -period 10.00 -waveform {0 5}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</a:t>
            </a:r>
            <a:r>
              <a:rPr lang="en-US" altLang="ko-KR" sz="1000" dirty="0" err="1"/>
              <a:t>clk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en-US" altLang="ko-KR" sz="1000" dirty="0"/>
              <a:t>## Switches</a:t>
            </a:r>
          </a:p>
          <a:p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V17   IOSTANDARD LVCMOS33 } [</a:t>
            </a:r>
            <a:r>
              <a:rPr lang="en-US" altLang="ko-KR" sz="1000" err="1"/>
              <a:t>get_ports</a:t>
            </a:r>
            <a:r>
              <a:rPr lang="en-US" altLang="ko-KR" sz="1000"/>
              <a:t> </a:t>
            </a:r>
            <a:r>
              <a:rPr lang="en-US" altLang="ko-KR" sz="1000" smtClean="0"/>
              <a:t>{</a:t>
            </a:r>
            <a:r>
              <a:rPr lang="en-US" altLang="ko-KR" sz="1000"/>
              <a:t> </a:t>
            </a:r>
            <a:r>
              <a:rPr lang="en-US" altLang="ko-KR" sz="1000" smtClean="0"/>
              <a:t>a  }]</a:t>
            </a:r>
            <a:endParaRPr lang="en-US" altLang="ko-KR" sz="1000" dirty="0"/>
          </a:p>
          <a:p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V16   IOSTANDARD LVCMOS33 } [</a:t>
            </a:r>
            <a:r>
              <a:rPr lang="en-US" altLang="ko-KR" sz="1000" err="1"/>
              <a:t>get_ports</a:t>
            </a:r>
            <a:r>
              <a:rPr lang="en-US" altLang="ko-KR" sz="1000"/>
              <a:t> </a:t>
            </a:r>
            <a:r>
              <a:rPr lang="en-US" altLang="ko-KR" sz="1000" smtClean="0"/>
              <a:t>{</a:t>
            </a:r>
            <a:r>
              <a:rPr lang="en-US" altLang="ko-KR" sz="1000"/>
              <a:t> </a:t>
            </a:r>
            <a:r>
              <a:rPr lang="en-US" altLang="ko-KR" sz="1000" smtClean="0"/>
              <a:t>b  }]</a:t>
            </a:r>
            <a:endParaRPr lang="en-US" altLang="ko-KR" sz="1000" dirty="0"/>
          </a:p>
          <a:p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W16   IOSTANDARD LVCMOS33 } [</a:t>
            </a:r>
            <a:r>
              <a:rPr lang="en-US" altLang="ko-KR" sz="1000" err="1"/>
              <a:t>get_ports</a:t>
            </a:r>
            <a:r>
              <a:rPr lang="en-US" altLang="ko-KR" sz="1000"/>
              <a:t> </a:t>
            </a:r>
            <a:r>
              <a:rPr lang="en-US" altLang="ko-KR" sz="1000" smtClean="0"/>
              <a:t>{</a:t>
            </a:r>
            <a:r>
              <a:rPr lang="en-US" altLang="ko-KR" sz="1000"/>
              <a:t> </a:t>
            </a:r>
            <a:r>
              <a:rPr lang="en-US" altLang="ko-KR" sz="1000" smtClean="0"/>
              <a:t>cin }]</a:t>
            </a:r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en-US" altLang="ko-KR" sz="1000" dirty="0"/>
              <a:t>## LEDs</a:t>
            </a:r>
          </a:p>
          <a:p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U16   IOSTANDARD LVCMOS33 } [</a:t>
            </a:r>
            <a:r>
              <a:rPr lang="en-US" altLang="ko-KR" sz="1000" err="1"/>
              <a:t>get_ports</a:t>
            </a:r>
            <a:r>
              <a:rPr lang="en-US" altLang="ko-KR" sz="1000"/>
              <a:t> </a:t>
            </a:r>
            <a:r>
              <a:rPr lang="en-US" altLang="ko-KR" sz="1000" smtClean="0"/>
              <a:t>{</a:t>
            </a:r>
            <a:r>
              <a:rPr lang="en-US" altLang="ko-KR" sz="1000"/>
              <a:t> </a:t>
            </a:r>
            <a:r>
              <a:rPr lang="en-US" altLang="ko-KR" sz="1000" smtClean="0"/>
              <a:t>sum } 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E19   IOSTANDARD LVCMOS33 } [</a:t>
            </a:r>
            <a:r>
              <a:rPr lang="en-US" altLang="ko-KR" sz="1000" err="1"/>
              <a:t>get_ports</a:t>
            </a:r>
            <a:r>
              <a:rPr lang="en-US" altLang="ko-KR" sz="1000"/>
              <a:t> </a:t>
            </a:r>
            <a:r>
              <a:rPr lang="en-US" altLang="ko-KR" sz="1000" smtClean="0"/>
              <a:t>{</a:t>
            </a:r>
            <a:r>
              <a:rPr lang="en-US" altLang="ko-KR" sz="1000"/>
              <a:t> </a:t>
            </a:r>
            <a:r>
              <a:rPr lang="en-US" altLang="ko-KR" sz="1000" smtClean="0"/>
              <a:t>carry_out }]</a:t>
            </a:r>
            <a:endParaRPr lang="en-US" altLang="ko-KR" sz="1000" dirty="0"/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U19  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{led[2]}]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V19  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{led[3</a:t>
            </a:r>
            <a:r>
              <a:rPr lang="en-US" altLang="ko-KR" sz="1000" dirty="0" smtClean="0"/>
              <a:t>]}]</a:t>
            </a:r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en-US" altLang="ko-KR" sz="1000" dirty="0"/>
              <a:t>##Buttons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U18  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</a:t>
            </a:r>
            <a:r>
              <a:rPr lang="en-US" altLang="ko-KR" sz="1000" dirty="0" err="1"/>
              <a:t>btnC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T18  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</a:t>
            </a:r>
            <a:r>
              <a:rPr lang="en-US" altLang="ko-KR" sz="1000" dirty="0" err="1"/>
              <a:t>btnU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T18  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</a:t>
            </a:r>
            <a:r>
              <a:rPr lang="en-US" altLang="ko-KR" sz="1000" dirty="0" err="1"/>
              <a:t>increase_duty_btn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W19  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</a:t>
            </a:r>
            <a:r>
              <a:rPr lang="en-US" altLang="ko-KR" sz="1000" dirty="0" err="1"/>
              <a:t>btnL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T17  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</a:t>
            </a:r>
            <a:r>
              <a:rPr lang="en-US" altLang="ko-KR" sz="1000" dirty="0" err="1"/>
              <a:t>btnR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U17  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</a:t>
            </a:r>
            <a:r>
              <a:rPr lang="en-US" altLang="ko-KR" sz="1000" dirty="0" err="1"/>
              <a:t>btnD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U17  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</a:t>
            </a:r>
            <a:r>
              <a:rPr lang="en-US" altLang="ko-KR" sz="1000" dirty="0" err="1"/>
              <a:t>decrease_duty_btn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en-US" altLang="ko-KR" sz="1000" dirty="0"/>
              <a:t>##USB-RS232 Interface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B18  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</a:t>
            </a:r>
            <a:r>
              <a:rPr lang="en-US" altLang="ko-KR" sz="1000" dirty="0" err="1"/>
              <a:t>RsRx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A18  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</a:t>
            </a:r>
            <a:r>
              <a:rPr lang="en-US" altLang="ko-KR" sz="1000" dirty="0" err="1"/>
              <a:t>RsTx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en-US" altLang="ko-KR" sz="1000" dirty="0"/>
              <a:t>## Configuration options, can be used for all designs</a:t>
            </a:r>
          </a:p>
          <a:p>
            <a:r>
              <a:rPr lang="en-US" altLang="ko-KR" sz="1000" dirty="0" err="1"/>
              <a:t>set_property</a:t>
            </a:r>
            <a:r>
              <a:rPr lang="en-US" altLang="ko-KR" sz="1000" dirty="0"/>
              <a:t> CONFIG_VOLTAGE 3.3 [</a:t>
            </a:r>
            <a:r>
              <a:rPr lang="en-US" altLang="ko-KR" sz="1000" dirty="0" err="1"/>
              <a:t>current_design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 err="1"/>
              <a:t>set_property</a:t>
            </a:r>
            <a:r>
              <a:rPr lang="en-US" altLang="ko-KR" sz="1000" dirty="0"/>
              <a:t> CFGBVS VCCO [</a:t>
            </a:r>
            <a:r>
              <a:rPr lang="en-US" altLang="ko-KR" sz="1000" dirty="0" err="1"/>
              <a:t>current_design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r>
              <a:rPr lang="en-US" altLang="ko-KR" sz="1000" dirty="0"/>
              <a:t>## SPI configuration mode options for QSPI boot, can be used for all designs</a:t>
            </a:r>
          </a:p>
          <a:p>
            <a:r>
              <a:rPr lang="en-US" altLang="ko-KR" sz="1000" dirty="0" err="1"/>
              <a:t>set_property</a:t>
            </a:r>
            <a:r>
              <a:rPr lang="en-US" altLang="ko-KR" sz="1000" dirty="0"/>
              <a:t> BITSTREAM.GENERAL.COMPRESS TRUE [</a:t>
            </a:r>
            <a:r>
              <a:rPr lang="en-US" altLang="ko-KR" sz="1000" dirty="0" err="1"/>
              <a:t>current_design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 err="1"/>
              <a:t>set_property</a:t>
            </a:r>
            <a:r>
              <a:rPr lang="en-US" altLang="ko-KR" sz="1000" dirty="0"/>
              <a:t> BITSTREAM.CONFIG.CONFIGRATE 33 [</a:t>
            </a:r>
            <a:r>
              <a:rPr lang="en-US" altLang="ko-KR" sz="1000" dirty="0" err="1"/>
              <a:t>current_design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 err="1"/>
              <a:t>set_property</a:t>
            </a:r>
            <a:r>
              <a:rPr lang="en-US" altLang="ko-KR" sz="1000" dirty="0"/>
              <a:t> CONFIG_MODE SPIx4 [</a:t>
            </a:r>
            <a:r>
              <a:rPr lang="en-US" altLang="ko-KR" sz="1000" dirty="0" err="1"/>
              <a:t>current_design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/>
            </a:r>
            <a:br>
              <a:rPr lang="en-US" altLang="ko-KR" sz="1000" dirty="0"/>
            </a:br>
            <a:endParaRPr lang="en-US" altLang="ko-KR" sz="1000" dirty="0"/>
          </a:p>
          <a:p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09487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69675" y="1017917"/>
            <a:ext cx="1012166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// 1-bit Full Adder Module</a:t>
            </a:r>
          </a:p>
          <a:p>
            <a:r>
              <a:rPr lang="en-US" altLang="ko-KR" dirty="0"/>
              <a:t>module </a:t>
            </a:r>
            <a:r>
              <a:rPr lang="en-US" altLang="ko-KR" dirty="0" err="1"/>
              <a:t>full_adder</a:t>
            </a:r>
            <a:r>
              <a:rPr lang="en-US" altLang="ko-KR" dirty="0"/>
              <a:t>(   </a:t>
            </a:r>
          </a:p>
          <a:p>
            <a:r>
              <a:rPr lang="en-US" altLang="ko-KR" dirty="0"/>
              <a:t>   input a,          // </a:t>
            </a:r>
            <a:r>
              <a:rPr lang="ko-KR" altLang="en-US" dirty="0"/>
              <a:t>첫 번째 입력 비트    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input b,          // </a:t>
            </a:r>
            <a:r>
              <a:rPr lang="ko-KR" altLang="en-US" dirty="0"/>
              <a:t>두 번째 입력 비트    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input </a:t>
            </a:r>
            <a:r>
              <a:rPr lang="en-US" altLang="ko-KR" dirty="0" err="1"/>
              <a:t>cin</a:t>
            </a:r>
            <a:r>
              <a:rPr lang="en-US" altLang="ko-KR" dirty="0"/>
              <a:t>,        // </a:t>
            </a:r>
            <a:r>
              <a:rPr lang="ko-KR" altLang="en-US" dirty="0"/>
              <a:t>이전 자리에서 올라온 </a:t>
            </a:r>
            <a:r>
              <a:rPr lang="ko-KR" altLang="en-US" dirty="0" err="1"/>
              <a:t>자리올림</a:t>
            </a:r>
            <a:r>
              <a:rPr lang="ko-KR" altLang="en-US" dirty="0"/>
              <a:t> 입력    </a:t>
            </a:r>
          </a:p>
          <a:p>
            <a:r>
              <a:rPr lang="ko-KR" altLang="en-US" dirty="0"/>
              <a:t>   </a:t>
            </a:r>
            <a:r>
              <a:rPr lang="en-US" altLang="ko-KR" dirty="0"/>
              <a:t>output sum,       // </a:t>
            </a:r>
            <a:r>
              <a:rPr lang="ko-KR" altLang="en-US" dirty="0"/>
              <a:t>합 출력    </a:t>
            </a:r>
          </a:p>
          <a:p>
            <a:r>
              <a:rPr lang="ko-KR" altLang="en-US" dirty="0"/>
              <a:t>   </a:t>
            </a:r>
            <a:r>
              <a:rPr lang="en-US" altLang="ko-KR"/>
              <a:t>output </a:t>
            </a:r>
            <a:r>
              <a:rPr lang="en-US" altLang="ko-KR" smtClean="0"/>
              <a:t>carry_out );      </a:t>
            </a:r>
            <a:r>
              <a:rPr lang="en-US" altLang="ko-KR" dirty="0"/>
              <a:t>// </a:t>
            </a:r>
            <a:r>
              <a:rPr lang="ko-KR" altLang="en-US" err="1"/>
              <a:t>자리올림</a:t>
            </a:r>
            <a:r>
              <a:rPr lang="ko-KR" altLang="en-US"/>
              <a:t> </a:t>
            </a:r>
            <a:r>
              <a:rPr lang="ko-KR" altLang="en-US" smtClean="0"/>
              <a:t>출력</a:t>
            </a:r>
            <a:r>
              <a:rPr lang="en-US" altLang="ko-KR" smtClean="0"/>
              <a:t>    </a:t>
            </a:r>
            <a:endParaRPr lang="en-US" altLang="ko-KR" dirty="0"/>
          </a:p>
          <a:p>
            <a:r>
              <a:rPr lang="en-US" altLang="ko-KR" dirty="0"/>
              <a:t>   // </a:t>
            </a:r>
            <a:r>
              <a:rPr lang="ko-KR" altLang="en-US" dirty="0"/>
              <a:t>합</a:t>
            </a:r>
            <a:r>
              <a:rPr lang="en-US" altLang="ko-KR" dirty="0"/>
              <a:t>: a, b, </a:t>
            </a:r>
            <a:r>
              <a:rPr lang="en-US" altLang="ko-KR" dirty="0" err="1"/>
              <a:t>cin</a:t>
            </a:r>
            <a:r>
              <a:rPr lang="ko-KR" altLang="en-US" dirty="0"/>
              <a:t>을 </a:t>
            </a:r>
            <a:r>
              <a:rPr lang="en-US" altLang="ko-KR" dirty="0"/>
              <a:t>XOR   </a:t>
            </a:r>
          </a:p>
          <a:p>
            <a:endParaRPr lang="en-US" altLang="ko-KR" dirty="0"/>
          </a:p>
          <a:p>
            <a:r>
              <a:rPr lang="en-US" altLang="ko-KR" dirty="0"/>
              <a:t>   assign sum = a ^ b ^ </a:t>
            </a:r>
            <a:r>
              <a:rPr lang="en-US" altLang="ko-KR" dirty="0" err="1"/>
              <a:t>cin</a:t>
            </a:r>
            <a:r>
              <a:rPr lang="en-US" altLang="ko-KR" dirty="0"/>
              <a:t>;    </a:t>
            </a:r>
          </a:p>
          <a:p>
            <a:r>
              <a:rPr lang="en-US" altLang="ko-KR" dirty="0"/>
              <a:t>   // </a:t>
            </a:r>
            <a:r>
              <a:rPr lang="ko-KR" altLang="en-US" dirty="0" err="1"/>
              <a:t>자리올림</a:t>
            </a:r>
            <a:r>
              <a:rPr lang="en-US" altLang="ko-KR" dirty="0"/>
              <a:t>: (a &amp; b) | (b &amp; </a:t>
            </a:r>
            <a:r>
              <a:rPr lang="en-US" altLang="ko-KR" dirty="0" err="1"/>
              <a:t>cin</a:t>
            </a:r>
            <a:r>
              <a:rPr lang="en-US" altLang="ko-KR" dirty="0"/>
              <a:t>) | (a &amp; </a:t>
            </a:r>
            <a:r>
              <a:rPr lang="en-US" altLang="ko-KR" dirty="0" err="1"/>
              <a:t>cin</a:t>
            </a:r>
            <a:r>
              <a:rPr lang="en-US" altLang="ko-KR" dirty="0"/>
              <a:t>)   </a:t>
            </a:r>
          </a:p>
          <a:p>
            <a:r>
              <a:rPr lang="en-US" altLang="ko-KR" dirty="0"/>
              <a:t>   </a:t>
            </a:r>
            <a:r>
              <a:rPr lang="en-US" altLang="ko-KR"/>
              <a:t>assign carry_out </a:t>
            </a:r>
            <a:r>
              <a:rPr lang="en-US" altLang="ko-KR" dirty="0"/>
              <a:t>= (a &amp; b) | (b &amp; </a:t>
            </a:r>
            <a:r>
              <a:rPr lang="en-US" altLang="ko-KR" dirty="0" err="1"/>
              <a:t>cin</a:t>
            </a:r>
            <a:r>
              <a:rPr lang="en-US" altLang="ko-KR" dirty="0"/>
              <a:t>) | (a &amp; </a:t>
            </a:r>
            <a:r>
              <a:rPr lang="en-US" altLang="ko-KR" dirty="0" err="1"/>
              <a:t>cin</a:t>
            </a:r>
            <a:r>
              <a:rPr lang="en-US" altLang="ko-KR" dirty="0"/>
              <a:t>);</a:t>
            </a:r>
          </a:p>
          <a:p>
            <a:r>
              <a:rPr lang="en-US" altLang="ko-KR" dirty="0" err="1"/>
              <a:t>endmodule</a:t>
            </a:r>
            <a:endParaRPr lang="en-US" altLang="ko-KR" dirty="0"/>
          </a:p>
          <a:p>
            <a:r>
              <a:rPr lang="en-US" altLang="ko-KR" dirty="0"/>
              <a:t>// </a:t>
            </a:r>
            <a:r>
              <a:rPr lang="ko-KR" altLang="en-US" dirty="0"/>
              <a:t>설명</a:t>
            </a:r>
            <a:r>
              <a:rPr lang="en-US" altLang="ko-KR" dirty="0"/>
              <a:t>: Full Adder</a:t>
            </a:r>
            <a:r>
              <a:rPr lang="ko-KR" altLang="en-US" dirty="0"/>
              <a:t>는 세 개의 입력 비트</a:t>
            </a:r>
            <a:r>
              <a:rPr lang="en-US" altLang="ko-KR" dirty="0"/>
              <a:t>(a, b, </a:t>
            </a:r>
            <a:r>
              <a:rPr lang="en-US" altLang="ko-KR" dirty="0" err="1"/>
              <a:t>cin</a:t>
            </a:r>
            <a:r>
              <a:rPr lang="en-US" altLang="ko-KR" dirty="0"/>
              <a:t>)</a:t>
            </a:r>
            <a:r>
              <a:rPr lang="ko-KR" altLang="en-US" dirty="0"/>
              <a:t>를 받아 합</a:t>
            </a:r>
            <a:r>
              <a:rPr lang="en-US" altLang="ko-KR" dirty="0"/>
              <a:t>(sum)</a:t>
            </a:r>
            <a:r>
              <a:rPr lang="ko-KR" altLang="en-US" dirty="0"/>
              <a:t>과 </a:t>
            </a:r>
            <a:r>
              <a:rPr lang="ko-KR" altLang="en-US" dirty="0" err="1"/>
              <a:t>자리올림</a:t>
            </a:r>
            <a:r>
              <a:rPr lang="en-US" altLang="ko-KR" dirty="0"/>
              <a:t>(</a:t>
            </a:r>
            <a:r>
              <a:rPr lang="en-US" altLang="ko-KR" dirty="0" err="1"/>
              <a:t>cout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r>
              <a:rPr lang="en-US" altLang="ko-KR" dirty="0"/>
              <a:t>// sum</a:t>
            </a:r>
            <a:r>
              <a:rPr lang="ko-KR" altLang="en-US" dirty="0"/>
              <a:t>은 세 입력의 홀수 개 </a:t>
            </a:r>
            <a:r>
              <a:rPr lang="en-US" altLang="ko-KR" dirty="0"/>
              <a:t>1</a:t>
            </a:r>
            <a:r>
              <a:rPr lang="ko-KR" altLang="en-US" dirty="0"/>
              <a:t>을 검출하는 </a:t>
            </a:r>
            <a:r>
              <a:rPr lang="en-US" altLang="ko-KR" dirty="0"/>
              <a:t>XOR </a:t>
            </a:r>
            <a:r>
              <a:rPr lang="ko-KR" altLang="en-US" dirty="0"/>
              <a:t>연산으로</a:t>
            </a:r>
            <a:r>
              <a:rPr lang="en-US" altLang="ko-KR" dirty="0"/>
              <a:t>, </a:t>
            </a:r>
            <a:r>
              <a:rPr lang="en-US" altLang="ko-KR" dirty="0" err="1"/>
              <a:t>cout</a:t>
            </a:r>
            <a:r>
              <a:rPr lang="ko-KR" altLang="en-US" dirty="0"/>
              <a:t>은 두 입력 이상이 </a:t>
            </a:r>
            <a:r>
              <a:rPr lang="en-US" altLang="ko-KR" dirty="0"/>
              <a:t>1</a:t>
            </a:r>
            <a:r>
              <a:rPr lang="ko-KR" altLang="en-US" dirty="0"/>
              <a:t>일 때 </a:t>
            </a:r>
            <a:r>
              <a:rPr lang="ko-KR" altLang="en-US" dirty="0" err="1"/>
              <a:t>자리올림이</a:t>
            </a:r>
            <a:r>
              <a:rPr lang="ko-KR" altLang="en-US" dirty="0"/>
              <a:t> 발생하는 </a:t>
            </a:r>
            <a:r>
              <a:rPr lang="en-US" altLang="ko-KR" dirty="0"/>
              <a:t>OR-AND </a:t>
            </a:r>
            <a:r>
              <a:rPr lang="ko-KR" altLang="en-US" dirty="0"/>
              <a:t>조합으로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855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47355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/ 1 bit full adder</a:t>
            </a:r>
            <a:endParaRPr lang="ko-KR" altLang="en-US" sz="2800" b="1" dirty="0"/>
          </a:p>
        </p:txBody>
      </p:sp>
      <p:sp>
        <p:nvSpPr>
          <p:cNvPr id="2" name="직사각형 1"/>
          <p:cNvSpPr/>
          <p:nvPr/>
        </p:nvSpPr>
        <p:spPr>
          <a:xfrm>
            <a:off x="937017" y="5716537"/>
            <a:ext cx="158876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dirty="0" smtClean="0">
                <a:solidFill>
                  <a:srgbClr val="FF0000"/>
                </a:solidFill>
              </a:rPr>
              <a:t>&lt;</a:t>
            </a:r>
            <a:r>
              <a:rPr lang="en-US" altLang="ko-KR" sz="1400" dirty="0" err="1" smtClean="0">
                <a:solidFill>
                  <a:srgbClr val="FF0000"/>
                </a:solidFill>
              </a:rPr>
              <a:t>tb_full_adder.v</a:t>
            </a:r>
            <a:r>
              <a:rPr lang="en-US" altLang="ko-KR" sz="1400" dirty="0" smtClean="0">
                <a:solidFill>
                  <a:srgbClr val="FF0000"/>
                </a:solidFill>
              </a:rPr>
              <a:t>&gt;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97" y="873620"/>
            <a:ext cx="2380277" cy="478976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954" y="873620"/>
            <a:ext cx="6670821" cy="3567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872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4608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/ 4bit full adder</a:t>
            </a:r>
            <a:endParaRPr lang="ko-KR" alt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057408" y="1555668"/>
            <a:ext cx="2766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     FA3 FA2 FA1 FA0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   1    1    1   1    a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+   1    0    1   1    b</a:t>
            </a:r>
          </a:p>
          <a:p>
            <a:r>
              <a:rPr lang="en-US" altLang="ko-KR" dirty="0" smtClean="0"/>
              <a:t>      ----------------------</a:t>
            </a:r>
          </a:p>
          <a:p>
            <a:r>
              <a:rPr lang="en-US" altLang="ko-KR" dirty="0" smtClean="0"/>
              <a:t>   1    1    0    1   0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8211787" y="2594758"/>
            <a:ext cx="540327" cy="48688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>
            <a:stCxn id="13" idx="4"/>
          </p:cNvCxnSpPr>
          <p:nvPr/>
        </p:nvCxnSpPr>
        <p:spPr>
          <a:xfrm flipH="1">
            <a:off x="8211787" y="3081647"/>
            <a:ext cx="270164" cy="492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85097" y="3549916"/>
            <a:ext cx="1252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Carry out 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213450" y="4941950"/>
            <a:ext cx="4552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rgbClr val="FF0000"/>
                </a:solidFill>
              </a:rPr>
              <a:t>적색</a:t>
            </a:r>
            <a:r>
              <a:rPr lang="ko-KR" altLang="en-US" sz="1400" dirty="0" smtClean="0"/>
              <a:t> 글자는 </a:t>
            </a:r>
            <a:r>
              <a:rPr lang="en-US" altLang="ko-KR" sz="1400" dirty="0" smtClean="0"/>
              <a:t>basys3</a:t>
            </a:r>
            <a:r>
              <a:rPr lang="ko-KR" altLang="en-US" sz="1400" dirty="0" smtClean="0"/>
              <a:t>에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있는</a:t>
            </a:r>
            <a:r>
              <a:rPr lang="en-US" altLang="ko-KR" sz="1400" dirty="0"/>
              <a:t> </a:t>
            </a:r>
            <a:r>
              <a:rPr lang="ko-KR" altLang="en-US" sz="1400" dirty="0" smtClean="0"/>
              <a:t>물리적인 </a:t>
            </a:r>
            <a:r>
              <a:rPr lang="en-US" altLang="ko-KR" sz="1400" dirty="0" smtClean="0"/>
              <a:t>port</a:t>
            </a:r>
            <a:r>
              <a:rPr lang="ko-KR" altLang="en-US" sz="1400" dirty="0" smtClean="0"/>
              <a:t>를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가리킨다</a:t>
            </a:r>
            <a:r>
              <a:rPr lang="en-US" altLang="ko-KR" dirty="0" smtClean="0"/>
              <a:t>.</a:t>
            </a:r>
          </a:p>
          <a:p>
            <a:r>
              <a:rPr lang="ko-KR" altLang="en-US" sz="1400" dirty="0" smtClean="0"/>
              <a:t>       예를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들어서 </a:t>
            </a:r>
            <a:r>
              <a:rPr lang="en-US" altLang="ko-KR" sz="1400" dirty="0" smtClean="0"/>
              <a:t>a0</a:t>
            </a:r>
            <a:r>
              <a:rPr lang="ko-KR" altLang="en-US" sz="1400" dirty="0" smtClean="0"/>
              <a:t>는 </a:t>
            </a:r>
            <a:r>
              <a:rPr lang="en-US" altLang="ko-KR" sz="1400" dirty="0" smtClean="0"/>
              <a:t>sw0</a:t>
            </a:r>
            <a:r>
              <a:rPr lang="ko-KR" altLang="en-US" sz="1400" dirty="0" smtClean="0"/>
              <a:t>에 </a:t>
            </a:r>
            <a:r>
              <a:rPr lang="en-US" altLang="ko-KR" sz="1400" dirty="0" smtClean="0"/>
              <a:t>mapping </a:t>
            </a:r>
            <a:r>
              <a:rPr lang="ko-KR" altLang="en-US" sz="1400" dirty="0" smtClean="0"/>
              <a:t>된다</a:t>
            </a:r>
            <a:r>
              <a:rPr lang="en-US" altLang="ko-KR" sz="1400" dirty="0" smtClean="0"/>
              <a:t>. </a:t>
            </a:r>
            <a:endParaRPr lang="ko-KR" altLang="en-US" sz="1400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16" y="1128373"/>
            <a:ext cx="7274091" cy="3419658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102" y="3984541"/>
            <a:ext cx="4969293" cy="25255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37748" y="6488668"/>
            <a:ext cx="1677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&lt; </a:t>
            </a:r>
            <a:r>
              <a:rPr lang="ko-KR" altLang="en-US" dirty="0" smtClean="0"/>
              <a:t>실행 결과</a:t>
            </a:r>
            <a:r>
              <a:rPr lang="en-US" altLang="ko-KR" dirty="0" smtClean="0"/>
              <a:t>&gt;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5127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4608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/ 4bit full adder</a:t>
            </a:r>
            <a:endParaRPr lang="ko-KR" altLang="en-US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839638" y="1046672"/>
            <a:ext cx="261340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`timescale 1ns / 1ps</a:t>
            </a:r>
          </a:p>
          <a:p>
            <a:endParaRPr lang="en-US" altLang="ko-KR" sz="1200" dirty="0"/>
          </a:p>
          <a:p>
            <a:r>
              <a:rPr lang="en-US" altLang="ko-KR" sz="1200" dirty="0"/>
              <a:t>module full_adder_4bit(</a:t>
            </a:r>
          </a:p>
          <a:p>
            <a:r>
              <a:rPr lang="en-US" altLang="ko-KR" sz="1200" dirty="0"/>
              <a:t>    input [3:0] a,</a:t>
            </a:r>
          </a:p>
          <a:p>
            <a:r>
              <a:rPr lang="en-US" altLang="ko-KR" sz="1200" dirty="0"/>
              <a:t>    input [3:0] b,</a:t>
            </a:r>
          </a:p>
          <a:p>
            <a:r>
              <a:rPr lang="en-US" altLang="ko-KR" sz="1200" dirty="0"/>
              <a:t>    input </a:t>
            </a:r>
            <a:r>
              <a:rPr lang="en-US" altLang="ko-KR" sz="1200" dirty="0" err="1"/>
              <a:t>cin</a:t>
            </a:r>
            <a:r>
              <a:rPr lang="en-US" altLang="ko-KR" sz="1200" dirty="0"/>
              <a:t>,   // 1bit</a:t>
            </a:r>
          </a:p>
          <a:p>
            <a:r>
              <a:rPr lang="en-US" altLang="ko-KR" sz="1200" dirty="0"/>
              <a:t>    output [3:0] sum,</a:t>
            </a:r>
          </a:p>
          <a:p>
            <a:r>
              <a:rPr lang="en-US" altLang="ko-KR" sz="1200" dirty="0"/>
              <a:t>    output </a:t>
            </a:r>
            <a:r>
              <a:rPr lang="en-US" altLang="ko-KR" sz="1200" dirty="0" err="1"/>
              <a:t>carry_out</a:t>
            </a:r>
            <a:endParaRPr lang="en-US" altLang="ko-KR" sz="1200" dirty="0"/>
          </a:p>
          <a:p>
            <a:r>
              <a:rPr lang="en-US" altLang="ko-KR" sz="1200" dirty="0"/>
              <a:t>);    </a:t>
            </a:r>
          </a:p>
          <a:p>
            <a:r>
              <a:rPr lang="en-US" altLang="ko-KR" sz="1200" dirty="0"/>
              <a:t>wire w_carry0, w_carry1, w_carry2; </a:t>
            </a:r>
          </a:p>
          <a:p>
            <a:endParaRPr lang="en-US" altLang="ko-KR" sz="1200" dirty="0"/>
          </a:p>
          <a:p>
            <a:r>
              <a:rPr lang="en-US" altLang="ko-KR" sz="1200" dirty="0"/>
              <a:t>full_adder_1bit FA0 (</a:t>
            </a:r>
          </a:p>
          <a:p>
            <a:r>
              <a:rPr lang="en-US" altLang="ko-KR" sz="1200" dirty="0"/>
              <a:t>    .a(a[0]),   // a[0] 1bit</a:t>
            </a:r>
          </a:p>
          <a:p>
            <a:r>
              <a:rPr lang="en-US" altLang="ko-KR" sz="1200" dirty="0"/>
              <a:t>    .</a:t>
            </a:r>
            <a:r>
              <a:rPr lang="en-US" altLang="ko-KR" sz="1200" dirty="0" smtClean="0"/>
              <a:t>b(b[0]),   </a:t>
            </a:r>
            <a:endParaRPr lang="en-US" altLang="ko-KR" sz="1200" dirty="0"/>
          </a:p>
          <a:p>
            <a:r>
              <a:rPr lang="en-US" altLang="ko-KR" sz="1200" dirty="0"/>
              <a:t>    .</a:t>
            </a:r>
            <a:r>
              <a:rPr lang="en-US" altLang="ko-KR" sz="1200" dirty="0" err="1" smtClean="0"/>
              <a:t>cin</a:t>
            </a:r>
            <a:r>
              <a:rPr lang="en-US" altLang="ko-KR" sz="1200" dirty="0" smtClean="0"/>
              <a:t>(1’b0),    </a:t>
            </a:r>
            <a:endParaRPr lang="en-US" altLang="ko-KR" sz="1200" dirty="0"/>
          </a:p>
          <a:p>
            <a:r>
              <a:rPr lang="en-US" altLang="ko-KR" sz="1200" dirty="0"/>
              <a:t>    .sum(sum[0]),   </a:t>
            </a:r>
          </a:p>
          <a:p>
            <a:r>
              <a:rPr lang="en-US" altLang="ko-KR" sz="1200" dirty="0"/>
              <a:t>    .</a:t>
            </a:r>
            <a:r>
              <a:rPr lang="en-US" altLang="ko-KR" sz="1200" dirty="0" err="1"/>
              <a:t>carry_out</a:t>
            </a:r>
            <a:r>
              <a:rPr lang="en-US" altLang="ko-KR" sz="1200" dirty="0"/>
              <a:t>(w_carry0)    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smtClean="0"/>
              <a:t>);  // </a:t>
            </a:r>
            <a:r>
              <a:rPr lang="en-US" altLang="ko-KR" sz="1200" dirty="0" smtClean="0">
                <a:solidFill>
                  <a:srgbClr val="FF0000"/>
                </a:solidFill>
              </a:rPr>
              <a:t>named instantiation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/>
              <a:t>    </a:t>
            </a:r>
          </a:p>
          <a:p>
            <a:r>
              <a:rPr lang="en-US" altLang="ko-KR" sz="1200" dirty="0"/>
              <a:t>full_adder_1bit FA1 (</a:t>
            </a:r>
          </a:p>
          <a:p>
            <a:r>
              <a:rPr lang="en-US" altLang="ko-KR" sz="1200" dirty="0"/>
              <a:t>    .a(a[1]),   // a[0] 1bit</a:t>
            </a:r>
          </a:p>
          <a:p>
            <a:r>
              <a:rPr lang="en-US" altLang="ko-KR" sz="1200" dirty="0"/>
              <a:t>    .</a:t>
            </a:r>
            <a:r>
              <a:rPr lang="en-US" altLang="ko-KR" sz="1200" dirty="0" smtClean="0"/>
              <a:t>b(b[1</a:t>
            </a:r>
            <a:r>
              <a:rPr lang="en-US" altLang="ko-KR" sz="1200" dirty="0"/>
              <a:t>]),   </a:t>
            </a:r>
          </a:p>
          <a:p>
            <a:r>
              <a:rPr lang="en-US" altLang="ko-KR" sz="1200" dirty="0"/>
              <a:t>    .</a:t>
            </a:r>
            <a:r>
              <a:rPr lang="en-US" altLang="ko-KR" sz="1200" dirty="0" err="1"/>
              <a:t>cin</a:t>
            </a:r>
            <a:r>
              <a:rPr lang="en-US" altLang="ko-KR" sz="1200" dirty="0"/>
              <a:t>(w_carry0),    </a:t>
            </a:r>
          </a:p>
          <a:p>
            <a:r>
              <a:rPr lang="en-US" altLang="ko-KR" sz="1200" dirty="0"/>
              <a:t>    .sum(sum[1]),   </a:t>
            </a:r>
          </a:p>
          <a:p>
            <a:r>
              <a:rPr lang="en-US" altLang="ko-KR" sz="1200" dirty="0"/>
              <a:t>    .</a:t>
            </a:r>
            <a:r>
              <a:rPr lang="en-US" altLang="ko-KR" sz="1200" dirty="0" err="1"/>
              <a:t>carry_out</a:t>
            </a:r>
            <a:r>
              <a:rPr lang="en-US" altLang="ko-KR" sz="1200" dirty="0"/>
              <a:t>(w_carry1)    </a:t>
            </a:r>
          </a:p>
          <a:p>
            <a:r>
              <a:rPr lang="en-US" altLang="ko-KR" sz="1200" dirty="0"/>
              <a:t>    );</a:t>
            </a:r>
          </a:p>
          <a:p>
            <a:endParaRPr lang="en-US" altLang="ko-KR" sz="1200" dirty="0"/>
          </a:p>
        </p:txBody>
      </p:sp>
      <p:sp>
        <p:nvSpPr>
          <p:cNvPr id="10" name="TextBox 9"/>
          <p:cNvSpPr txBox="1"/>
          <p:nvPr/>
        </p:nvSpPr>
        <p:spPr>
          <a:xfrm>
            <a:off x="3597214" y="1035170"/>
            <a:ext cx="203664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1200" dirty="0"/>
          </a:p>
          <a:p>
            <a:r>
              <a:rPr lang="en-US" altLang="ko-KR" sz="1200" dirty="0"/>
              <a:t>full_adder_1bit FA2 (</a:t>
            </a:r>
          </a:p>
          <a:p>
            <a:r>
              <a:rPr lang="en-US" altLang="ko-KR" sz="1200" dirty="0"/>
              <a:t>    .a(a[2]),   // a[0] 1bit</a:t>
            </a:r>
          </a:p>
          <a:p>
            <a:r>
              <a:rPr lang="en-US" altLang="ko-KR" sz="1200" dirty="0"/>
              <a:t>    .</a:t>
            </a:r>
            <a:r>
              <a:rPr lang="en-US" altLang="ko-KR" sz="1200" dirty="0" smtClean="0"/>
              <a:t>b(b[2</a:t>
            </a:r>
            <a:r>
              <a:rPr lang="en-US" altLang="ko-KR" sz="1200" dirty="0"/>
              <a:t>]),   </a:t>
            </a:r>
          </a:p>
          <a:p>
            <a:r>
              <a:rPr lang="en-US" altLang="ko-KR" sz="1200" dirty="0"/>
              <a:t>    .</a:t>
            </a:r>
            <a:r>
              <a:rPr lang="en-US" altLang="ko-KR" sz="1200" dirty="0" err="1"/>
              <a:t>cin</a:t>
            </a:r>
            <a:r>
              <a:rPr lang="en-US" altLang="ko-KR" sz="1200" dirty="0"/>
              <a:t>(w_carry1),    </a:t>
            </a:r>
          </a:p>
          <a:p>
            <a:r>
              <a:rPr lang="en-US" altLang="ko-KR" sz="1200" dirty="0"/>
              <a:t>    .sum(sum[2]),   </a:t>
            </a:r>
          </a:p>
          <a:p>
            <a:r>
              <a:rPr lang="en-US" altLang="ko-KR" sz="1200" dirty="0"/>
              <a:t>    .</a:t>
            </a:r>
            <a:r>
              <a:rPr lang="en-US" altLang="ko-KR" sz="1200" dirty="0" err="1"/>
              <a:t>carry_out</a:t>
            </a:r>
            <a:r>
              <a:rPr lang="en-US" altLang="ko-KR" sz="1200" dirty="0"/>
              <a:t>(w_carry2)    </a:t>
            </a:r>
          </a:p>
          <a:p>
            <a:r>
              <a:rPr lang="en-US" altLang="ko-KR" sz="1200" dirty="0"/>
              <a:t>    );</a:t>
            </a:r>
          </a:p>
          <a:p>
            <a:endParaRPr lang="en-US" altLang="ko-KR" sz="1200" dirty="0"/>
          </a:p>
          <a:p>
            <a:r>
              <a:rPr lang="en-US" altLang="ko-KR" sz="1200" dirty="0"/>
              <a:t>full_adder_1bit FA3 (</a:t>
            </a:r>
          </a:p>
          <a:p>
            <a:r>
              <a:rPr lang="en-US" altLang="ko-KR" sz="1200" dirty="0"/>
              <a:t>    .a(a[3]),   // a[0] 1bit</a:t>
            </a:r>
          </a:p>
          <a:p>
            <a:r>
              <a:rPr lang="en-US" altLang="ko-KR" sz="1200" dirty="0"/>
              <a:t>    .</a:t>
            </a:r>
            <a:r>
              <a:rPr lang="en-US" altLang="ko-KR" sz="1200" dirty="0" smtClean="0"/>
              <a:t>b(b[3</a:t>
            </a:r>
            <a:r>
              <a:rPr lang="en-US" altLang="ko-KR" sz="1200" dirty="0"/>
              <a:t>]),   </a:t>
            </a:r>
          </a:p>
          <a:p>
            <a:r>
              <a:rPr lang="en-US" altLang="ko-KR" sz="1200" dirty="0"/>
              <a:t>    .</a:t>
            </a:r>
            <a:r>
              <a:rPr lang="en-US" altLang="ko-KR" sz="1200" dirty="0" err="1"/>
              <a:t>cin</a:t>
            </a:r>
            <a:r>
              <a:rPr lang="en-US" altLang="ko-KR" sz="1200" dirty="0"/>
              <a:t>(w_carry2),    </a:t>
            </a:r>
          </a:p>
          <a:p>
            <a:r>
              <a:rPr lang="en-US" altLang="ko-KR" sz="1200" dirty="0"/>
              <a:t>    .sum(sum[3]),   </a:t>
            </a:r>
          </a:p>
          <a:p>
            <a:r>
              <a:rPr lang="en-US" altLang="ko-KR" sz="1200" dirty="0"/>
              <a:t>    .</a:t>
            </a:r>
            <a:r>
              <a:rPr lang="en-US" altLang="ko-KR" sz="1200" dirty="0" err="1"/>
              <a:t>carry_out</a:t>
            </a:r>
            <a:r>
              <a:rPr lang="en-US" altLang="ko-KR" sz="1200" dirty="0"/>
              <a:t>(</a:t>
            </a:r>
            <a:r>
              <a:rPr lang="en-US" altLang="ko-KR" sz="1200" dirty="0" err="1"/>
              <a:t>carry_out</a:t>
            </a:r>
            <a:r>
              <a:rPr lang="en-US" altLang="ko-KR" sz="1200" dirty="0"/>
              <a:t>)    </a:t>
            </a:r>
          </a:p>
          <a:p>
            <a:r>
              <a:rPr lang="en-US" altLang="ko-KR" sz="1200" dirty="0"/>
              <a:t>    );</a:t>
            </a:r>
          </a:p>
          <a:p>
            <a:r>
              <a:rPr lang="en-US" altLang="ko-KR" sz="1200" dirty="0"/>
              <a:t>           </a:t>
            </a:r>
          </a:p>
          <a:p>
            <a:r>
              <a:rPr lang="en-US" altLang="ko-KR" sz="1200" dirty="0" err="1"/>
              <a:t>endmodule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76377" y="721322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&lt;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full_adder_4bit.v&gt;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17548" y="750076"/>
            <a:ext cx="2491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&lt;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tb_fulladder_4bit.v&gt;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13917" y="1219836"/>
            <a:ext cx="4488729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`timescale 1ns / 1ps</a:t>
            </a:r>
          </a:p>
          <a:p>
            <a:endParaRPr lang="en-US" altLang="ko-KR" sz="1200" dirty="0"/>
          </a:p>
          <a:p>
            <a:r>
              <a:rPr lang="en-US" altLang="ko-KR" sz="1200" dirty="0"/>
              <a:t>module tb_fulladder_4bit</a:t>
            </a:r>
            <a:r>
              <a:rPr lang="en-US" altLang="ko-KR" sz="1200" dirty="0" smtClean="0"/>
              <a:t>();  </a:t>
            </a:r>
            <a:r>
              <a:rPr lang="en-US" altLang="ko-KR" sz="1200" dirty="0" smtClean="0">
                <a:solidFill>
                  <a:srgbClr val="FF0000"/>
                </a:solidFill>
              </a:rPr>
              <a:t>// </a:t>
            </a:r>
            <a:r>
              <a:rPr lang="ko-KR" altLang="en-US" sz="1200" dirty="0" err="1" smtClean="0">
                <a:solidFill>
                  <a:srgbClr val="FF0000"/>
                </a:solidFill>
              </a:rPr>
              <a:t>시물레이션에서</a:t>
            </a:r>
            <a:r>
              <a:rPr lang="ko-KR" altLang="en-US" sz="1200" dirty="0" smtClean="0">
                <a:solidFill>
                  <a:srgbClr val="FF0000"/>
                </a:solidFill>
              </a:rPr>
              <a:t> 입출력은 없다</a:t>
            </a:r>
            <a:r>
              <a:rPr lang="en-US" altLang="ko-KR" sz="1200" dirty="0" smtClean="0"/>
              <a:t>.</a:t>
            </a:r>
            <a:endParaRPr lang="en-US" altLang="ko-KR" sz="1200" dirty="0"/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reg</a:t>
            </a:r>
            <a:r>
              <a:rPr lang="en-US" altLang="ko-KR" sz="1200" dirty="0"/>
              <a:t> [3:0] a</a:t>
            </a:r>
            <a:r>
              <a:rPr lang="en-US" altLang="ko-KR" sz="1200" dirty="0" smtClean="0"/>
              <a:t>;  // </a:t>
            </a:r>
            <a:r>
              <a:rPr lang="ko-KR" altLang="en-US" sz="1200" dirty="0" err="1" smtClean="0">
                <a:solidFill>
                  <a:srgbClr val="FF0000"/>
                </a:solidFill>
              </a:rPr>
              <a:t>시물레이션에서</a:t>
            </a:r>
            <a:r>
              <a:rPr lang="ko-KR" altLang="en-US" sz="1200" dirty="0" smtClean="0">
                <a:solidFill>
                  <a:srgbClr val="FF0000"/>
                </a:solidFill>
              </a:rPr>
              <a:t> 입력은 </a:t>
            </a:r>
            <a:r>
              <a:rPr lang="en-US" altLang="ko-KR" sz="1200" dirty="0" err="1" smtClean="0">
                <a:solidFill>
                  <a:srgbClr val="FF0000"/>
                </a:solidFill>
              </a:rPr>
              <a:t>reg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reg</a:t>
            </a:r>
            <a:r>
              <a:rPr lang="en-US" altLang="ko-KR" sz="1200" dirty="0"/>
              <a:t> [3:0] b; 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reg</a:t>
            </a:r>
            <a:r>
              <a:rPr lang="en-US" altLang="ko-KR" sz="1200" dirty="0"/>
              <a:t> </a:t>
            </a:r>
            <a:r>
              <a:rPr lang="en-US" altLang="ko-KR" sz="1200" dirty="0" err="1"/>
              <a:t>cin</a:t>
            </a:r>
            <a:r>
              <a:rPr lang="en-US" altLang="ko-KR" sz="1200" dirty="0"/>
              <a:t>;  // 1bit</a:t>
            </a:r>
          </a:p>
          <a:p>
            <a:r>
              <a:rPr lang="en-US" altLang="ko-KR" sz="1200" dirty="0"/>
              <a:t>    wire [3:0] sum</a:t>
            </a:r>
            <a:r>
              <a:rPr lang="en-US" altLang="ko-KR" sz="1200" dirty="0" smtClean="0"/>
              <a:t>;  // </a:t>
            </a:r>
            <a:r>
              <a:rPr lang="ko-KR" altLang="en-US" sz="1200" dirty="0" err="1" smtClean="0">
                <a:solidFill>
                  <a:srgbClr val="FF0000"/>
                </a:solidFill>
              </a:rPr>
              <a:t>시물레이션에서</a:t>
            </a:r>
            <a:r>
              <a:rPr lang="ko-KR" altLang="en-US" sz="1200" dirty="0" smtClean="0">
                <a:solidFill>
                  <a:srgbClr val="FF0000"/>
                </a:solidFill>
              </a:rPr>
              <a:t> 출력은 </a:t>
            </a:r>
            <a:r>
              <a:rPr lang="en-US" altLang="ko-KR" sz="1200" dirty="0" smtClean="0">
                <a:solidFill>
                  <a:srgbClr val="FF0000"/>
                </a:solidFill>
              </a:rPr>
              <a:t>wire</a:t>
            </a:r>
            <a:r>
              <a:rPr lang="ko-KR" altLang="en-US" sz="1200" dirty="0" smtClean="0">
                <a:solidFill>
                  <a:srgbClr val="FF0000"/>
                </a:solidFill>
              </a:rPr>
              <a:t>로 선언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/>
              <a:t>    wire </a:t>
            </a:r>
            <a:r>
              <a:rPr lang="en-US" altLang="ko-KR" sz="1200" dirty="0" err="1"/>
              <a:t>carry_out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/>
              <a:t>    </a:t>
            </a:r>
          </a:p>
          <a:p>
            <a:r>
              <a:rPr lang="en-US" altLang="ko-KR" sz="1200" dirty="0"/>
              <a:t>    full_adder_4bit </a:t>
            </a:r>
            <a:r>
              <a:rPr lang="en-US" altLang="ko-KR" sz="1200" dirty="0" err="1"/>
              <a:t>dut</a:t>
            </a:r>
            <a:r>
              <a:rPr lang="en-US" altLang="ko-KR" sz="1200" dirty="0"/>
              <a:t>  (</a:t>
            </a:r>
          </a:p>
          <a:p>
            <a:r>
              <a:rPr lang="en-US" altLang="ko-KR" sz="1200" dirty="0"/>
              <a:t>    .a(a),</a:t>
            </a:r>
          </a:p>
          <a:p>
            <a:r>
              <a:rPr lang="en-US" altLang="ko-KR" sz="1200" dirty="0"/>
              <a:t>    .b(b),</a:t>
            </a:r>
          </a:p>
          <a:p>
            <a:r>
              <a:rPr lang="en-US" altLang="ko-KR" sz="1200" dirty="0"/>
              <a:t>    .</a:t>
            </a:r>
            <a:r>
              <a:rPr lang="en-US" altLang="ko-KR" sz="1200" dirty="0" err="1"/>
              <a:t>cin</a:t>
            </a:r>
            <a:r>
              <a:rPr lang="en-US" altLang="ko-KR" sz="1200" dirty="0"/>
              <a:t>(</a:t>
            </a:r>
            <a:r>
              <a:rPr lang="en-US" altLang="ko-KR" sz="1200" dirty="0" err="1"/>
              <a:t>cin</a:t>
            </a:r>
            <a:r>
              <a:rPr lang="en-US" altLang="ko-KR" sz="1200" dirty="0"/>
              <a:t>),   // 1bit</a:t>
            </a:r>
          </a:p>
          <a:p>
            <a:r>
              <a:rPr lang="en-US" altLang="ko-KR" sz="1200" dirty="0"/>
              <a:t>    .sum(sum),</a:t>
            </a:r>
          </a:p>
          <a:p>
            <a:r>
              <a:rPr lang="en-US" altLang="ko-KR" sz="1200" dirty="0"/>
              <a:t>    .</a:t>
            </a:r>
            <a:r>
              <a:rPr lang="en-US" altLang="ko-KR" sz="1200" dirty="0" err="1"/>
              <a:t>carry_out</a:t>
            </a:r>
            <a:r>
              <a:rPr lang="en-US" altLang="ko-KR" sz="1200" dirty="0"/>
              <a:t>(</a:t>
            </a:r>
            <a:r>
              <a:rPr lang="en-US" altLang="ko-KR" sz="1200" dirty="0" err="1"/>
              <a:t>carry_out</a:t>
            </a:r>
            <a:r>
              <a:rPr lang="en-US" altLang="ko-KR" sz="1200" dirty="0"/>
              <a:t>) </a:t>
            </a:r>
          </a:p>
          <a:p>
            <a:r>
              <a:rPr lang="en-US" altLang="ko-KR" sz="1200" dirty="0"/>
              <a:t>    ); </a:t>
            </a:r>
          </a:p>
          <a:p>
            <a:r>
              <a:rPr lang="en-US" altLang="ko-KR" sz="1200" dirty="0"/>
              <a:t>    </a:t>
            </a:r>
          </a:p>
          <a:p>
            <a:r>
              <a:rPr lang="en-US" altLang="ko-KR" sz="1200" dirty="0"/>
              <a:t>    initial begin</a:t>
            </a:r>
          </a:p>
          <a:p>
            <a:r>
              <a:rPr lang="en-US" altLang="ko-KR" sz="1200" dirty="0"/>
              <a:t>        #00 a=0; b=0; </a:t>
            </a:r>
            <a:r>
              <a:rPr lang="en-US" altLang="ko-KR" sz="1200" dirty="0" err="1"/>
              <a:t>cin</a:t>
            </a:r>
            <a:r>
              <a:rPr lang="en-US" altLang="ko-KR" sz="1200" dirty="0"/>
              <a:t>=0;</a:t>
            </a:r>
          </a:p>
          <a:p>
            <a:r>
              <a:rPr lang="en-US" altLang="ko-KR" sz="1200" dirty="0"/>
              <a:t>        #10 a=0; b=2;</a:t>
            </a:r>
          </a:p>
          <a:p>
            <a:r>
              <a:rPr lang="en-US" altLang="ko-KR" sz="1200" dirty="0"/>
              <a:t>        #10 a=7; b=9;</a:t>
            </a:r>
          </a:p>
          <a:p>
            <a:r>
              <a:rPr lang="en-US" altLang="ko-KR" sz="1200" dirty="0"/>
              <a:t>        #10 a=9; b=9;</a:t>
            </a:r>
          </a:p>
          <a:p>
            <a:r>
              <a:rPr lang="en-US" altLang="ko-KR" sz="1200" dirty="0"/>
              <a:t>        #10 a=7; b=7</a:t>
            </a:r>
            <a:r>
              <a:rPr lang="en-US" altLang="ko-KR" sz="1200" dirty="0" smtClean="0"/>
              <a:t>;</a:t>
            </a:r>
          </a:p>
          <a:p>
            <a:r>
              <a:rPr lang="en-US" altLang="ko-KR" sz="1200" dirty="0" smtClean="0"/>
              <a:t>        for (integer </a:t>
            </a:r>
            <a:r>
              <a:rPr lang="en-US" altLang="ko-KR" sz="1200" dirty="0" err="1" smtClean="0"/>
              <a:t>i</a:t>
            </a:r>
            <a:r>
              <a:rPr lang="en-US" altLang="ko-KR" sz="1200" dirty="0" smtClean="0"/>
              <a:t>=0</a:t>
            </a:r>
            <a:r>
              <a:rPr lang="en-US" altLang="ko-KR" sz="1200" smtClean="0"/>
              <a:t>; </a:t>
            </a:r>
            <a:r>
              <a:rPr lang="en-US" altLang="ko-KR" sz="1200"/>
              <a:t>i</a:t>
            </a:r>
            <a:r>
              <a:rPr lang="en-US" altLang="ko-KR" sz="1200" smtClean="0"/>
              <a:t> </a:t>
            </a:r>
            <a:r>
              <a:rPr lang="en-US" altLang="ko-KR" sz="1200" dirty="0" smtClean="0"/>
              <a:t>&lt; 20; </a:t>
            </a:r>
            <a:r>
              <a:rPr lang="en-US" altLang="ko-KR" sz="1200" dirty="0" err="1" smtClean="0"/>
              <a:t>i</a:t>
            </a:r>
            <a:r>
              <a:rPr lang="en-US" altLang="ko-KR" sz="1200" dirty="0" smtClean="0"/>
              <a:t>= i+1) begin</a:t>
            </a:r>
          </a:p>
          <a:p>
            <a:r>
              <a:rPr lang="en-US" altLang="ko-KR" sz="1200" dirty="0" smtClean="0"/>
              <a:t>             #</a:t>
            </a:r>
            <a:r>
              <a:rPr lang="en-US" altLang="ko-KR" sz="1200" smtClean="0"/>
              <a:t>10 a=i;</a:t>
            </a:r>
          </a:p>
          <a:p>
            <a:r>
              <a:rPr lang="en-US" altLang="ko-KR" sz="1200"/>
              <a:t> </a:t>
            </a:r>
            <a:r>
              <a:rPr lang="en-US" altLang="ko-KR" sz="1200" smtClean="0"/>
              <a:t>       end</a:t>
            </a:r>
            <a:endParaRPr lang="en-US" altLang="ko-KR" sz="1200" dirty="0"/>
          </a:p>
          <a:p>
            <a:r>
              <a:rPr lang="en-US" altLang="ko-KR" sz="1200" dirty="0"/>
              <a:t>        #10 $finish;</a:t>
            </a:r>
          </a:p>
          <a:p>
            <a:r>
              <a:rPr lang="en-US" altLang="ko-KR" sz="1200" dirty="0"/>
              <a:t>    end</a:t>
            </a:r>
          </a:p>
          <a:p>
            <a:r>
              <a:rPr lang="en-US" altLang="ko-KR" sz="1200" dirty="0"/>
              <a:t>    </a:t>
            </a:r>
          </a:p>
          <a:p>
            <a:r>
              <a:rPr lang="en-US" altLang="ko-KR" sz="1200" dirty="0" err="1"/>
              <a:t>endmodule</a:t>
            </a:r>
            <a:endParaRPr lang="ko-KR" altLang="en-US" sz="1200" dirty="0"/>
          </a:p>
        </p:txBody>
      </p:sp>
      <p:sp>
        <p:nvSpPr>
          <p:cNvPr id="17" name="TextBox 16"/>
          <p:cNvSpPr txBox="1"/>
          <p:nvPr/>
        </p:nvSpPr>
        <p:spPr>
          <a:xfrm>
            <a:off x="9316570" y="4497238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/>
              <a:t>//</a:t>
            </a:r>
            <a:r>
              <a:rPr lang="en-US" altLang="ko-KR" sz="1200" dirty="0" err="1" smtClean="0"/>
              <a:t>cin</a:t>
            </a:r>
            <a:r>
              <a:rPr lang="ko-KR" altLang="en-US" sz="1200" dirty="0" smtClean="0"/>
              <a:t>초기값 </a:t>
            </a:r>
            <a:r>
              <a:rPr lang="en-US" altLang="ko-KR" sz="1200" dirty="0" smtClean="0"/>
              <a:t>0</a:t>
            </a:r>
            <a:endParaRPr lang="ko-KR" alt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3275921" y="4934309"/>
            <a:ext cx="401744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full_adder_1bit </a:t>
            </a:r>
            <a:r>
              <a:rPr lang="en-US" altLang="ko-KR" sz="1400" dirty="0" smtClean="0">
                <a:solidFill>
                  <a:srgbClr val="FF0000"/>
                </a:solidFill>
              </a:rPr>
              <a:t>FA0 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en-US" altLang="ko-KR" sz="1400" dirty="0" smtClean="0">
                <a:solidFill>
                  <a:srgbClr val="FF0000"/>
                </a:solidFill>
                <a:sym typeface="Wingdings" panose="05000000000000000000" pitchFamily="2" charset="2"/>
              </a:rPr>
              <a:t>instantiation.</a:t>
            </a:r>
            <a:r>
              <a:rPr lang="ko-KR" altLang="en-US" sz="1400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인스턴시에이션</a:t>
            </a:r>
            <a:endParaRPr lang="en-US" altLang="ko-KR" sz="1400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en-US" altLang="ko-KR" sz="1400" dirty="0" smtClean="0">
                <a:solidFill>
                  <a:srgbClr val="FF0000"/>
                </a:solidFill>
                <a:sym typeface="Wingdings" panose="05000000000000000000" pitchFamily="2" charset="2"/>
              </a:rPr>
              <a:t>     (</a:t>
            </a:r>
            <a:r>
              <a:rPr lang="ko-KR" altLang="en-US" sz="1400" dirty="0" smtClean="0">
                <a:solidFill>
                  <a:srgbClr val="FF0000"/>
                </a:solidFill>
                <a:sym typeface="Wingdings" panose="05000000000000000000" pitchFamily="2" charset="2"/>
              </a:rPr>
              <a:t>상위모듈에서 </a:t>
            </a:r>
            <a:r>
              <a:rPr lang="ko-KR" altLang="en-US" sz="1400" dirty="0" err="1" smtClean="0">
                <a:solidFill>
                  <a:srgbClr val="FF0000"/>
                </a:solidFill>
                <a:sym typeface="Wingdings" panose="05000000000000000000" pitchFamily="2" charset="2"/>
              </a:rPr>
              <a:t>하위모듈을</a:t>
            </a:r>
            <a:r>
              <a:rPr lang="ko-KR" altLang="en-US" sz="1400" dirty="0" smtClean="0">
                <a:solidFill>
                  <a:srgbClr val="FF0000"/>
                </a:solidFill>
                <a:sym typeface="Wingdings" panose="05000000000000000000" pitchFamily="2" charset="2"/>
              </a:rPr>
              <a:t> 호출</a:t>
            </a:r>
            <a:r>
              <a:rPr lang="en-US" altLang="ko-KR" sz="1400" dirty="0" smtClean="0">
                <a:solidFill>
                  <a:srgbClr val="FF0000"/>
                </a:solidFill>
                <a:sym typeface="Wingdings" panose="05000000000000000000" pitchFamily="2" charset="2"/>
              </a:rPr>
              <a:t>(</a:t>
            </a:r>
            <a:r>
              <a:rPr lang="ko-KR" altLang="en-US" sz="1400" smtClean="0">
                <a:solidFill>
                  <a:srgbClr val="FF0000"/>
                </a:solidFill>
                <a:sym typeface="Wingdings" panose="05000000000000000000" pitchFamily="2" charset="2"/>
              </a:rPr>
              <a:t>연결</a:t>
            </a:r>
            <a:r>
              <a:rPr lang="en-US" altLang="ko-KR" sz="1400" smtClean="0">
                <a:solidFill>
                  <a:srgbClr val="FF0000"/>
                </a:solidFill>
                <a:sym typeface="Wingdings" panose="05000000000000000000" pitchFamily="2" charset="2"/>
              </a:rPr>
              <a:t>)</a:t>
            </a:r>
            <a:r>
              <a:rPr lang="ko-KR" altLang="en-US" sz="1400" smtClean="0">
                <a:solidFill>
                  <a:srgbClr val="FF0000"/>
                </a:solidFill>
                <a:sym typeface="Wingdings" panose="05000000000000000000" pitchFamily="2" charset="2"/>
              </a:rPr>
              <a:t>하는것</a:t>
            </a:r>
            <a:endParaRPr lang="en-US" altLang="ko-KR" sz="1400" dirty="0" smtClean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r>
              <a:rPr lang="ko-KR" altLang="en-US" sz="1200" dirty="0"/>
              <a:t>물리적 공간에 영역을 할당하여</a:t>
            </a:r>
            <a:r>
              <a:rPr lang="en-US" altLang="ko-KR" sz="1200" dirty="0"/>
              <a:t>, </a:t>
            </a:r>
            <a:r>
              <a:rPr lang="ko-KR" altLang="en-US" sz="1200" dirty="0"/>
              <a:t>실제로 이름을 </a:t>
            </a:r>
            <a:endParaRPr lang="en-US" altLang="ko-KR" sz="1200" dirty="0" smtClean="0"/>
          </a:p>
          <a:p>
            <a:r>
              <a:rPr lang="ko-KR" altLang="en-US" sz="1200" dirty="0" smtClean="0"/>
              <a:t>가진</a:t>
            </a:r>
            <a:r>
              <a:rPr lang="ko-KR" altLang="en-US" sz="1200" dirty="0"/>
              <a:t> 독립된 객체를 다룰 수 있게 된다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28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4608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/ 4bit full adder</a:t>
            </a:r>
            <a:endParaRPr lang="ko-KR" altLang="en-US" sz="28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76" y="1273296"/>
            <a:ext cx="9868407" cy="445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279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4608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/ 4bit full adder</a:t>
            </a:r>
            <a:endParaRPr lang="ko-KR" altLang="en-US" sz="28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5" y="1329066"/>
            <a:ext cx="9506439" cy="46484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1396" y="1017917"/>
            <a:ext cx="1803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simulation </a:t>
            </a:r>
            <a:r>
              <a:rPr lang="ko-KR" altLang="en-US" dirty="0" smtClean="0">
                <a:solidFill>
                  <a:srgbClr val="FF0000"/>
                </a:solidFill>
              </a:rPr>
              <a:t>결과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088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/>
        </p:nvCxnSpPr>
        <p:spPr>
          <a:xfrm>
            <a:off x="379379" y="750076"/>
            <a:ext cx="11252844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9379" y="254332"/>
            <a:ext cx="46089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 smtClean="0"/>
              <a:t> </a:t>
            </a:r>
            <a:r>
              <a:rPr lang="ko-KR" altLang="en-US" sz="2800" b="1" dirty="0" err="1" smtClean="0"/>
              <a:t>산술연산</a:t>
            </a:r>
            <a:r>
              <a:rPr lang="ko-KR" altLang="en-US" sz="2800" b="1" dirty="0" smtClean="0"/>
              <a:t> </a:t>
            </a:r>
            <a:r>
              <a:rPr lang="en-US" altLang="ko-KR" sz="2800" b="1" dirty="0" smtClean="0"/>
              <a:t>/ 4bit full adder</a:t>
            </a:r>
            <a:endParaRPr lang="ko-KR" altLang="en-US" sz="28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72929" y="1273296"/>
            <a:ext cx="584323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## This file is a general .</a:t>
            </a:r>
            <a:r>
              <a:rPr lang="en-US" altLang="ko-KR" sz="1000" dirty="0" err="1"/>
              <a:t>xdc</a:t>
            </a:r>
            <a:r>
              <a:rPr lang="en-US" altLang="ko-KR" sz="1000" dirty="0"/>
              <a:t> for the Basys3 rev B board</a:t>
            </a:r>
          </a:p>
          <a:p>
            <a:r>
              <a:rPr lang="en-US" altLang="ko-KR" sz="1000" dirty="0"/>
              <a:t>## To use it in a project:</a:t>
            </a:r>
          </a:p>
          <a:p>
            <a:r>
              <a:rPr lang="en-US" altLang="ko-KR" sz="1000" dirty="0"/>
              <a:t>## - uncomment the lines corresponding to used pins</a:t>
            </a:r>
          </a:p>
          <a:p>
            <a:r>
              <a:rPr lang="en-US" altLang="ko-KR" sz="1000" dirty="0"/>
              <a:t>## - rename the used ports (in each line, after 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) according to the top level signal names in the project</a:t>
            </a:r>
          </a:p>
          <a:p>
            <a:endParaRPr lang="en-US" altLang="ko-KR" sz="1000" dirty="0"/>
          </a:p>
          <a:p>
            <a:r>
              <a:rPr lang="en-US" altLang="ko-KR" sz="1000" dirty="0"/>
              <a:t>## Clock signal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W5  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</a:t>
            </a:r>
            <a:r>
              <a:rPr lang="en-US" altLang="ko-KR" sz="1000" dirty="0" err="1"/>
              <a:t>clk</a:t>
            </a:r>
            <a:r>
              <a:rPr lang="en-US" altLang="ko-KR" sz="1000" dirty="0"/>
              <a:t>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create_clock</a:t>
            </a:r>
            <a:r>
              <a:rPr lang="en-US" altLang="ko-KR" sz="1000" dirty="0"/>
              <a:t> -add -name </a:t>
            </a:r>
            <a:r>
              <a:rPr lang="en-US" altLang="ko-KR" sz="1000" dirty="0" err="1"/>
              <a:t>sys_clk_pin</a:t>
            </a:r>
            <a:r>
              <a:rPr lang="en-US" altLang="ko-KR" sz="1000" dirty="0"/>
              <a:t> -period 10.00 -waveform {0 5}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</a:t>
            </a:r>
            <a:r>
              <a:rPr lang="en-US" altLang="ko-KR" sz="1000" dirty="0" err="1"/>
              <a:t>clk</a:t>
            </a:r>
            <a:r>
              <a:rPr lang="en-US" altLang="ko-KR" sz="1000" dirty="0"/>
              <a:t>]</a:t>
            </a:r>
          </a:p>
          <a:p>
            <a:endParaRPr lang="en-US" altLang="ko-KR" sz="1000" dirty="0"/>
          </a:p>
          <a:p>
            <a:endParaRPr lang="en-US" altLang="ko-KR" sz="1000" dirty="0"/>
          </a:p>
          <a:p>
            <a:r>
              <a:rPr lang="en-US" altLang="ko-KR" sz="1000" dirty="0"/>
              <a:t>## Switches</a:t>
            </a:r>
          </a:p>
          <a:p>
            <a:r>
              <a:rPr lang="en-US" altLang="ko-KR" sz="1000" dirty="0" err="1">
                <a:solidFill>
                  <a:srgbClr val="FF0000"/>
                </a:solidFill>
              </a:rPr>
              <a:t>set_property</a:t>
            </a:r>
            <a:r>
              <a:rPr lang="en-US" altLang="ko-KR" sz="1000" dirty="0">
                <a:solidFill>
                  <a:srgbClr val="FF0000"/>
                </a:solidFill>
              </a:rPr>
              <a:t> -</a:t>
            </a:r>
            <a:r>
              <a:rPr lang="en-US" altLang="ko-KR" sz="1000" dirty="0" err="1">
                <a:solidFill>
                  <a:srgbClr val="FF0000"/>
                </a:solidFill>
              </a:rPr>
              <a:t>dict</a:t>
            </a:r>
            <a:r>
              <a:rPr lang="en-US" altLang="ko-KR" sz="1000" dirty="0">
                <a:solidFill>
                  <a:srgbClr val="FF0000"/>
                </a:solidFill>
              </a:rPr>
              <a:t> { PACKAGE_PIN V17   IOSTANDARD LVCMOS33 } [</a:t>
            </a:r>
            <a:r>
              <a:rPr lang="en-US" altLang="ko-KR" sz="1000" dirty="0" err="1">
                <a:solidFill>
                  <a:srgbClr val="FF0000"/>
                </a:solidFill>
              </a:rPr>
              <a:t>get_ports</a:t>
            </a:r>
            <a:r>
              <a:rPr lang="en-US" altLang="ko-KR" sz="1000" dirty="0">
                <a:solidFill>
                  <a:srgbClr val="FF0000"/>
                </a:solidFill>
              </a:rPr>
              <a:t> {a[0]}]</a:t>
            </a:r>
          </a:p>
          <a:p>
            <a:r>
              <a:rPr lang="en-US" altLang="ko-KR" sz="1000" dirty="0" err="1">
                <a:solidFill>
                  <a:srgbClr val="FF0000"/>
                </a:solidFill>
              </a:rPr>
              <a:t>set_property</a:t>
            </a:r>
            <a:r>
              <a:rPr lang="en-US" altLang="ko-KR" sz="1000" dirty="0">
                <a:solidFill>
                  <a:srgbClr val="FF0000"/>
                </a:solidFill>
              </a:rPr>
              <a:t> -</a:t>
            </a:r>
            <a:r>
              <a:rPr lang="en-US" altLang="ko-KR" sz="1000" dirty="0" err="1">
                <a:solidFill>
                  <a:srgbClr val="FF0000"/>
                </a:solidFill>
              </a:rPr>
              <a:t>dict</a:t>
            </a:r>
            <a:r>
              <a:rPr lang="en-US" altLang="ko-KR" sz="1000" dirty="0">
                <a:solidFill>
                  <a:srgbClr val="FF0000"/>
                </a:solidFill>
              </a:rPr>
              <a:t> { PACKAGE_PIN V16   IOSTANDARD LVCMOS33 } [</a:t>
            </a:r>
            <a:r>
              <a:rPr lang="en-US" altLang="ko-KR" sz="1000" dirty="0" err="1">
                <a:solidFill>
                  <a:srgbClr val="FF0000"/>
                </a:solidFill>
              </a:rPr>
              <a:t>get_ports</a:t>
            </a:r>
            <a:r>
              <a:rPr lang="en-US" altLang="ko-KR" sz="1000" dirty="0">
                <a:solidFill>
                  <a:srgbClr val="FF0000"/>
                </a:solidFill>
              </a:rPr>
              <a:t> {a[1]}]</a:t>
            </a:r>
          </a:p>
          <a:p>
            <a:r>
              <a:rPr lang="en-US" altLang="ko-KR" sz="1000" dirty="0" err="1">
                <a:solidFill>
                  <a:srgbClr val="FF0000"/>
                </a:solidFill>
              </a:rPr>
              <a:t>set_property</a:t>
            </a:r>
            <a:r>
              <a:rPr lang="en-US" altLang="ko-KR" sz="1000" dirty="0">
                <a:solidFill>
                  <a:srgbClr val="FF0000"/>
                </a:solidFill>
              </a:rPr>
              <a:t> -</a:t>
            </a:r>
            <a:r>
              <a:rPr lang="en-US" altLang="ko-KR" sz="1000" dirty="0" err="1">
                <a:solidFill>
                  <a:srgbClr val="FF0000"/>
                </a:solidFill>
              </a:rPr>
              <a:t>dict</a:t>
            </a:r>
            <a:r>
              <a:rPr lang="en-US" altLang="ko-KR" sz="1000" dirty="0">
                <a:solidFill>
                  <a:srgbClr val="FF0000"/>
                </a:solidFill>
              </a:rPr>
              <a:t> { PACKAGE_PIN W16   IOSTANDARD LVCMOS33 } [</a:t>
            </a:r>
            <a:r>
              <a:rPr lang="en-US" altLang="ko-KR" sz="1000" dirty="0" err="1">
                <a:solidFill>
                  <a:srgbClr val="FF0000"/>
                </a:solidFill>
              </a:rPr>
              <a:t>get_ports</a:t>
            </a:r>
            <a:r>
              <a:rPr lang="en-US" altLang="ko-KR" sz="1000" dirty="0">
                <a:solidFill>
                  <a:srgbClr val="FF0000"/>
                </a:solidFill>
              </a:rPr>
              <a:t> {a[2]}]</a:t>
            </a:r>
          </a:p>
          <a:p>
            <a:r>
              <a:rPr lang="en-US" altLang="ko-KR" sz="1000" dirty="0" err="1">
                <a:solidFill>
                  <a:srgbClr val="FF0000"/>
                </a:solidFill>
              </a:rPr>
              <a:t>set_property</a:t>
            </a:r>
            <a:r>
              <a:rPr lang="en-US" altLang="ko-KR" sz="1000" dirty="0">
                <a:solidFill>
                  <a:srgbClr val="FF0000"/>
                </a:solidFill>
              </a:rPr>
              <a:t> -</a:t>
            </a:r>
            <a:r>
              <a:rPr lang="en-US" altLang="ko-KR" sz="1000" dirty="0" err="1">
                <a:solidFill>
                  <a:srgbClr val="FF0000"/>
                </a:solidFill>
              </a:rPr>
              <a:t>dict</a:t>
            </a:r>
            <a:r>
              <a:rPr lang="en-US" altLang="ko-KR" sz="1000" dirty="0">
                <a:solidFill>
                  <a:srgbClr val="FF0000"/>
                </a:solidFill>
              </a:rPr>
              <a:t> { PACKAGE_PIN W17   IOSTANDARD LVCMOS33 } [</a:t>
            </a:r>
            <a:r>
              <a:rPr lang="en-US" altLang="ko-KR" sz="1000" dirty="0" err="1">
                <a:solidFill>
                  <a:srgbClr val="FF0000"/>
                </a:solidFill>
              </a:rPr>
              <a:t>get_ports</a:t>
            </a:r>
            <a:r>
              <a:rPr lang="en-US" altLang="ko-KR" sz="1000" dirty="0">
                <a:solidFill>
                  <a:srgbClr val="FF0000"/>
                </a:solidFill>
              </a:rPr>
              <a:t> {a[3]}]</a:t>
            </a:r>
          </a:p>
          <a:p>
            <a:r>
              <a:rPr lang="en-US" altLang="ko-KR" sz="1000" dirty="0" err="1">
                <a:solidFill>
                  <a:srgbClr val="FF0000"/>
                </a:solidFill>
              </a:rPr>
              <a:t>set_property</a:t>
            </a:r>
            <a:r>
              <a:rPr lang="en-US" altLang="ko-KR" sz="1000" dirty="0">
                <a:solidFill>
                  <a:srgbClr val="FF0000"/>
                </a:solidFill>
              </a:rPr>
              <a:t> -</a:t>
            </a:r>
            <a:r>
              <a:rPr lang="en-US" altLang="ko-KR" sz="1000" dirty="0" err="1">
                <a:solidFill>
                  <a:srgbClr val="FF0000"/>
                </a:solidFill>
              </a:rPr>
              <a:t>dict</a:t>
            </a:r>
            <a:r>
              <a:rPr lang="en-US" altLang="ko-KR" sz="1000" dirty="0">
                <a:solidFill>
                  <a:srgbClr val="FF0000"/>
                </a:solidFill>
              </a:rPr>
              <a:t> { PACKAGE_PIN W15   IOSTANDARD LVCMOS33 } [</a:t>
            </a:r>
            <a:r>
              <a:rPr lang="en-US" altLang="ko-KR" sz="1000" dirty="0" err="1">
                <a:solidFill>
                  <a:srgbClr val="FF0000"/>
                </a:solidFill>
              </a:rPr>
              <a:t>get_ports</a:t>
            </a:r>
            <a:r>
              <a:rPr lang="en-US" altLang="ko-KR" sz="1000" dirty="0">
                <a:solidFill>
                  <a:srgbClr val="FF0000"/>
                </a:solidFill>
              </a:rPr>
              <a:t> {b[0]}]</a:t>
            </a:r>
          </a:p>
          <a:p>
            <a:r>
              <a:rPr lang="en-US" altLang="ko-KR" sz="1000" dirty="0" err="1">
                <a:solidFill>
                  <a:srgbClr val="FF0000"/>
                </a:solidFill>
              </a:rPr>
              <a:t>set_property</a:t>
            </a:r>
            <a:r>
              <a:rPr lang="en-US" altLang="ko-KR" sz="1000" dirty="0">
                <a:solidFill>
                  <a:srgbClr val="FF0000"/>
                </a:solidFill>
              </a:rPr>
              <a:t> -</a:t>
            </a:r>
            <a:r>
              <a:rPr lang="en-US" altLang="ko-KR" sz="1000" dirty="0" err="1">
                <a:solidFill>
                  <a:srgbClr val="FF0000"/>
                </a:solidFill>
              </a:rPr>
              <a:t>dict</a:t>
            </a:r>
            <a:r>
              <a:rPr lang="en-US" altLang="ko-KR" sz="1000" dirty="0">
                <a:solidFill>
                  <a:srgbClr val="FF0000"/>
                </a:solidFill>
              </a:rPr>
              <a:t> { PACKAGE_PIN V15   IOSTANDARD LVCMOS33 } [</a:t>
            </a:r>
            <a:r>
              <a:rPr lang="en-US" altLang="ko-KR" sz="1000" dirty="0" err="1">
                <a:solidFill>
                  <a:srgbClr val="FF0000"/>
                </a:solidFill>
              </a:rPr>
              <a:t>get_ports</a:t>
            </a:r>
            <a:r>
              <a:rPr lang="en-US" altLang="ko-KR" sz="1000" dirty="0">
                <a:solidFill>
                  <a:srgbClr val="FF0000"/>
                </a:solidFill>
              </a:rPr>
              <a:t> {b[1]}]</a:t>
            </a:r>
          </a:p>
          <a:p>
            <a:r>
              <a:rPr lang="en-US" altLang="ko-KR" sz="1000" dirty="0" err="1">
                <a:solidFill>
                  <a:srgbClr val="FF0000"/>
                </a:solidFill>
              </a:rPr>
              <a:t>set_property</a:t>
            </a:r>
            <a:r>
              <a:rPr lang="en-US" altLang="ko-KR" sz="1000" dirty="0">
                <a:solidFill>
                  <a:srgbClr val="FF0000"/>
                </a:solidFill>
              </a:rPr>
              <a:t> -</a:t>
            </a:r>
            <a:r>
              <a:rPr lang="en-US" altLang="ko-KR" sz="1000" dirty="0" err="1">
                <a:solidFill>
                  <a:srgbClr val="FF0000"/>
                </a:solidFill>
              </a:rPr>
              <a:t>dict</a:t>
            </a:r>
            <a:r>
              <a:rPr lang="en-US" altLang="ko-KR" sz="1000" dirty="0">
                <a:solidFill>
                  <a:srgbClr val="FF0000"/>
                </a:solidFill>
              </a:rPr>
              <a:t> { PACKAGE_PIN W14   IOSTANDARD LVCMOS33 } [</a:t>
            </a:r>
            <a:r>
              <a:rPr lang="en-US" altLang="ko-KR" sz="1000" dirty="0" err="1">
                <a:solidFill>
                  <a:srgbClr val="FF0000"/>
                </a:solidFill>
              </a:rPr>
              <a:t>get_ports</a:t>
            </a:r>
            <a:r>
              <a:rPr lang="en-US" altLang="ko-KR" sz="1000" dirty="0">
                <a:solidFill>
                  <a:srgbClr val="FF0000"/>
                </a:solidFill>
              </a:rPr>
              <a:t> {b[2]}]</a:t>
            </a:r>
          </a:p>
          <a:p>
            <a:r>
              <a:rPr lang="en-US" altLang="ko-KR" sz="1000" dirty="0" err="1">
                <a:solidFill>
                  <a:srgbClr val="FF0000"/>
                </a:solidFill>
              </a:rPr>
              <a:t>set_property</a:t>
            </a:r>
            <a:r>
              <a:rPr lang="en-US" altLang="ko-KR" sz="1000" dirty="0">
                <a:solidFill>
                  <a:srgbClr val="FF0000"/>
                </a:solidFill>
              </a:rPr>
              <a:t> -</a:t>
            </a:r>
            <a:r>
              <a:rPr lang="en-US" altLang="ko-KR" sz="1000" dirty="0" err="1">
                <a:solidFill>
                  <a:srgbClr val="FF0000"/>
                </a:solidFill>
              </a:rPr>
              <a:t>dict</a:t>
            </a:r>
            <a:r>
              <a:rPr lang="en-US" altLang="ko-KR" sz="1000" dirty="0">
                <a:solidFill>
                  <a:srgbClr val="FF0000"/>
                </a:solidFill>
              </a:rPr>
              <a:t> { PACKAGE_PIN W13   IOSTANDARD LVCMOS33 } [</a:t>
            </a:r>
            <a:r>
              <a:rPr lang="en-US" altLang="ko-KR" sz="1000" dirty="0" err="1">
                <a:solidFill>
                  <a:srgbClr val="FF0000"/>
                </a:solidFill>
              </a:rPr>
              <a:t>get_ports</a:t>
            </a:r>
            <a:r>
              <a:rPr lang="en-US" altLang="ko-KR" sz="1000" dirty="0">
                <a:solidFill>
                  <a:srgbClr val="FF0000"/>
                </a:solidFill>
              </a:rPr>
              <a:t> {b[3]}]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V2   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{</a:t>
            </a:r>
            <a:r>
              <a:rPr lang="en-US" altLang="ko-KR" sz="1000" dirty="0" err="1"/>
              <a:t>sw</a:t>
            </a:r>
            <a:r>
              <a:rPr lang="en-US" altLang="ko-KR" sz="1000" dirty="0"/>
              <a:t>[8]}]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T3   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{</a:t>
            </a:r>
            <a:r>
              <a:rPr lang="en-US" altLang="ko-KR" sz="1000" dirty="0" err="1"/>
              <a:t>sw</a:t>
            </a:r>
            <a:r>
              <a:rPr lang="en-US" altLang="ko-KR" sz="1000" dirty="0"/>
              <a:t>[9]}]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T2   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{</a:t>
            </a:r>
            <a:r>
              <a:rPr lang="en-US" altLang="ko-KR" sz="1000" dirty="0" err="1"/>
              <a:t>sw</a:t>
            </a:r>
            <a:r>
              <a:rPr lang="en-US" altLang="ko-KR" sz="1000" dirty="0"/>
              <a:t>[10]}]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R3   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{</a:t>
            </a:r>
            <a:r>
              <a:rPr lang="en-US" altLang="ko-KR" sz="1000" dirty="0" err="1"/>
              <a:t>sw</a:t>
            </a:r>
            <a:r>
              <a:rPr lang="en-US" altLang="ko-KR" sz="1000" dirty="0"/>
              <a:t>[11]}]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W2   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{</a:t>
            </a:r>
            <a:r>
              <a:rPr lang="en-US" altLang="ko-KR" sz="1000" dirty="0" err="1"/>
              <a:t>sw</a:t>
            </a:r>
            <a:r>
              <a:rPr lang="en-US" altLang="ko-KR" sz="1000" dirty="0"/>
              <a:t>[12]}]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U1   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{</a:t>
            </a:r>
            <a:r>
              <a:rPr lang="en-US" altLang="ko-KR" sz="1000" dirty="0" err="1"/>
              <a:t>sw</a:t>
            </a:r>
            <a:r>
              <a:rPr lang="en-US" altLang="ko-KR" sz="1000" dirty="0"/>
              <a:t>[13]}]</a:t>
            </a:r>
          </a:p>
          <a:p>
            <a:r>
              <a:rPr lang="en-US" altLang="ko-KR" sz="1000" dirty="0"/>
              <a:t>#</a:t>
            </a:r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T1   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{</a:t>
            </a:r>
            <a:r>
              <a:rPr lang="en-US" altLang="ko-KR" sz="1000" dirty="0" err="1"/>
              <a:t>sw</a:t>
            </a:r>
            <a:r>
              <a:rPr lang="en-US" altLang="ko-KR" sz="1000" dirty="0"/>
              <a:t>[14]}]</a:t>
            </a:r>
          </a:p>
          <a:p>
            <a:r>
              <a:rPr lang="en-US" altLang="ko-KR" sz="1000" dirty="0" err="1"/>
              <a:t>set_property</a:t>
            </a:r>
            <a:r>
              <a:rPr lang="en-US" altLang="ko-KR" sz="1000" dirty="0"/>
              <a:t> -</a:t>
            </a:r>
            <a:r>
              <a:rPr lang="en-US" altLang="ko-KR" sz="1000" dirty="0" err="1"/>
              <a:t>dict</a:t>
            </a:r>
            <a:r>
              <a:rPr lang="en-US" altLang="ko-KR" sz="1000" dirty="0"/>
              <a:t> { PACKAGE_PIN R2    IOSTANDARD LVCMOS33 } [</a:t>
            </a:r>
            <a:r>
              <a:rPr lang="en-US" altLang="ko-KR" sz="1000" dirty="0" err="1"/>
              <a:t>get_ports</a:t>
            </a:r>
            <a:r>
              <a:rPr lang="en-US" altLang="ko-KR" sz="1000" dirty="0"/>
              <a:t> {</a:t>
            </a:r>
            <a:r>
              <a:rPr lang="en-US" altLang="ko-KR" sz="1000" dirty="0" err="1" smtClean="0"/>
              <a:t>cin</a:t>
            </a:r>
            <a:r>
              <a:rPr lang="en-US" altLang="ko-KR" sz="1000" dirty="0" smtClean="0"/>
              <a:t>}]</a:t>
            </a:r>
          </a:p>
          <a:p>
            <a:endParaRPr lang="en-US" altLang="ko-KR" sz="1200" dirty="0"/>
          </a:p>
          <a:p>
            <a:endParaRPr lang="en-US" altLang="ko-KR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513832" y="1245821"/>
            <a:ext cx="67573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 dirty="0"/>
          </a:p>
          <a:p>
            <a:r>
              <a:rPr lang="en-US" altLang="ko-KR" sz="1200" dirty="0"/>
              <a:t>## LEDs</a:t>
            </a:r>
          </a:p>
          <a:p>
            <a:r>
              <a:rPr lang="en-US" altLang="ko-KR" sz="1200" dirty="0" err="1">
                <a:solidFill>
                  <a:srgbClr val="FF0000"/>
                </a:solidFill>
              </a:rPr>
              <a:t>set_property</a:t>
            </a:r>
            <a:r>
              <a:rPr lang="en-US" altLang="ko-KR" sz="1200" dirty="0">
                <a:solidFill>
                  <a:srgbClr val="FF0000"/>
                </a:solidFill>
              </a:rPr>
              <a:t> -</a:t>
            </a:r>
            <a:r>
              <a:rPr lang="en-US" altLang="ko-KR" sz="1200" dirty="0" err="1">
                <a:solidFill>
                  <a:srgbClr val="FF0000"/>
                </a:solidFill>
              </a:rPr>
              <a:t>dict</a:t>
            </a:r>
            <a:r>
              <a:rPr lang="en-US" altLang="ko-KR" sz="1200" dirty="0">
                <a:solidFill>
                  <a:srgbClr val="FF0000"/>
                </a:solidFill>
              </a:rPr>
              <a:t> { PACKAGE_PIN U16   IOSTANDARD LVCMOS33 } [</a:t>
            </a:r>
            <a:r>
              <a:rPr lang="en-US" altLang="ko-KR" sz="1200" dirty="0" err="1">
                <a:solidFill>
                  <a:srgbClr val="FF0000"/>
                </a:solidFill>
              </a:rPr>
              <a:t>get_ports</a:t>
            </a:r>
            <a:r>
              <a:rPr lang="en-US" altLang="ko-KR" sz="1200" dirty="0">
                <a:solidFill>
                  <a:srgbClr val="FF0000"/>
                </a:solidFill>
              </a:rPr>
              <a:t> { sum[0] }]</a:t>
            </a:r>
          </a:p>
          <a:p>
            <a:r>
              <a:rPr lang="en-US" altLang="ko-KR" sz="1200" dirty="0" err="1">
                <a:solidFill>
                  <a:srgbClr val="FF0000"/>
                </a:solidFill>
              </a:rPr>
              <a:t>set_property</a:t>
            </a:r>
            <a:r>
              <a:rPr lang="en-US" altLang="ko-KR" sz="1200" dirty="0">
                <a:solidFill>
                  <a:srgbClr val="FF0000"/>
                </a:solidFill>
              </a:rPr>
              <a:t> -</a:t>
            </a:r>
            <a:r>
              <a:rPr lang="en-US" altLang="ko-KR" sz="1200" dirty="0" err="1">
                <a:solidFill>
                  <a:srgbClr val="FF0000"/>
                </a:solidFill>
              </a:rPr>
              <a:t>dict</a:t>
            </a:r>
            <a:r>
              <a:rPr lang="en-US" altLang="ko-KR" sz="1200" dirty="0">
                <a:solidFill>
                  <a:srgbClr val="FF0000"/>
                </a:solidFill>
              </a:rPr>
              <a:t> { PACKAGE_PIN E19   IOSTANDARD LVCMOS33 } [</a:t>
            </a:r>
            <a:r>
              <a:rPr lang="en-US" altLang="ko-KR" sz="1200" dirty="0" err="1">
                <a:solidFill>
                  <a:srgbClr val="FF0000"/>
                </a:solidFill>
              </a:rPr>
              <a:t>get_ports</a:t>
            </a:r>
            <a:r>
              <a:rPr lang="en-US" altLang="ko-KR" sz="1200" dirty="0">
                <a:solidFill>
                  <a:srgbClr val="FF0000"/>
                </a:solidFill>
              </a:rPr>
              <a:t> { sum[1] }]</a:t>
            </a:r>
          </a:p>
          <a:p>
            <a:r>
              <a:rPr lang="en-US" altLang="ko-KR" sz="1200" dirty="0" err="1">
                <a:solidFill>
                  <a:srgbClr val="FF0000"/>
                </a:solidFill>
              </a:rPr>
              <a:t>set_property</a:t>
            </a:r>
            <a:r>
              <a:rPr lang="en-US" altLang="ko-KR" sz="1200" dirty="0">
                <a:solidFill>
                  <a:srgbClr val="FF0000"/>
                </a:solidFill>
              </a:rPr>
              <a:t> -</a:t>
            </a:r>
            <a:r>
              <a:rPr lang="en-US" altLang="ko-KR" sz="1200" dirty="0" err="1">
                <a:solidFill>
                  <a:srgbClr val="FF0000"/>
                </a:solidFill>
              </a:rPr>
              <a:t>dict</a:t>
            </a:r>
            <a:r>
              <a:rPr lang="en-US" altLang="ko-KR" sz="1200" dirty="0">
                <a:solidFill>
                  <a:srgbClr val="FF0000"/>
                </a:solidFill>
              </a:rPr>
              <a:t> { PACKAGE_PIN U19   IOSTANDARD LVCMOS33 } [</a:t>
            </a:r>
            <a:r>
              <a:rPr lang="en-US" altLang="ko-KR" sz="1200" dirty="0" err="1">
                <a:solidFill>
                  <a:srgbClr val="FF0000"/>
                </a:solidFill>
              </a:rPr>
              <a:t>get_ports</a:t>
            </a:r>
            <a:r>
              <a:rPr lang="en-US" altLang="ko-KR" sz="1200" dirty="0">
                <a:solidFill>
                  <a:srgbClr val="FF0000"/>
                </a:solidFill>
              </a:rPr>
              <a:t> { sum[2] }]</a:t>
            </a:r>
          </a:p>
          <a:p>
            <a:r>
              <a:rPr lang="en-US" altLang="ko-KR" sz="1200" dirty="0" err="1">
                <a:solidFill>
                  <a:srgbClr val="FF0000"/>
                </a:solidFill>
              </a:rPr>
              <a:t>set_property</a:t>
            </a:r>
            <a:r>
              <a:rPr lang="en-US" altLang="ko-KR" sz="1200" dirty="0">
                <a:solidFill>
                  <a:srgbClr val="FF0000"/>
                </a:solidFill>
              </a:rPr>
              <a:t> -</a:t>
            </a:r>
            <a:r>
              <a:rPr lang="en-US" altLang="ko-KR" sz="1200" dirty="0" err="1">
                <a:solidFill>
                  <a:srgbClr val="FF0000"/>
                </a:solidFill>
              </a:rPr>
              <a:t>dict</a:t>
            </a:r>
            <a:r>
              <a:rPr lang="en-US" altLang="ko-KR" sz="1200" dirty="0">
                <a:solidFill>
                  <a:srgbClr val="FF0000"/>
                </a:solidFill>
              </a:rPr>
              <a:t> { PACKAGE_PIN V19   IOSTANDARD LVCMOS33 } [</a:t>
            </a:r>
            <a:r>
              <a:rPr lang="en-US" altLang="ko-KR" sz="1200" dirty="0" err="1">
                <a:solidFill>
                  <a:srgbClr val="FF0000"/>
                </a:solidFill>
              </a:rPr>
              <a:t>get_ports</a:t>
            </a:r>
            <a:r>
              <a:rPr lang="en-US" altLang="ko-KR" sz="1200" dirty="0">
                <a:solidFill>
                  <a:srgbClr val="FF0000"/>
                </a:solidFill>
              </a:rPr>
              <a:t> { sum[3] }]</a:t>
            </a:r>
          </a:p>
          <a:p>
            <a:r>
              <a:rPr lang="en-US" altLang="ko-KR" sz="1200" dirty="0" err="1">
                <a:solidFill>
                  <a:srgbClr val="FF0000"/>
                </a:solidFill>
              </a:rPr>
              <a:t>set_property</a:t>
            </a:r>
            <a:r>
              <a:rPr lang="en-US" altLang="ko-KR" sz="1200" dirty="0">
                <a:solidFill>
                  <a:srgbClr val="FF0000"/>
                </a:solidFill>
              </a:rPr>
              <a:t> -</a:t>
            </a:r>
            <a:r>
              <a:rPr lang="en-US" altLang="ko-KR" sz="1200" dirty="0" err="1">
                <a:solidFill>
                  <a:srgbClr val="FF0000"/>
                </a:solidFill>
              </a:rPr>
              <a:t>dict</a:t>
            </a:r>
            <a:r>
              <a:rPr lang="en-US" altLang="ko-KR" sz="1200" dirty="0">
                <a:solidFill>
                  <a:srgbClr val="FF0000"/>
                </a:solidFill>
              </a:rPr>
              <a:t> { PACKAGE_PIN W18   IOSTANDARD LVCMOS33 } [</a:t>
            </a:r>
            <a:r>
              <a:rPr lang="en-US" altLang="ko-KR" sz="1200" dirty="0" err="1">
                <a:solidFill>
                  <a:srgbClr val="FF0000"/>
                </a:solidFill>
              </a:rPr>
              <a:t>get_ports</a:t>
            </a:r>
            <a:r>
              <a:rPr lang="en-US" altLang="ko-KR" sz="1200" dirty="0">
                <a:solidFill>
                  <a:srgbClr val="FF0000"/>
                </a:solidFill>
              </a:rPr>
              <a:t> { </a:t>
            </a:r>
            <a:r>
              <a:rPr lang="en-US" altLang="ko-KR" sz="1200" dirty="0" err="1">
                <a:solidFill>
                  <a:srgbClr val="FF0000"/>
                </a:solidFill>
              </a:rPr>
              <a:t>carry_out</a:t>
            </a:r>
            <a:r>
              <a:rPr lang="en-US" altLang="ko-KR" sz="1200" dirty="0">
                <a:solidFill>
                  <a:srgbClr val="FF0000"/>
                </a:solidFill>
              </a:rPr>
              <a:t> }]</a:t>
            </a:r>
          </a:p>
          <a:p>
            <a:r>
              <a:rPr lang="en-US" altLang="ko-KR" sz="1200" dirty="0"/>
              <a:t>#</a:t>
            </a:r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U15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{led[5]}]</a:t>
            </a:r>
          </a:p>
          <a:p>
            <a:r>
              <a:rPr lang="en-US" altLang="ko-KR" sz="1200" dirty="0"/>
              <a:t>#</a:t>
            </a:r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U14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{led[6]}]</a:t>
            </a:r>
          </a:p>
          <a:p>
            <a:r>
              <a:rPr lang="en-US" altLang="ko-KR" sz="1200" dirty="0"/>
              <a:t>#</a:t>
            </a:r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V14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{led[7]}]</a:t>
            </a:r>
          </a:p>
          <a:p>
            <a:r>
              <a:rPr lang="en-US" altLang="ko-KR" sz="1200" dirty="0"/>
              <a:t>#</a:t>
            </a:r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V13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{led[8]}]</a:t>
            </a:r>
          </a:p>
          <a:p>
            <a:r>
              <a:rPr lang="en-US" altLang="ko-KR" sz="1200" dirty="0"/>
              <a:t>#</a:t>
            </a:r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V3 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{led[9]}]</a:t>
            </a:r>
          </a:p>
          <a:p>
            <a:r>
              <a:rPr lang="en-US" altLang="ko-KR" sz="1200" dirty="0"/>
              <a:t>#</a:t>
            </a:r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W3 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{led[10]}]</a:t>
            </a:r>
          </a:p>
          <a:p>
            <a:r>
              <a:rPr lang="en-US" altLang="ko-KR" sz="1200" dirty="0"/>
              <a:t>#</a:t>
            </a:r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U3 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{led[11]}]</a:t>
            </a:r>
          </a:p>
          <a:p>
            <a:r>
              <a:rPr lang="en-US" altLang="ko-KR" sz="1200" dirty="0"/>
              <a:t>#</a:t>
            </a:r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P3 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{led[12]}]</a:t>
            </a:r>
          </a:p>
          <a:p>
            <a:r>
              <a:rPr lang="en-US" altLang="ko-KR" sz="1200" dirty="0"/>
              <a:t>#</a:t>
            </a:r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N3 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{led[13]}]</a:t>
            </a:r>
          </a:p>
          <a:p>
            <a:r>
              <a:rPr lang="en-US" altLang="ko-KR" sz="1200" dirty="0"/>
              <a:t>#</a:t>
            </a:r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P1 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{led[14]}]</a:t>
            </a:r>
          </a:p>
          <a:p>
            <a:r>
              <a:rPr lang="en-US" altLang="ko-KR" sz="1200" dirty="0"/>
              <a:t>#</a:t>
            </a:r>
            <a:r>
              <a:rPr lang="en-US" altLang="ko-KR" sz="1200" dirty="0" err="1"/>
              <a:t>set_property</a:t>
            </a:r>
            <a:r>
              <a:rPr lang="en-US" altLang="ko-KR" sz="1200" dirty="0"/>
              <a:t> -</a:t>
            </a:r>
            <a:r>
              <a:rPr lang="en-US" altLang="ko-KR" sz="1200" dirty="0" err="1"/>
              <a:t>dict</a:t>
            </a:r>
            <a:r>
              <a:rPr lang="en-US" altLang="ko-KR" sz="1200" dirty="0"/>
              <a:t> { PACKAGE_PIN L1    IOSTANDARD LVCMOS33 } [</a:t>
            </a:r>
            <a:r>
              <a:rPr lang="en-US" altLang="ko-KR" sz="1200" dirty="0" err="1"/>
              <a:t>get_ports</a:t>
            </a:r>
            <a:r>
              <a:rPr lang="en-US" altLang="ko-KR" sz="1200" dirty="0"/>
              <a:t> {led[15]}]</a:t>
            </a:r>
            <a:endParaRPr lang="ko-KR" altLang="en-US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076093" y="805027"/>
            <a:ext cx="3376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&lt; Constraints </a:t>
            </a:r>
            <a:r>
              <a:rPr lang="ko-KR" altLang="en-US" dirty="0" smtClean="0"/>
              <a:t>파일</a:t>
            </a:r>
            <a:r>
              <a:rPr lang="en-US" altLang="ko-KR" dirty="0" smtClean="0"/>
              <a:t>&gt; XDC</a:t>
            </a:r>
            <a:r>
              <a:rPr lang="ko-KR" altLang="en-US" dirty="0" smtClean="0"/>
              <a:t>화일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5370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11588</TotalTime>
  <Words>1714</Words>
  <Application>Microsoft Office PowerPoint</Application>
  <PresentationFormat>와이드스크린</PresentationFormat>
  <Paragraphs>342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inherit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user</cp:lastModifiedBy>
  <cp:revision>792</cp:revision>
  <dcterms:created xsi:type="dcterms:W3CDTF">2021-09-16T07:35:26Z</dcterms:created>
  <dcterms:modified xsi:type="dcterms:W3CDTF">2026-10-06T23:35:12Z</dcterms:modified>
</cp:coreProperties>
</file>