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67" r:id="rId2"/>
    <p:sldId id="284" r:id="rId3"/>
    <p:sldId id="257" r:id="rId4"/>
    <p:sldId id="264" r:id="rId5"/>
    <p:sldId id="266" r:id="rId6"/>
    <p:sldId id="258" r:id="rId7"/>
    <p:sldId id="259" r:id="rId8"/>
    <p:sldId id="260" r:id="rId9"/>
    <p:sldId id="261" r:id="rId10"/>
    <p:sldId id="281" r:id="rId11"/>
    <p:sldId id="262" r:id="rId12"/>
    <p:sldId id="263" r:id="rId13"/>
    <p:sldId id="278" r:id="rId14"/>
    <p:sldId id="279" r:id="rId15"/>
    <p:sldId id="280" r:id="rId16"/>
    <p:sldId id="265" r:id="rId17"/>
    <p:sldId id="268" r:id="rId18"/>
    <p:sldId id="269" r:id="rId19"/>
    <p:sldId id="270" r:id="rId20"/>
    <p:sldId id="273" r:id="rId21"/>
    <p:sldId id="272" r:id="rId22"/>
    <p:sldId id="274" r:id="rId23"/>
    <p:sldId id="275" r:id="rId24"/>
    <p:sldId id="276" r:id="rId25"/>
    <p:sldId id="277" r:id="rId26"/>
    <p:sldId id="286" r:id="rId27"/>
    <p:sldId id="282" r:id="rId28"/>
    <p:sldId id="283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744310-E966-41A8-A96F-FC27C5536A94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A033F-297B-4CE0-8A49-8A271D9040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254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76C5A-E982-4164-9247-89933572B2A5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474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EDB12-87CA-4E2E-93A7-A53D4B40CC25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178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13E30-A62D-477B-B6AB-845385A9F575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624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DB772-7B42-460F-A59E-AA2E21B9DD4B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304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6EA04-A9E3-4722-B22E-1283D4812994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903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669E6-F6B5-4F09-B4B3-4C9AF1C131A0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56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2B657-530A-4F35-93BE-3E3C1412D8EF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678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B2F67-05D7-402A-99AC-475F8F263734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693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AE5A4-EBA8-42E7-B72A-3D8B2AC9BD2D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106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BFEFA-29E9-436B-AE58-4C20D08A1384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542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FFC7C-0F29-4490-8339-DCD8C12AC3DB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625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3D5ED-A34D-4681-917F-0578C1C3A355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850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Xilinx/XilinxBoardStore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1984" y="2187956"/>
            <a:ext cx="955809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dirty="0" err="1"/>
              <a:t>v</a:t>
            </a:r>
            <a:r>
              <a:rPr lang="en-US" altLang="ko-KR" sz="6000" dirty="0" err="1" smtClean="0"/>
              <a:t>itis</a:t>
            </a:r>
            <a:r>
              <a:rPr lang="en-US" altLang="ko-KR" sz="6000" dirty="0" smtClean="0"/>
              <a:t> 2021.1 &amp; vs code </a:t>
            </a:r>
            <a:br>
              <a:rPr lang="en-US" altLang="ko-KR" sz="6000" dirty="0" smtClean="0"/>
            </a:br>
            <a:r>
              <a:rPr lang="ko-KR" altLang="en-US" sz="6000" dirty="0" smtClean="0"/>
              <a:t>설치 방법 </a:t>
            </a:r>
            <a:endParaRPr lang="en-US" altLang="ko-KR" sz="6000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154634" y="4680946"/>
            <a:ext cx="35801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June 24, 2025</a:t>
            </a:r>
          </a:p>
          <a:p>
            <a:r>
              <a:rPr lang="en-US" altLang="ko-KR" dirty="0"/>
              <a:t>b</a:t>
            </a:r>
            <a:r>
              <a:rPr lang="en-US" altLang="ko-KR" dirty="0" smtClean="0"/>
              <a:t>y S.I.KWON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35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746500" y="1562100"/>
            <a:ext cx="41021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     --- </a:t>
            </a:r>
            <a:r>
              <a:rPr lang="ko-KR" altLang="en-US" dirty="0" smtClean="0"/>
              <a:t>목 차 </a:t>
            </a:r>
            <a:r>
              <a:rPr lang="en-US" altLang="ko-KR" dirty="0" smtClean="0"/>
              <a:t>---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</a:t>
            </a:r>
            <a:r>
              <a:rPr lang="en-US" altLang="ko-KR" dirty="0"/>
              <a:t>I. </a:t>
            </a:r>
            <a:r>
              <a:rPr lang="en-US" altLang="ko-KR" dirty="0" err="1"/>
              <a:t>vitis</a:t>
            </a:r>
            <a:r>
              <a:rPr lang="en-US" altLang="ko-KR" dirty="0"/>
              <a:t> 2021.1  </a:t>
            </a:r>
            <a:r>
              <a:rPr lang="ko-KR" altLang="en-US" dirty="0" smtClean="0"/>
              <a:t>설치</a:t>
            </a:r>
            <a:endParaRPr lang="en-US" altLang="ko-KR" dirty="0" smtClean="0"/>
          </a:p>
          <a:p>
            <a:r>
              <a:rPr lang="en-US" altLang="ko-KR" dirty="0"/>
              <a:t>II. visual studio code  </a:t>
            </a:r>
            <a:r>
              <a:rPr lang="ko-KR" altLang="en-US" dirty="0" smtClean="0"/>
              <a:t>설치</a:t>
            </a:r>
            <a:endParaRPr lang="en-US" altLang="ko-KR" dirty="0" smtClean="0"/>
          </a:p>
          <a:p>
            <a:r>
              <a:rPr lang="en-US" altLang="ko-KR" dirty="0"/>
              <a:t>III. </a:t>
            </a:r>
            <a:r>
              <a:rPr lang="en-US" altLang="ko-KR" dirty="0" err="1"/>
              <a:t>Vivado</a:t>
            </a:r>
            <a:r>
              <a:rPr lang="en-US" altLang="ko-KR" dirty="0"/>
              <a:t> </a:t>
            </a:r>
            <a:r>
              <a:rPr lang="ko-KR" altLang="en-US" dirty="0"/>
              <a:t>라이선스 에러 발생시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r>
              <a:rPr lang="ko-KR" altLang="en-US" dirty="0" smtClean="0"/>
              <a:t> </a:t>
            </a:r>
            <a:endParaRPr lang="en-US" altLang="ko-KR" dirty="0"/>
          </a:p>
          <a:p>
            <a:r>
              <a:rPr lang="en-US" altLang="ko-KR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017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55971" y="2187956"/>
            <a:ext cx="7090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 smtClean="0"/>
              <a:t>I. </a:t>
            </a:r>
            <a:r>
              <a:rPr lang="en-US" altLang="ko-KR" sz="6000" dirty="0" err="1"/>
              <a:t>v</a:t>
            </a:r>
            <a:r>
              <a:rPr lang="en-US" altLang="ko-KR" sz="6000" dirty="0" err="1" smtClean="0"/>
              <a:t>itis</a:t>
            </a:r>
            <a:r>
              <a:rPr lang="en-US" altLang="ko-KR" sz="6000" dirty="0" smtClean="0"/>
              <a:t> 2021.1  </a:t>
            </a:r>
            <a:r>
              <a:rPr lang="ko-KR" altLang="en-US" sz="6000" dirty="0" smtClean="0"/>
              <a:t>설치 </a:t>
            </a:r>
            <a:endParaRPr lang="en-US" altLang="ko-KR" sz="6000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794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4300" y="609600"/>
            <a:ext cx="8559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err="1" smtClean="0"/>
              <a:t>Vitis</a:t>
            </a:r>
            <a:r>
              <a:rPr lang="en-US" altLang="ko-KR" sz="3200" dirty="0" smtClean="0"/>
              <a:t> 2021.1  </a:t>
            </a:r>
            <a:r>
              <a:rPr lang="ko-KR" altLang="en-US" sz="3200" dirty="0" smtClean="0"/>
              <a:t>설치 하기 </a:t>
            </a:r>
            <a:endParaRPr lang="en-US" altLang="ko-KR" sz="3200" dirty="0" smtClean="0"/>
          </a:p>
          <a:p>
            <a:r>
              <a:rPr lang="en-US" altLang="ko-KR" sz="3200" b="1">
                <a:solidFill>
                  <a:srgbClr val="FF0010"/>
                </a:solidFill>
                <a:latin typeface="inherit"/>
              </a:rPr>
              <a:t>vitis</a:t>
            </a:r>
            <a:r>
              <a:rPr lang="ko-KR" altLang="en-US" sz="3200" b="1">
                <a:solidFill>
                  <a:srgbClr val="FF0010"/>
                </a:solidFill>
                <a:latin typeface="inherit"/>
              </a:rPr>
              <a:t>를 설치하면 </a:t>
            </a:r>
            <a:r>
              <a:rPr lang="en-US" altLang="ko-KR" sz="3200" b="1">
                <a:solidFill>
                  <a:srgbClr val="FF0010"/>
                </a:solidFill>
                <a:latin typeface="inherit"/>
              </a:rPr>
              <a:t>vivado</a:t>
            </a:r>
            <a:r>
              <a:rPr lang="ko-KR" altLang="en-US" sz="3200" b="1">
                <a:solidFill>
                  <a:srgbClr val="FF0010"/>
                </a:solidFill>
                <a:latin typeface="inherit"/>
              </a:rPr>
              <a:t>도 같이 설치</a:t>
            </a:r>
            <a:r>
              <a:rPr lang="ko-KR" altLang="en-US" sz="3200" b="1">
                <a:solidFill>
                  <a:srgbClr val="000000"/>
                </a:solidFill>
                <a:latin typeface="inherit"/>
              </a:rPr>
              <a:t> 된다</a:t>
            </a:r>
            <a:r>
              <a:rPr lang="en-US" altLang="ko-KR" sz="3200" b="1">
                <a:solidFill>
                  <a:srgbClr val="000000"/>
                </a:solidFill>
                <a:latin typeface="inherit"/>
              </a:rPr>
              <a:t>.</a:t>
            </a:r>
            <a:endParaRPr lang="ko-KR" altLang="en-US" sz="3200">
              <a:solidFill>
                <a:srgbClr val="557A74"/>
              </a:solidFill>
              <a:latin typeface="inherit"/>
            </a:endParaRPr>
          </a:p>
          <a:p>
            <a:r>
              <a:rPr lang="en-US" altLang="ko-KR" sz="3200" smtClean="0"/>
              <a:t> </a:t>
            </a:r>
            <a:endParaRPr lang="en-US" altLang="ko-KR" sz="3200" dirty="0"/>
          </a:p>
          <a:p>
            <a:r>
              <a:rPr lang="en-US" altLang="ko-KR" sz="3200" dirty="0" smtClean="0"/>
              <a:t>(1) https</a:t>
            </a:r>
            <a:r>
              <a:rPr lang="en-US" altLang="ko-KR" sz="3200" dirty="0"/>
              <a:t>://www.amd.com/en.html </a:t>
            </a:r>
            <a:r>
              <a:rPr lang="ko-KR" altLang="en-US" sz="3200" dirty="0" smtClean="0"/>
              <a:t>에 </a:t>
            </a:r>
            <a:endParaRPr lang="en-US" altLang="ko-KR" sz="3200" dirty="0" smtClean="0"/>
          </a:p>
          <a:p>
            <a:r>
              <a:rPr lang="en-US" altLang="ko-KR" sz="3200" dirty="0"/>
              <a:t> </a:t>
            </a:r>
            <a:r>
              <a:rPr lang="en-US" altLang="ko-KR" sz="3200" dirty="0" smtClean="0"/>
              <a:t>   </a:t>
            </a:r>
            <a:r>
              <a:rPr lang="ko-KR" altLang="en-US" sz="3200" dirty="0" smtClean="0"/>
              <a:t>회원가입 </a:t>
            </a:r>
            <a:r>
              <a:rPr lang="en-US" altLang="ko-KR" sz="3200" dirty="0" err="1" smtClean="0">
                <a:solidFill>
                  <a:srgbClr val="FF0000"/>
                </a:solidFill>
              </a:rPr>
              <a:t>userid</a:t>
            </a:r>
            <a:r>
              <a:rPr lang="en-US" altLang="ko-KR" sz="3200" dirty="0" smtClean="0">
                <a:solidFill>
                  <a:srgbClr val="FF0000"/>
                </a:solidFill>
              </a:rPr>
              <a:t>/pw </a:t>
            </a:r>
            <a:r>
              <a:rPr lang="ko-KR" altLang="en-US" sz="3200" dirty="0" smtClean="0">
                <a:solidFill>
                  <a:srgbClr val="FF0000"/>
                </a:solidFill>
              </a:rPr>
              <a:t>후</a:t>
            </a:r>
            <a:endParaRPr lang="en-US" altLang="ko-KR" sz="3200" dirty="0" smtClean="0">
              <a:solidFill>
                <a:srgbClr val="FF0000"/>
              </a:solidFill>
            </a:endParaRPr>
          </a:p>
          <a:p>
            <a:endParaRPr lang="en-US" altLang="ko-KR" sz="3200" dirty="0">
              <a:solidFill>
                <a:srgbClr val="FF0000"/>
              </a:solidFill>
            </a:endParaRPr>
          </a:p>
          <a:p>
            <a:r>
              <a:rPr lang="en-US" altLang="ko-KR" sz="3200" dirty="0" smtClean="0"/>
              <a:t>(2) </a:t>
            </a:r>
            <a:r>
              <a:rPr lang="ko-KR" altLang="en-US" sz="3200" dirty="0" err="1" smtClean="0"/>
              <a:t>다음장</a:t>
            </a:r>
            <a:r>
              <a:rPr lang="ko-KR" altLang="en-US" sz="3200" dirty="0" smtClean="0"/>
              <a:t> 부터 차례로 진행 하면 된다</a:t>
            </a:r>
            <a:r>
              <a:rPr lang="en-US" altLang="ko-KR" sz="3200" dirty="0" smtClean="0"/>
              <a:t>. </a:t>
            </a:r>
          </a:p>
          <a:p>
            <a:endParaRPr lang="en-US" altLang="ko-KR" sz="3200" dirty="0"/>
          </a:p>
          <a:p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33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5275" y="708363"/>
            <a:ext cx="113157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b="1" smtClean="0">
                <a:solidFill>
                  <a:srgbClr val="000000"/>
                </a:solidFill>
                <a:latin typeface="inherit"/>
              </a:rPr>
              <a:t>1</a:t>
            </a:r>
            <a:r>
              <a:rPr lang="en-US" altLang="ko-KR" b="1" dirty="0">
                <a:solidFill>
                  <a:srgbClr val="000000"/>
                </a:solidFill>
                <a:latin typeface="inherit"/>
              </a:rPr>
              <a:t>. </a:t>
            </a:r>
            <a:r>
              <a:rPr lang="en-US" altLang="ko-KR" b="1" dirty="0" err="1">
                <a:solidFill>
                  <a:srgbClr val="000000"/>
                </a:solidFill>
                <a:latin typeface="inherit"/>
              </a:rPr>
              <a:t>vitis</a:t>
            </a:r>
            <a:r>
              <a:rPr lang="en-US" altLang="ko-KR" b="1" dirty="0">
                <a:solidFill>
                  <a:srgbClr val="000000"/>
                </a:solidFill>
                <a:latin typeface="inherit"/>
              </a:rPr>
              <a:t> </a:t>
            </a:r>
            <a:r>
              <a:rPr lang="ko-KR" altLang="en-US" b="1" dirty="0" err="1">
                <a:solidFill>
                  <a:srgbClr val="000000"/>
                </a:solidFill>
                <a:latin typeface="inherit"/>
              </a:rPr>
              <a:t>설치시</a:t>
            </a:r>
            <a:r>
              <a:rPr lang="ko-KR" altLang="en-US" b="1" dirty="0">
                <a:solidFill>
                  <a:srgbClr val="000000"/>
                </a:solidFill>
                <a:latin typeface="inherit"/>
              </a:rPr>
              <a:t> </a:t>
            </a:r>
            <a:r>
              <a:rPr lang="en-US" altLang="ko-KR" b="1" dirty="0">
                <a:solidFill>
                  <a:srgbClr val="000000"/>
                </a:solidFill>
                <a:latin typeface="inherit"/>
              </a:rPr>
              <a:t>PC</a:t>
            </a:r>
            <a:r>
              <a:rPr lang="ko-KR" altLang="en-US" b="1" dirty="0">
                <a:solidFill>
                  <a:srgbClr val="000000"/>
                </a:solidFill>
                <a:latin typeface="inherit"/>
              </a:rPr>
              <a:t>가 </a:t>
            </a:r>
            <a:r>
              <a:rPr lang="en-US" altLang="ko-KR" b="1" dirty="0">
                <a:solidFill>
                  <a:srgbClr val="000000"/>
                </a:solidFill>
                <a:latin typeface="inherit"/>
              </a:rPr>
              <a:t>sleep mode</a:t>
            </a:r>
            <a:r>
              <a:rPr lang="ko-KR" altLang="en-US" b="1" dirty="0">
                <a:solidFill>
                  <a:srgbClr val="000000"/>
                </a:solidFill>
                <a:latin typeface="inherit"/>
              </a:rPr>
              <a:t>로 들어 가지 않도록 </a:t>
            </a:r>
            <a:r>
              <a:rPr lang="en-US" altLang="ko-KR" b="1" dirty="0">
                <a:solidFill>
                  <a:srgbClr val="000000"/>
                </a:solidFill>
                <a:latin typeface="inherit"/>
              </a:rPr>
              <a:t>pc</a:t>
            </a:r>
            <a:r>
              <a:rPr lang="ko-KR" altLang="en-US" b="1" dirty="0">
                <a:solidFill>
                  <a:srgbClr val="000000"/>
                </a:solidFill>
                <a:latin typeface="inherit"/>
              </a:rPr>
              <a:t>를 아래와 같이 </a:t>
            </a:r>
            <a:r>
              <a:rPr lang="en-US" altLang="ko-KR" b="1" dirty="0">
                <a:solidFill>
                  <a:srgbClr val="000000"/>
                </a:solidFill>
                <a:latin typeface="inherit"/>
              </a:rPr>
              <a:t>setup </a:t>
            </a:r>
            <a:r>
              <a:rPr lang="ko-KR" altLang="en-US" b="1" dirty="0">
                <a:solidFill>
                  <a:srgbClr val="000000"/>
                </a:solidFill>
                <a:latin typeface="inherit"/>
              </a:rPr>
              <a:t>한다</a:t>
            </a:r>
            <a:r>
              <a:rPr lang="en-US" altLang="ko-KR" b="1" dirty="0">
                <a:solidFill>
                  <a:srgbClr val="000000"/>
                </a:solidFill>
                <a:latin typeface="inherit"/>
              </a:rPr>
              <a:t>. (</a:t>
            </a:r>
            <a:r>
              <a:rPr lang="ko-KR" altLang="en-US" b="1" dirty="0">
                <a:solidFill>
                  <a:srgbClr val="000000"/>
                </a:solidFill>
                <a:latin typeface="inherit"/>
              </a:rPr>
              <a:t>삼성 </a:t>
            </a:r>
            <a:r>
              <a:rPr lang="en-US" altLang="ko-KR" b="1" dirty="0">
                <a:solidFill>
                  <a:srgbClr val="000000"/>
                </a:solidFill>
                <a:latin typeface="inherit"/>
              </a:rPr>
              <a:t>notebook </a:t>
            </a:r>
            <a:r>
              <a:rPr lang="ko-KR" altLang="en-US" b="1" dirty="0">
                <a:solidFill>
                  <a:srgbClr val="000000"/>
                </a:solidFill>
                <a:latin typeface="inherit"/>
              </a:rPr>
              <a:t>기준</a:t>
            </a:r>
            <a:r>
              <a:rPr lang="en-US" altLang="ko-KR" b="1" dirty="0">
                <a:solidFill>
                  <a:srgbClr val="000000"/>
                </a:solidFill>
                <a:latin typeface="inherit"/>
              </a:rPr>
              <a:t>)</a:t>
            </a:r>
            <a:endParaRPr lang="ko-KR" altLang="en-US" dirty="0">
              <a:solidFill>
                <a:srgbClr val="557A74"/>
              </a:solidFill>
              <a:latin typeface="inherit"/>
            </a:endParaRPr>
          </a:p>
          <a:p>
            <a:pPr fontAlgn="base"/>
            <a:r>
              <a:rPr lang="en-US" altLang="ko-KR" b="1" dirty="0">
                <a:solidFill>
                  <a:srgbClr val="000000"/>
                </a:solidFill>
                <a:latin typeface="inherit"/>
              </a:rPr>
              <a:t>   sleep mode</a:t>
            </a:r>
            <a:r>
              <a:rPr lang="ko-KR" altLang="en-US" b="1" dirty="0">
                <a:solidFill>
                  <a:srgbClr val="000000"/>
                </a:solidFill>
                <a:latin typeface="inherit"/>
              </a:rPr>
              <a:t>로 들어 가면 </a:t>
            </a:r>
            <a:r>
              <a:rPr lang="en-US" altLang="ko-KR" b="1" dirty="0">
                <a:solidFill>
                  <a:srgbClr val="000000"/>
                </a:solidFill>
                <a:latin typeface="inherit"/>
              </a:rPr>
              <a:t>download</a:t>
            </a:r>
            <a:r>
              <a:rPr lang="ko-KR" altLang="en-US" b="1" dirty="0">
                <a:solidFill>
                  <a:srgbClr val="000000"/>
                </a:solidFill>
                <a:latin typeface="inherit"/>
              </a:rPr>
              <a:t>가 중지 된다</a:t>
            </a:r>
            <a:r>
              <a:rPr lang="en-US" altLang="ko-KR" b="1" dirty="0">
                <a:solidFill>
                  <a:srgbClr val="000000"/>
                </a:solidFill>
                <a:latin typeface="inherit"/>
              </a:rPr>
              <a:t>. </a:t>
            </a:r>
          </a:p>
          <a:p>
            <a:pPr fontAlgn="base"/>
            <a:endParaRPr lang="ko-KR" altLang="en-US" dirty="0">
              <a:solidFill>
                <a:srgbClr val="557A74"/>
              </a:solidFill>
              <a:latin typeface="inherit"/>
            </a:endParaRPr>
          </a:p>
          <a:p>
            <a:pPr fontAlgn="base"/>
            <a:r>
              <a:rPr lang="en-US" altLang="ko-KR" b="1" dirty="0">
                <a:solidFill>
                  <a:srgbClr val="000000"/>
                </a:solidFill>
                <a:latin typeface="inherit"/>
              </a:rPr>
              <a:t>(1) </a:t>
            </a:r>
            <a:r>
              <a:rPr lang="ko-KR" altLang="en-US" b="1" dirty="0">
                <a:solidFill>
                  <a:srgbClr val="000000"/>
                </a:solidFill>
                <a:latin typeface="inherit"/>
              </a:rPr>
              <a:t>바탕화면에서 마우스 </a:t>
            </a:r>
            <a:r>
              <a:rPr lang="ko-KR" altLang="en-US" b="1" dirty="0" err="1">
                <a:solidFill>
                  <a:srgbClr val="000000"/>
                </a:solidFill>
                <a:latin typeface="inherit"/>
              </a:rPr>
              <a:t>우클릭</a:t>
            </a:r>
            <a:r>
              <a:rPr lang="ko-KR" altLang="en-US" b="1" dirty="0">
                <a:solidFill>
                  <a:srgbClr val="000000"/>
                </a:solidFill>
                <a:latin typeface="inherit"/>
              </a:rPr>
              <a:t>     </a:t>
            </a:r>
            <a:r>
              <a:rPr lang="en-US" altLang="ko-KR" b="1" dirty="0"/>
              <a:t>(2) </a:t>
            </a:r>
            <a:r>
              <a:rPr lang="ko-KR" altLang="en-US" b="1" dirty="0"/>
              <a:t>아래와 같이 전원 및 절전 모드를 사용 안함으로 설정 한다</a:t>
            </a:r>
            <a:r>
              <a:rPr lang="en-US" altLang="ko-KR" b="1" dirty="0"/>
              <a:t>. </a:t>
            </a:r>
            <a:endParaRPr lang="ko-KR" altLang="en-US" dirty="0">
              <a:solidFill>
                <a:srgbClr val="557A74"/>
              </a:solidFill>
              <a:latin typeface="inherit"/>
            </a:endParaRPr>
          </a:p>
        </p:txBody>
      </p:sp>
      <p:pic>
        <p:nvPicPr>
          <p:cNvPr id="4" name="Picture 2" descr="https://postfiles.pstatic.net/MjAyMzAyMDlfMjc5/MDAxNjc1OTE1NzE4OTU2.4iwb8NlASyGfINWerg0K83VB5tM3k6ZEHbmAxPqUvHcg.eb14-ZaviEshXnZYX5lE3T6gHsEZ-IYkch6wVs3xVe0g.PNG.sikwon1/image.png?type=w77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94" y="2562305"/>
            <a:ext cx="2676525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s://postfiles.pstatic.net/MjAyMzAyMDlfMjY2/MDAxNjc1OTE1ODM1MjAx.RSpT-_Ijoos_DM1j5VAUZCKt6XcZj793s9ZQn2UzOxwg.rcLJA0ktqbiuUHViJDeIeic1Bwl-4cmB8SDrw4JZDOgg.PNG.sikwon1/image.png?type=w77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746" y="2381330"/>
            <a:ext cx="5614416" cy="417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90525" y="314325"/>
            <a:ext cx="5388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solidFill>
                  <a:srgbClr val="FF0000"/>
                </a:solidFill>
              </a:rPr>
              <a:t>PC</a:t>
            </a:r>
            <a:r>
              <a:rPr lang="ko-KR" altLang="en-US" sz="2400" dirty="0">
                <a:solidFill>
                  <a:srgbClr val="FF0000"/>
                </a:solidFill>
              </a:rPr>
              <a:t> </a:t>
            </a:r>
            <a:r>
              <a:rPr lang="ko-KR" altLang="en-US" sz="2400" dirty="0" smtClean="0">
                <a:solidFill>
                  <a:srgbClr val="FF0000"/>
                </a:solidFill>
              </a:rPr>
              <a:t>전원 및 절전 모드 </a:t>
            </a:r>
            <a:r>
              <a:rPr lang="en-US" altLang="ko-KR" sz="2400" dirty="0" smtClean="0">
                <a:solidFill>
                  <a:srgbClr val="FF0000"/>
                </a:solidFill>
              </a:rPr>
              <a:t>: </a:t>
            </a:r>
            <a:r>
              <a:rPr lang="ko-KR" altLang="en-US" sz="2400" dirty="0" smtClean="0">
                <a:solidFill>
                  <a:srgbClr val="FF0000"/>
                </a:solidFill>
              </a:rPr>
              <a:t>안함으로 설정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14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153" y="670475"/>
            <a:ext cx="8252012" cy="564292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394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518" y="363633"/>
            <a:ext cx="8832476" cy="184354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394" y="2207173"/>
            <a:ext cx="9265023" cy="3697168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4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639" y="1666180"/>
            <a:ext cx="7848600" cy="96202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68188" y="1035424"/>
            <a:ext cx="4881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다운로드 받은 아래의 파일을 더블 클릭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918" y="2782416"/>
            <a:ext cx="6022191" cy="3307408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116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72" y="999801"/>
            <a:ext cx="5446060" cy="398462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517" y="858399"/>
            <a:ext cx="6307649" cy="3984620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7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AutoShape 4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6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094" y="312737"/>
            <a:ext cx="8326012" cy="641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96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86" y="483606"/>
            <a:ext cx="5772765" cy="419596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175" y="483606"/>
            <a:ext cx="5832049" cy="4248833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95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82" y="1373950"/>
            <a:ext cx="8429718" cy="543132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800100" y="571500"/>
            <a:ext cx="1055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아래와 같이 </a:t>
            </a:r>
            <a:r>
              <a:rPr lang="en-US" altLang="ko-KR" dirty="0" smtClean="0"/>
              <a:t>d</a:t>
            </a:r>
            <a:r>
              <a:rPr lang="ko-KR" altLang="en-US" dirty="0" smtClean="0"/>
              <a:t>드라이브밑에 </a:t>
            </a:r>
            <a:r>
              <a:rPr lang="en-US" altLang="ko-KR" dirty="0" err="1" smtClean="0"/>
              <a:t>Xlinx</a:t>
            </a:r>
            <a:r>
              <a:rPr lang="ko-KR" altLang="en-US" dirty="0" smtClean="0"/>
              <a:t>디렉토리에 설치 하고자 </a:t>
            </a:r>
            <a:r>
              <a:rPr lang="ko-KR" altLang="en-US" dirty="0" err="1" smtClean="0"/>
              <a:t>할때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Xlinx</a:t>
            </a:r>
            <a:r>
              <a:rPr lang="ko-KR" altLang="en-US" dirty="0" smtClean="0"/>
              <a:t>디렉토리를 </a:t>
            </a:r>
            <a:r>
              <a:rPr lang="ko-KR" altLang="en-US" dirty="0" err="1" smtClean="0"/>
              <a:t>만든후</a:t>
            </a:r>
            <a:r>
              <a:rPr lang="ko-KR" altLang="en-US" dirty="0" smtClean="0"/>
              <a:t> 설치한다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336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428732" y="257930"/>
            <a:ext cx="1135790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b="1" dirty="0"/>
              <a:t>2</a:t>
            </a:r>
            <a:r>
              <a:rPr lang="en-US" altLang="ko-KR" b="1" dirty="0" smtClean="0"/>
              <a:t>. </a:t>
            </a:r>
            <a:r>
              <a:rPr lang="en-US" altLang="ko-KR" b="1" dirty="0" err="1"/>
              <a:t>Digilent</a:t>
            </a:r>
            <a:r>
              <a:rPr lang="en-US" altLang="ko-KR" b="1" dirty="0"/>
              <a:t> Board </a:t>
            </a:r>
            <a:r>
              <a:rPr lang="ko-KR" altLang="en-US" b="1" dirty="0"/>
              <a:t>화일 설치</a:t>
            </a:r>
            <a:endParaRPr lang="ko-KR" altLang="en-US" dirty="0"/>
          </a:p>
          <a:p>
            <a:pPr fontAlgn="base"/>
            <a:r>
              <a:rPr lang="en-US" altLang="ko-KR" b="1" dirty="0" err="1"/>
              <a:t>Digilent</a:t>
            </a:r>
            <a:r>
              <a:rPr lang="ko-KR" altLang="en-US" b="1" dirty="0"/>
              <a:t>에서는 각 </a:t>
            </a:r>
            <a:r>
              <a:rPr lang="en-US" altLang="ko-KR" b="1" dirty="0"/>
              <a:t>FPGA </a:t>
            </a:r>
            <a:r>
              <a:rPr lang="ko-KR" altLang="en-US" b="1" dirty="0"/>
              <a:t>개발 보드에 대한 보드 화일을 제공 한다</a:t>
            </a:r>
            <a:r>
              <a:rPr lang="en-US" altLang="ko-KR" b="1" dirty="0"/>
              <a:t>. </a:t>
            </a:r>
            <a:endParaRPr lang="ko-KR" altLang="en-US" dirty="0"/>
          </a:p>
          <a:p>
            <a:pPr fontAlgn="base"/>
            <a:r>
              <a:rPr lang="ko-KR" altLang="en-US" b="1" dirty="0"/>
              <a:t>이 화일을 사용하면 새 프로젝트를 </a:t>
            </a:r>
            <a:r>
              <a:rPr lang="ko-KR" altLang="en-US" b="1" dirty="0" err="1"/>
              <a:t>만들때</a:t>
            </a:r>
            <a:r>
              <a:rPr lang="ko-KR" altLang="en-US" b="1" dirty="0"/>
              <a:t> 올바른 부품을 쉽게 선택 할 수 있으며 </a:t>
            </a:r>
            <a:r>
              <a:rPr lang="ko-KR" altLang="en-US" b="1" dirty="0" smtClean="0"/>
              <a:t>설계 시 </a:t>
            </a:r>
            <a:r>
              <a:rPr lang="ko-KR" altLang="en-US" b="1" dirty="0"/>
              <a:t>여러 복잡한 구성 </a:t>
            </a:r>
            <a:r>
              <a:rPr lang="ko-KR" altLang="en-US" b="1" dirty="0" smtClean="0"/>
              <a:t>요소를 자동으로 </a:t>
            </a:r>
            <a:r>
              <a:rPr lang="ko-KR" altLang="en-US" b="1" dirty="0"/>
              <a:t>구성 할 수 있다</a:t>
            </a:r>
            <a:r>
              <a:rPr lang="en-US" altLang="ko-KR" b="1" dirty="0"/>
              <a:t>. </a:t>
            </a:r>
            <a:endParaRPr lang="ko-KR" altLang="en-US" dirty="0"/>
          </a:p>
          <a:p>
            <a:pPr fontAlgn="base"/>
            <a:r>
              <a:rPr lang="en-US" altLang="ko-KR" b="1" dirty="0"/>
              <a:t>2</a:t>
            </a:r>
            <a:r>
              <a:rPr lang="en-US" altLang="ko-KR" b="1" dirty="0" smtClean="0"/>
              <a:t>.1 </a:t>
            </a:r>
            <a:r>
              <a:rPr lang="en-US" altLang="ko-KR" b="1" dirty="0" err="1"/>
              <a:t>vivado</a:t>
            </a:r>
            <a:r>
              <a:rPr lang="en-US" altLang="ko-KR" b="1" dirty="0"/>
              <a:t> board </a:t>
            </a:r>
            <a:r>
              <a:rPr lang="en-US" altLang="ko-KR" b="1" dirty="0" err="1"/>
              <a:t>git</a:t>
            </a:r>
            <a:r>
              <a:rPr lang="en-US" altLang="ko-KR" b="1" dirty="0"/>
              <a:t> hub</a:t>
            </a:r>
            <a:r>
              <a:rPr lang="ko-KR" altLang="en-US" b="1" dirty="0"/>
              <a:t>에서 </a:t>
            </a:r>
            <a:r>
              <a:rPr lang="en-US" altLang="ko-KR" b="1" dirty="0"/>
              <a:t>download </a:t>
            </a:r>
            <a:r>
              <a:rPr lang="ko-KR" altLang="en-US" b="1" dirty="0"/>
              <a:t>한다</a:t>
            </a:r>
            <a:r>
              <a:rPr lang="en-US" altLang="ko-KR" b="1" dirty="0"/>
              <a:t>. </a:t>
            </a:r>
            <a:endParaRPr lang="ko-KR" altLang="en-US" dirty="0"/>
          </a:p>
          <a:p>
            <a:pPr fontAlgn="base"/>
            <a:r>
              <a:rPr lang="en-US" altLang="ko-KR" b="1" u="sng" dirty="0">
                <a:hlinkClick r:id="rId2"/>
              </a:rPr>
              <a:t>GitHub - Xilinx/</a:t>
            </a:r>
            <a:r>
              <a:rPr lang="en-US" altLang="ko-KR" b="1" u="sng" dirty="0" err="1">
                <a:hlinkClick r:id="rId2"/>
              </a:rPr>
              <a:t>XilinxBoardStore</a:t>
            </a:r>
            <a:r>
              <a:rPr lang="ko-KR" altLang="en-US" b="1" dirty="0"/>
              <a:t> 를 접속 한다</a:t>
            </a:r>
            <a:r>
              <a:rPr lang="en-US" altLang="ko-KR" b="1" dirty="0" smtClean="0"/>
              <a:t>.</a:t>
            </a:r>
          </a:p>
          <a:p>
            <a:pPr fontAlgn="base"/>
            <a:endParaRPr lang="ko-KR" altLang="en-US" dirty="0"/>
          </a:p>
          <a:p>
            <a:pPr fontAlgn="base"/>
            <a:r>
              <a:rPr lang="en-US" altLang="ko-KR" b="1" dirty="0"/>
              <a:t>2</a:t>
            </a:r>
            <a:r>
              <a:rPr lang="en-US" altLang="ko-KR" b="1" dirty="0" smtClean="0"/>
              <a:t>.2 </a:t>
            </a:r>
            <a:r>
              <a:rPr lang="ko-KR" altLang="en-US" b="1" dirty="0"/>
              <a:t>아래의 화일을 </a:t>
            </a:r>
            <a:r>
              <a:rPr lang="en-US" altLang="ko-KR" b="1" dirty="0"/>
              <a:t>Download </a:t>
            </a:r>
            <a:r>
              <a:rPr lang="ko-KR" altLang="en-US" b="1" dirty="0"/>
              <a:t>한다</a:t>
            </a:r>
            <a:r>
              <a:rPr lang="en-US" altLang="ko-KR" b="1" dirty="0"/>
              <a:t>. </a:t>
            </a:r>
            <a:endParaRPr lang="ko-KR" altLang="en-US" dirty="0"/>
          </a:p>
          <a:p>
            <a:pPr fontAlgn="base"/>
            <a:r>
              <a:rPr lang="en-US" altLang="ko-KR" b="1" dirty="0" smtClean="0"/>
              <a:t> </a:t>
            </a:r>
            <a:endParaRPr lang="ko-KR" altLang="en-US" dirty="0"/>
          </a:p>
          <a:p>
            <a:r>
              <a:rPr lang="ko-KR" altLang="en-US" dirty="0"/>
              <a:t/>
            </a:r>
            <a:br>
              <a:rPr lang="ko-KR" altLang="en-US" dirty="0"/>
            </a:br>
            <a:endParaRPr lang="ko-KR" altLang="en-US" b="1" dirty="0"/>
          </a:p>
        </p:txBody>
      </p:sp>
      <p:pic>
        <p:nvPicPr>
          <p:cNvPr id="4" name="Picture 2" descr="https://postfiles.pstatic.net/MjAyMzAyMDlfMjE5/MDAxNjc1OTE4OTU3MDI1.vDleRJyf15uV1hSZqj4vN6QGBEk_sqJw2pDBzfJPH08g.x79dCQbe3ie7WCL_LhlKSCtBX0lvTUyEdhF8yXKP7bkg.PNG.sikwon1/image.png?type=w77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79" y="2516018"/>
            <a:ext cx="5490988" cy="3490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s://postfiles.pstatic.net/MjAyMzAyMDlfNTMg/MDAxNjc1OTE5MTM1NzI4.mC3R-Hzrubi4I041vAiwj96Zs_-KjhJpYwU5bqPhPCwg.TrZy9sgkwjdOFtvsSEZ1HqxAEvhM2z6gZjI0XlrZ9Xwg.PNG.sikwon1/image.png?type=w77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7684" y="3577472"/>
            <a:ext cx="3822192" cy="2778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5919720" y="1781424"/>
            <a:ext cx="617678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b="1" dirty="0"/>
              <a:t>2</a:t>
            </a:r>
            <a:r>
              <a:rPr lang="en-US" altLang="ko-KR" b="1" smtClean="0"/>
              <a:t>.3 </a:t>
            </a:r>
            <a:r>
              <a:rPr lang="ko-KR" altLang="en-US" b="1" dirty="0"/>
              <a:t>아래의 </a:t>
            </a:r>
            <a:r>
              <a:rPr lang="en-US" altLang="ko-KR" b="1" dirty="0"/>
              <a:t>Download</a:t>
            </a:r>
            <a:r>
              <a:rPr lang="ko-KR" altLang="en-US" b="1" dirty="0"/>
              <a:t>한 화일을 압축 해제 하여 </a:t>
            </a:r>
            <a:endParaRPr lang="en-US" altLang="ko-KR" b="1" dirty="0" smtClean="0"/>
          </a:p>
          <a:p>
            <a:pPr fontAlgn="base"/>
            <a:r>
              <a:rPr lang="en-US" altLang="ko-KR" b="1" dirty="0" err="1" smtClean="0"/>
              <a:t>Digilent</a:t>
            </a:r>
            <a:r>
              <a:rPr lang="en-US" altLang="ko-KR" b="1" dirty="0" smtClean="0"/>
              <a:t> </a:t>
            </a:r>
            <a:r>
              <a:rPr lang="ko-KR" altLang="en-US" b="1" dirty="0"/>
              <a:t>화일을 복사하여 </a:t>
            </a:r>
            <a:endParaRPr lang="ko-KR" altLang="en-US" dirty="0"/>
          </a:p>
          <a:p>
            <a:pPr fontAlgn="base"/>
            <a:r>
              <a:rPr lang="en-US" altLang="ko-KR" b="1" dirty="0" smtClean="0"/>
              <a:t>C</a:t>
            </a:r>
            <a:r>
              <a:rPr lang="en-US" altLang="ko-KR" b="1"/>
              <a:t>:\</a:t>
            </a:r>
            <a:r>
              <a:rPr lang="en-US" altLang="ko-KR" b="1" smtClean="0"/>
              <a:t>Xilinx\Vivado\2020.2\data\boards\board_files</a:t>
            </a:r>
            <a:endParaRPr lang="en-US" altLang="ko-KR" b="1" dirty="0" smtClean="0"/>
          </a:p>
          <a:p>
            <a:pPr fontAlgn="base"/>
            <a:r>
              <a:rPr lang="ko-KR" altLang="en-US" b="1" dirty="0" smtClean="0"/>
              <a:t>에</a:t>
            </a:r>
            <a:r>
              <a:rPr lang="en-US" altLang="ko-KR" b="1" dirty="0"/>
              <a:t> </a:t>
            </a:r>
            <a:r>
              <a:rPr lang="ko-KR" altLang="en-US" b="1" dirty="0" smtClean="0"/>
              <a:t>붙여 넣는다</a:t>
            </a:r>
            <a:r>
              <a:rPr lang="en-US" altLang="ko-KR" b="1" dirty="0" smtClean="0"/>
              <a:t> </a:t>
            </a:r>
          </a:p>
          <a:p>
            <a:pPr fontAlgn="base"/>
            <a:r>
              <a:rPr lang="ko-KR" altLang="en-US" sz="1400" dirty="0" smtClean="0">
                <a:solidFill>
                  <a:srgbClr val="FF0000"/>
                </a:solidFill>
              </a:rPr>
              <a:t>★★ </a:t>
            </a:r>
            <a:r>
              <a:rPr lang="ko-KR" altLang="en-US" sz="1400" dirty="0">
                <a:solidFill>
                  <a:srgbClr val="FF0000"/>
                </a:solidFill>
              </a:rPr>
              <a:t>주의 ★★ </a:t>
            </a:r>
            <a:r>
              <a:rPr lang="ko-KR" altLang="en-US" sz="1400" dirty="0" smtClean="0">
                <a:solidFill>
                  <a:srgbClr val="FF0000"/>
                </a:solidFill>
              </a:rPr>
              <a:t> </a:t>
            </a:r>
            <a:endParaRPr lang="ko-KR" altLang="en-US" sz="1400" dirty="0">
              <a:solidFill>
                <a:srgbClr val="FF0000"/>
              </a:solidFill>
            </a:endParaRPr>
          </a:p>
          <a:p>
            <a:r>
              <a:rPr lang="en-US" altLang="ko-KR" sz="1400" dirty="0" err="1" smtClean="0">
                <a:solidFill>
                  <a:srgbClr val="FF0000"/>
                </a:solidFill>
              </a:rPr>
              <a:t>Vivado</a:t>
            </a:r>
            <a:r>
              <a:rPr lang="ko-KR" altLang="en-US" sz="1400" dirty="0" smtClean="0">
                <a:solidFill>
                  <a:srgbClr val="FF0000"/>
                </a:solidFill>
              </a:rPr>
              <a:t>를 처음 설치 하면 </a:t>
            </a:r>
            <a:r>
              <a:rPr lang="en-US" altLang="ko-KR" sz="1400" b="1" dirty="0">
                <a:solidFill>
                  <a:srgbClr val="FF0000"/>
                </a:solidFill>
              </a:rPr>
              <a:t>C:\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Xilinx\Vivado\2024.2\data\boards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디렉토리만 존재한다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. </a:t>
            </a:r>
            <a:r>
              <a:rPr lang="en-US" altLang="ko-KR" sz="1400" b="1" dirty="0" err="1" smtClean="0">
                <a:solidFill>
                  <a:srgbClr val="FF0000"/>
                </a:solidFill>
              </a:rPr>
              <a:t>board_files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디렉토리를 만들어야 한다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.  </a:t>
            </a:r>
            <a:r>
              <a:rPr lang="ko-KR" altLang="en-US" dirty="0"/>
              <a:t/>
            </a:r>
            <a:br>
              <a:rPr lang="ko-KR" altLang="en-US" dirty="0"/>
            </a:b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188510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312420" y="572319"/>
            <a:ext cx="1135790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b="1" dirty="0" smtClean="0">
                <a:solidFill>
                  <a:srgbClr val="FF0000"/>
                </a:solidFill>
              </a:rPr>
              <a:t>*** </a:t>
            </a:r>
            <a:r>
              <a:rPr lang="en-US" altLang="ko-KR" b="1" dirty="0" err="1">
                <a:solidFill>
                  <a:srgbClr val="FF0000"/>
                </a:solidFill>
              </a:rPr>
              <a:t>Digilent</a:t>
            </a:r>
            <a:r>
              <a:rPr lang="en-US" altLang="ko-KR" b="1" dirty="0">
                <a:solidFill>
                  <a:srgbClr val="FF0000"/>
                </a:solidFill>
              </a:rPr>
              <a:t> Board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xdc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화일 설치   </a:t>
            </a:r>
            <a:r>
              <a:rPr lang="en-US" altLang="ko-KR" b="1" dirty="0" smtClean="0">
                <a:solidFill>
                  <a:srgbClr val="FF0000"/>
                </a:solidFill>
              </a:rPr>
              <a:t>***</a:t>
            </a:r>
          </a:p>
          <a:p>
            <a:pPr fontAlgn="base"/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XDC</a:t>
            </a:r>
            <a:r>
              <a:rPr lang="ko-KR" altLang="en-US" b="1" dirty="0" smtClean="0">
                <a:solidFill>
                  <a:srgbClr val="FF0000"/>
                </a:solidFill>
              </a:rPr>
              <a:t>화일을 아래와 같이 다운로드하여  </a:t>
            </a:r>
            <a:r>
              <a:rPr lang="en-US" altLang="ko-KR" b="1" dirty="0" smtClean="0">
                <a:solidFill>
                  <a:srgbClr val="FF0000"/>
                </a:solidFill>
              </a:rPr>
              <a:t>digilent-xdc-master.zip </a:t>
            </a:r>
            <a:r>
              <a:rPr lang="ko-KR" altLang="en-US" b="1" dirty="0" smtClean="0">
                <a:solidFill>
                  <a:srgbClr val="FF0000"/>
                </a:solidFill>
              </a:rPr>
              <a:t>파일을 압축 해제 하여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pPr fontAlgn="base"/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사용자 </a:t>
            </a:r>
            <a:r>
              <a:rPr lang="en-US" altLang="ko-KR" b="1" dirty="0" smtClean="0">
                <a:solidFill>
                  <a:srgbClr val="FF0000"/>
                </a:solidFill>
              </a:rPr>
              <a:t>directory </a:t>
            </a:r>
            <a:r>
              <a:rPr lang="ko-KR" altLang="en-US" b="1" dirty="0" smtClean="0">
                <a:solidFill>
                  <a:srgbClr val="FF0000"/>
                </a:solidFill>
              </a:rPr>
              <a:t>의 적절한 위치에 배치 한다</a:t>
            </a:r>
            <a:r>
              <a:rPr lang="en-US" altLang="ko-KR" b="1" dirty="0">
                <a:solidFill>
                  <a:srgbClr val="FF0000"/>
                </a:solidFill>
              </a:rPr>
              <a:t>. </a:t>
            </a:r>
            <a:r>
              <a:rPr lang="ko-KR" altLang="en-US" b="1" dirty="0" smtClean="0">
                <a:solidFill>
                  <a:srgbClr val="FF0000"/>
                </a:solidFill>
              </a:rPr>
              <a:t>예</a:t>
            </a:r>
            <a:r>
              <a:rPr lang="en-US" altLang="ko-KR" b="1" dirty="0" smtClean="0">
                <a:solidFill>
                  <a:srgbClr val="FF0000"/>
                </a:solidFill>
              </a:rPr>
              <a:t>) d:\</a:t>
            </a:r>
            <a:r>
              <a:rPr lang="en-US" altLang="ko-KR" b="1" dirty="0">
                <a:solidFill>
                  <a:srgbClr val="FF0000"/>
                </a:solidFill>
              </a:rPr>
              <a:t>project\FPGA\doc\BASYS3\digilent-xdc-master</a:t>
            </a:r>
            <a:endParaRPr lang="en-US" altLang="ko-KR" b="1" dirty="0" smtClean="0">
              <a:solidFill>
                <a:srgbClr val="FF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35" y="1544627"/>
            <a:ext cx="6375728" cy="342917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94" y="5022781"/>
            <a:ext cx="8090316" cy="13335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00395" y="2343402"/>
            <a:ext cx="3020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위 </a:t>
            </a:r>
            <a:r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github</a:t>
            </a:r>
            <a:r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다운로드가 잘 안될때는 </a:t>
            </a:r>
            <a:r>
              <a:rPr lang="en-US" altLang="ko-KR" b="1" smtClean="0">
                <a:solidFill>
                  <a:srgbClr val="FF0000"/>
                </a:solidFill>
              </a:rPr>
              <a:t>digilent-xdc-master.zip</a:t>
            </a:r>
            <a:r>
              <a:rPr lang="ko-KR" altLang="en-US" b="1" smtClean="0">
                <a:solidFill>
                  <a:srgbClr val="FF0000"/>
                </a:solidFill>
              </a:rPr>
              <a:t>를 별도 공급 한다</a:t>
            </a:r>
            <a:r>
              <a:rPr lang="en-US" altLang="ko-KR" b="1" smtClean="0">
                <a:solidFill>
                  <a:srgbClr val="FF0000"/>
                </a:solidFill>
              </a:rPr>
              <a:t>. </a:t>
            </a:r>
            <a:r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6181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274320" y="858713"/>
            <a:ext cx="113579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b="1" dirty="0" smtClean="0">
                <a:solidFill>
                  <a:srgbClr val="FF0000"/>
                </a:solidFill>
              </a:rPr>
              <a:t>*** </a:t>
            </a:r>
            <a:r>
              <a:rPr lang="en-US" altLang="ko-KR" b="1" dirty="0" err="1">
                <a:solidFill>
                  <a:srgbClr val="FF0000"/>
                </a:solidFill>
              </a:rPr>
              <a:t>Digilent</a:t>
            </a:r>
            <a:r>
              <a:rPr lang="en-US" altLang="ko-KR" b="1" dirty="0">
                <a:solidFill>
                  <a:srgbClr val="FF0000"/>
                </a:solidFill>
              </a:rPr>
              <a:t> Board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xdc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화일 설치   </a:t>
            </a:r>
            <a:r>
              <a:rPr lang="en-US" altLang="ko-KR" b="1" dirty="0" smtClean="0">
                <a:solidFill>
                  <a:srgbClr val="FF0000"/>
                </a:solidFill>
              </a:rPr>
              <a:t>***</a:t>
            </a:r>
          </a:p>
          <a:p>
            <a:pPr fontAlgn="base"/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XDC</a:t>
            </a:r>
            <a:r>
              <a:rPr lang="ko-KR" altLang="en-US" b="1" dirty="0" smtClean="0">
                <a:solidFill>
                  <a:srgbClr val="FF0000"/>
                </a:solidFill>
              </a:rPr>
              <a:t>화일 예</a:t>
            </a:r>
            <a:r>
              <a:rPr lang="en-US" altLang="ko-KR" b="1" dirty="0" smtClean="0">
                <a:solidFill>
                  <a:srgbClr val="FF0000"/>
                </a:solidFill>
              </a:rPr>
              <a:t>) D</a:t>
            </a:r>
            <a:r>
              <a:rPr lang="en-US" altLang="ko-KR" b="1" dirty="0">
                <a:solidFill>
                  <a:srgbClr val="FF0000"/>
                </a:solidFill>
              </a:rPr>
              <a:t>:\project\FPGA\doc\BASYS3\digilent-xdc-master</a:t>
            </a:r>
            <a:endParaRPr lang="en-US" altLang="ko-KR" b="1" dirty="0" smtClean="0">
              <a:solidFill>
                <a:srgbClr val="FF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94" y="1782043"/>
            <a:ext cx="5861351" cy="389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33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516547" y="234416"/>
            <a:ext cx="6096000" cy="5047536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​</a:t>
            </a:r>
            <a:endParaRPr lang="ko-KR" altLang="en-US" sz="1400" dirty="0">
              <a:solidFill>
                <a:srgbClr val="8A837E"/>
              </a:solidFill>
              <a:latin typeface="se-nanumgothic"/>
            </a:endParaRPr>
          </a:p>
          <a:p>
            <a:pPr fontAlgn="base"/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Xilinx </a:t>
            </a:r>
            <a:r>
              <a:rPr lang="en-US" altLang="ko-KR" sz="1400" dirty="0" err="1">
                <a:solidFill>
                  <a:srgbClr val="000000"/>
                </a:solidFill>
                <a:latin typeface="-apple-system"/>
              </a:rPr>
              <a:t>Zynq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 FPGA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에서는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Programmable Logic (PL)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과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Processing System (PS)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이라는 두 가지 주요 구성 요소가 </a:t>
            </a:r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있다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. </a:t>
            </a:r>
            <a:endParaRPr lang="en-US" altLang="ko-KR" sz="1400" dirty="0" smtClean="0">
              <a:solidFill>
                <a:srgbClr val="000000"/>
              </a:solidFill>
              <a:latin typeface="-apple-system"/>
            </a:endParaRPr>
          </a:p>
          <a:p>
            <a:pPr fontAlgn="base"/>
            <a:endParaRPr lang="en-US" altLang="ko-KR" sz="1400" dirty="0">
              <a:solidFill>
                <a:srgbClr val="000000"/>
              </a:solidFill>
              <a:latin typeface="-apple-system"/>
            </a:endParaRPr>
          </a:p>
          <a:p>
            <a:pPr marL="342900" indent="-342900" fontAlgn="base">
              <a:buAutoNum type="arabicParenBoth"/>
            </a:pP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Programmable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Logic (PL</a:t>
            </a: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): </a:t>
            </a:r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FPGA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의 주요 기능 중 하나로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, </a:t>
            </a:r>
            <a:endParaRPr lang="en-US" altLang="ko-KR" sz="1400" dirty="0" smtClean="0">
              <a:solidFill>
                <a:srgbClr val="000000"/>
              </a:solidFill>
              <a:latin typeface="-apple-system"/>
            </a:endParaRPr>
          </a:p>
          <a:p>
            <a:pPr fontAlgn="base"/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사용자가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특정 </a:t>
            </a:r>
            <a:r>
              <a:rPr lang="ko-KR" altLang="en-US" sz="1400" dirty="0" err="1">
                <a:solidFill>
                  <a:srgbClr val="000000"/>
                </a:solidFill>
                <a:latin typeface="-apple-system"/>
              </a:rPr>
              <a:t>로직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 기능을 구현하기 위해 프로그래밍할 수 있는 </a:t>
            </a:r>
            <a:endParaRPr lang="en-US" altLang="ko-KR" sz="1400" dirty="0" smtClean="0">
              <a:solidFill>
                <a:srgbClr val="000000"/>
              </a:solidFill>
              <a:latin typeface="-apple-system"/>
            </a:endParaRPr>
          </a:p>
          <a:p>
            <a:pPr fontAlgn="base"/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영역이다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.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이 </a:t>
            </a:r>
            <a:r>
              <a:rPr lang="en-US" altLang="ko-KR" sz="1400" dirty="0">
                <a:solidFill>
                  <a:srgbClr val="FF0000"/>
                </a:solidFill>
                <a:latin typeface="-apple-system"/>
              </a:rPr>
              <a:t>PL </a:t>
            </a:r>
            <a:r>
              <a:rPr lang="ko-KR" altLang="en-US" sz="1400" dirty="0">
                <a:solidFill>
                  <a:srgbClr val="FF0000"/>
                </a:solidFill>
                <a:latin typeface="-apple-system"/>
              </a:rPr>
              <a:t>영역은 </a:t>
            </a:r>
            <a:r>
              <a:rPr lang="en-US" altLang="ko-KR" sz="1400" dirty="0">
                <a:solidFill>
                  <a:srgbClr val="FF0000"/>
                </a:solidFill>
                <a:latin typeface="-apple-system"/>
              </a:rPr>
              <a:t>VHDL, Verilog </a:t>
            </a:r>
            <a:r>
              <a:rPr lang="ko-KR" altLang="en-US" sz="1400" dirty="0">
                <a:solidFill>
                  <a:srgbClr val="FF0000"/>
                </a:solidFill>
                <a:latin typeface="-apple-system"/>
              </a:rPr>
              <a:t>등의 하드웨어 설명 언어를 </a:t>
            </a:r>
            <a:endParaRPr lang="en-US" altLang="ko-KR" sz="1400" dirty="0" smtClean="0">
              <a:solidFill>
                <a:srgbClr val="FF0000"/>
              </a:solidFill>
              <a:latin typeface="-apple-system"/>
            </a:endParaRPr>
          </a:p>
          <a:p>
            <a:pPr fontAlgn="base"/>
            <a:r>
              <a:rPr lang="ko-KR" altLang="en-US" sz="1400" dirty="0" smtClean="0">
                <a:solidFill>
                  <a:srgbClr val="FF0000"/>
                </a:solidFill>
                <a:latin typeface="-apple-system"/>
              </a:rPr>
              <a:t>사용하여 </a:t>
            </a:r>
            <a:r>
              <a:rPr lang="ko-KR" altLang="en-US" sz="1400" dirty="0">
                <a:solidFill>
                  <a:srgbClr val="FF0000"/>
                </a:solidFill>
                <a:latin typeface="-apple-system"/>
              </a:rPr>
              <a:t>구현되며</a:t>
            </a:r>
            <a:r>
              <a:rPr lang="en-US" altLang="ko-KR" sz="1400" dirty="0">
                <a:solidFill>
                  <a:srgbClr val="FF0000"/>
                </a:solidFill>
                <a:latin typeface="-apple-system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latin typeface="-apple-system"/>
              </a:rPr>
              <a:t>이는 </a:t>
            </a:r>
            <a:r>
              <a:rPr lang="en-US" altLang="ko-KR" sz="1400" dirty="0" err="1">
                <a:solidFill>
                  <a:srgbClr val="FF0000"/>
                </a:solidFill>
                <a:latin typeface="-apple-system"/>
              </a:rPr>
              <a:t>Vivado</a:t>
            </a:r>
            <a:r>
              <a:rPr lang="ko-KR" altLang="en-US" sz="1400" dirty="0">
                <a:solidFill>
                  <a:srgbClr val="FF0000"/>
                </a:solidFill>
                <a:latin typeface="-apple-system"/>
              </a:rPr>
              <a:t>와 같은 도구를 통해 </a:t>
            </a:r>
            <a:r>
              <a:rPr lang="ko-KR" altLang="en-US" sz="1400" dirty="0" smtClean="0">
                <a:solidFill>
                  <a:srgbClr val="FF0000"/>
                </a:solidFill>
                <a:latin typeface="-apple-system"/>
              </a:rPr>
              <a:t>수행된다</a:t>
            </a: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.</a:t>
            </a:r>
            <a:br>
              <a:rPr lang="en-US" altLang="ko-KR" sz="1400" dirty="0" smtClean="0">
                <a:solidFill>
                  <a:srgbClr val="000000"/>
                </a:solidFill>
                <a:latin typeface="-apple-system"/>
              </a:rPr>
            </a:br>
            <a:endParaRPr lang="ko-KR" altLang="en-US" sz="1400" dirty="0">
              <a:solidFill>
                <a:srgbClr val="8A837E"/>
              </a:solidFill>
              <a:latin typeface="se-nanumgothic"/>
            </a:endParaRPr>
          </a:p>
          <a:p>
            <a:pPr fontAlgn="base"/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(2) Processing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System (</a:t>
            </a: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PS): </a:t>
            </a:r>
            <a:r>
              <a:rPr lang="en-US" altLang="ko-KR" sz="1400" dirty="0" err="1" smtClean="0">
                <a:solidFill>
                  <a:srgbClr val="000000"/>
                </a:solidFill>
                <a:latin typeface="-apple-system"/>
              </a:rPr>
              <a:t>Zynq</a:t>
            </a: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FPGA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에 내장된 고정된 </a:t>
            </a:r>
            <a:endParaRPr lang="en-US" altLang="ko-KR" sz="1400" dirty="0" smtClean="0">
              <a:solidFill>
                <a:srgbClr val="000000"/>
              </a:solidFill>
              <a:latin typeface="-apple-system"/>
            </a:endParaRPr>
          </a:p>
          <a:p>
            <a:pPr fontAlgn="base"/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하드웨어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구성 요소로서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일반적으로 </a:t>
            </a:r>
            <a:r>
              <a:rPr lang="en-US" altLang="ko-KR" sz="1400" dirty="0">
                <a:solidFill>
                  <a:srgbClr val="FF0000"/>
                </a:solidFill>
                <a:latin typeface="-apple-system"/>
              </a:rPr>
              <a:t>ARM </a:t>
            </a:r>
            <a:r>
              <a:rPr lang="ko-KR" altLang="en-US" sz="1400" dirty="0">
                <a:solidFill>
                  <a:srgbClr val="FF0000"/>
                </a:solidFill>
                <a:latin typeface="-apple-system"/>
              </a:rPr>
              <a:t>기반의 프로세서 </a:t>
            </a:r>
            <a:endParaRPr lang="en-US" altLang="ko-KR" sz="1400" dirty="0" smtClean="0">
              <a:solidFill>
                <a:srgbClr val="FF0000"/>
              </a:solidFill>
              <a:latin typeface="-apple-system"/>
            </a:endParaRPr>
          </a:p>
          <a:p>
            <a:pPr fontAlgn="base"/>
            <a:r>
              <a:rPr lang="ko-KR" altLang="en-US" sz="1400" dirty="0" smtClean="0">
                <a:solidFill>
                  <a:srgbClr val="FF0000"/>
                </a:solidFill>
                <a:latin typeface="-apple-system"/>
              </a:rPr>
              <a:t>시스템이다</a:t>
            </a:r>
            <a:r>
              <a:rPr lang="en-US" altLang="ko-KR" sz="1400" dirty="0">
                <a:solidFill>
                  <a:srgbClr val="FF0000"/>
                </a:solidFill>
                <a:latin typeface="-apple-system"/>
              </a:rPr>
              <a:t>. PS</a:t>
            </a:r>
            <a:r>
              <a:rPr lang="ko-KR" altLang="en-US" sz="1400" dirty="0">
                <a:solidFill>
                  <a:srgbClr val="FF0000"/>
                </a:solidFill>
                <a:latin typeface="-apple-system"/>
              </a:rPr>
              <a:t>는 운영 체제를 실행하고</a:t>
            </a:r>
            <a:r>
              <a:rPr lang="en-US" altLang="ko-KR" sz="1400" dirty="0">
                <a:solidFill>
                  <a:srgbClr val="FF0000"/>
                </a:solidFill>
                <a:latin typeface="-apple-system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latin typeface="-apple-system"/>
              </a:rPr>
              <a:t>소프트웨어 </a:t>
            </a:r>
            <a:r>
              <a:rPr lang="ko-KR" altLang="en-US" sz="1400" dirty="0" smtClean="0">
                <a:solidFill>
                  <a:srgbClr val="FF0000"/>
                </a:solidFill>
                <a:latin typeface="-apple-system"/>
              </a:rPr>
              <a:t>애플리케이션을</a:t>
            </a:r>
            <a:endParaRPr lang="en-US" altLang="ko-KR" sz="1400" dirty="0" smtClean="0">
              <a:solidFill>
                <a:srgbClr val="FF0000"/>
              </a:solidFill>
              <a:latin typeface="-apple-system"/>
            </a:endParaRPr>
          </a:p>
          <a:p>
            <a:pPr fontAlgn="base"/>
            <a:r>
              <a:rPr lang="ko-KR" altLang="en-US" sz="1400" dirty="0" smtClean="0">
                <a:solidFill>
                  <a:srgbClr val="FF0000"/>
                </a:solidFill>
                <a:latin typeface="-apple-system"/>
              </a:rPr>
              <a:t>실행하며</a:t>
            </a:r>
            <a:r>
              <a:rPr lang="en-US" altLang="ko-KR" sz="1400" dirty="0">
                <a:solidFill>
                  <a:srgbClr val="FF0000"/>
                </a:solidFill>
                <a:latin typeface="-apple-system"/>
              </a:rPr>
              <a:t>, PL</a:t>
            </a:r>
            <a:r>
              <a:rPr lang="ko-KR" altLang="en-US" sz="1400" dirty="0">
                <a:solidFill>
                  <a:srgbClr val="FF0000"/>
                </a:solidFill>
                <a:latin typeface="-apple-system"/>
              </a:rPr>
              <a:t>과 상호 작용하는 데 </a:t>
            </a:r>
            <a:r>
              <a:rPr lang="ko-KR" altLang="en-US" sz="1400" dirty="0" smtClean="0">
                <a:solidFill>
                  <a:srgbClr val="FF0000"/>
                </a:solidFill>
                <a:latin typeface="-apple-system"/>
              </a:rPr>
              <a:t>사용된다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.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이 부분은 주로 </a:t>
            </a:r>
            <a:endParaRPr lang="en-US" altLang="ko-KR" sz="1400" dirty="0" smtClean="0">
              <a:solidFill>
                <a:srgbClr val="000000"/>
              </a:solidFill>
              <a:latin typeface="-apple-system"/>
            </a:endParaRPr>
          </a:p>
          <a:p>
            <a:pPr fontAlgn="base"/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고수준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언어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(C, C++, Python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등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)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를 사용하여 개발하며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, </a:t>
            </a:r>
            <a:endParaRPr lang="en-US" altLang="ko-KR" sz="1400" dirty="0" smtClean="0">
              <a:solidFill>
                <a:srgbClr val="000000"/>
              </a:solidFill>
              <a:latin typeface="-apple-system"/>
            </a:endParaRPr>
          </a:p>
          <a:p>
            <a:pPr fontAlgn="base"/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이는 </a:t>
            </a:r>
            <a:r>
              <a:rPr lang="en-US" altLang="ko-KR" sz="1400" dirty="0" err="1">
                <a:solidFill>
                  <a:srgbClr val="000000"/>
                </a:solidFill>
                <a:latin typeface="-apple-system"/>
              </a:rPr>
              <a:t>Vitis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와 같은 도구를 통해 </a:t>
            </a:r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수행된다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.</a:t>
            </a:r>
            <a:endParaRPr lang="ko-KR" altLang="en-US" sz="1400" dirty="0">
              <a:solidFill>
                <a:srgbClr val="8A837E"/>
              </a:solidFill>
              <a:latin typeface="se-nanumgothic"/>
            </a:endParaRPr>
          </a:p>
          <a:p>
            <a:pPr fontAlgn="base"/>
            <a:endParaRPr lang="en-US" altLang="ko-KR" sz="1400" dirty="0" smtClean="0">
              <a:solidFill>
                <a:srgbClr val="000000"/>
              </a:solidFill>
              <a:latin typeface="-apple-system"/>
            </a:endParaRPr>
          </a:p>
          <a:p>
            <a:pPr fontAlgn="base"/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-</a:t>
            </a:r>
            <a:r>
              <a:rPr lang="en-US" altLang="ko-KR" sz="1400" dirty="0" err="1" smtClean="0">
                <a:solidFill>
                  <a:srgbClr val="000000"/>
                </a:solidFill>
                <a:latin typeface="-apple-system"/>
              </a:rPr>
              <a:t>Vivado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는 주로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PL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을 설계하고 구현하는 데 사용되며</a:t>
            </a: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,</a:t>
            </a:r>
          </a:p>
          <a:p>
            <a:pPr fontAlgn="base"/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-</a:t>
            </a:r>
            <a:r>
              <a:rPr lang="en-US" altLang="ko-KR" sz="1400" dirty="0" err="1" smtClean="0">
                <a:solidFill>
                  <a:srgbClr val="000000"/>
                </a:solidFill>
                <a:latin typeface="-apple-system"/>
              </a:rPr>
              <a:t>Vitis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는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PS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에서 실행되는 소프트웨어를 개발하는 데 </a:t>
            </a:r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사용</a:t>
            </a: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. </a:t>
            </a:r>
          </a:p>
          <a:p>
            <a:pPr fontAlgn="base"/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그러나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두 시스템은 서로 밀접하게 연결되어 있으며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종종 </a:t>
            </a:r>
            <a:r>
              <a:rPr lang="en-US" altLang="ko-KR" sz="1400" dirty="0" err="1">
                <a:solidFill>
                  <a:srgbClr val="000000"/>
                </a:solidFill>
                <a:latin typeface="-apple-system"/>
              </a:rPr>
              <a:t>Vivado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를 </a:t>
            </a: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/>
            </a:r>
            <a:br>
              <a:rPr lang="en-US" altLang="ko-KR" sz="1400" dirty="0" smtClean="0">
                <a:solidFill>
                  <a:srgbClr val="000000"/>
                </a:solidFill>
                <a:latin typeface="-apple-system"/>
              </a:rPr>
            </a:br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사용하여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PS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와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PL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사이의 인터페이스를 설정하고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, </a:t>
            </a:r>
            <a:r>
              <a:rPr lang="en-US" altLang="ko-KR" sz="1400" dirty="0" err="1">
                <a:solidFill>
                  <a:srgbClr val="000000"/>
                </a:solidFill>
                <a:latin typeface="-apple-system"/>
              </a:rPr>
              <a:t>Vitis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를 사용하여 </a:t>
            </a: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/>
            </a:r>
            <a:br>
              <a:rPr lang="en-US" altLang="ko-KR" sz="1400" dirty="0" smtClean="0">
                <a:solidFill>
                  <a:srgbClr val="000000"/>
                </a:solidFill>
                <a:latin typeface="-apple-system"/>
              </a:rPr>
            </a:b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PS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에서 실행되는 소프트웨어와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PL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에서 실행되는 하드웨어 </a:t>
            </a:r>
            <a:r>
              <a:rPr lang="ko-KR" altLang="en-US" sz="1400" dirty="0" err="1">
                <a:solidFill>
                  <a:srgbClr val="000000"/>
                </a:solidFill>
                <a:latin typeface="-apple-system"/>
              </a:rPr>
              <a:t>로직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 간의 </a:t>
            </a: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/>
            </a:r>
            <a:br>
              <a:rPr lang="en-US" altLang="ko-KR" sz="1400" dirty="0" smtClean="0">
                <a:solidFill>
                  <a:srgbClr val="000000"/>
                </a:solidFill>
                <a:latin typeface="-apple-system"/>
              </a:rPr>
            </a:br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상호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작용을 </a:t>
            </a:r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관리한다</a:t>
            </a: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. </a:t>
            </a:r>
            <a:endParaRPr lang="ko-KR" altLang="en-US" sz="1400" dirty="0">
              <a:solidFill>
                <a:srgbClr val="8A837E"/>
              </a:solidFill>
              <a:latin typeface="se-nanumgothic"/>
            </a:endParaRPr>
          </a:p>
          <a:p>
            <a:pPr fontAlgn="base"/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​</a:t>
            </a:r>
            <a:endParaRPr lang="ko-KR" altLang="en-US" sz="1400" b="0" i="0" dirty="0">
              <a:solidFill>
                <a:srgbClr val="000000"/>
              </a:solidFill>
              <a:effectLst/>
              <a:latin typeface="Dotum" panose="020B0600000101010101" pitchFamily="50" charset="-127"/>
              <a:ea typeface="Dotum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20547" y="198231"/>
            <a:ext cx="6096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sz="2400" b="1" dirty="0" err="1" smtClean="0">
                <a:solidFill>
                  <a:srgbClr val="000000"/>
                </a:solidFill>
                <a:latin typeface="-apple-system"/>
              </a:rPr>
              <a:t>Vivado</a:t>
            </a:r>
            <a:r>
              <a:rPr lang="ko-KR" altLang="en-US" sz="2400" b="1" dirty="0" smtClean="0">
                <a:solidFill>
                  <a:srgbClr val="000000"/>
                </a:solidFill>
                <a:latin typeface="-apple-system"/>
              </a:rPr>
              <a:t>와  </a:t>
            </a:r>
            <a:r>
              <a:rPr lang="en-US" altLang="ko-KR" sz="2400" b="1" dirty="0" err="1" smtClean="0">
                <a:solidFill>
                  <a:srgbClr val="000000"/>
                </a:solidFill>
                <a:latin typeface="-apple-system"/>
              </a:rPr>
              <a:t>Vitis</a:t>
            </a:r>
            <a:r>
              <a:rPr lang="ko-KR" altLang="en-US" sz="2400" b="1" dirty="0" smtClean="0">
                <a:solidFill>
                  <a:srgbClr val="000000"/>
                </a:solidFill>
                <a:latin typeface="-apple-system"/>
              </a:rPr>
              <a:t>에 대해서 </a:t>
            </a:r>
            <a:endParaRPr lang="en-US" altLang="ko-KR" sz="2400" b="1" dirty="0" smtClean="0">
              <a:solidFill>
                <a:srgbClr val="000000"/>
              </a:solidFill>
              <a:latin typeface="-apple-system"/>
            </a:endParaRPr>
          </a:p>
          <a:p>
            <a:pPr fontAlgn="base"/>
            <a:endParaRPr lang="en-US" altLang="ko-KR" sz="1400" dirty="0">
              <a:solidFill>
                <a:srgbClr val="000000"/>
              </a:solidFill>
              <a:latin typeface="-apple-system"/>
            </a:endParaRPr>
          </a:p>
          <a:p>
            <a:pPr fontAlgn="base"/>
            <a:r>
              <a:rPr lang="en-US" altLang="ko-KR" sz="1400" dirty="0" err="1" smtClean="0">
                <a:solidFill>
                  <a:srgbClr val="000000"/>
                </a:solidFill>
                <a:latin typeface="-apple-system"/>
              </a:rPr>
              <a:t>Vivado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와 </a:t>
            </a:r>
            <a:r>
              <a:rPr lang="en-US" altLang="ko-KR" sz="1400" dirty="0" err="1">
                <a:solidFill>
                  <a:srgbClr val="000000"/>
                </a:solidFill>
                <a:latin typeface="-apple-system"/>
              </a:rPr>
              <a:t>Vitis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는 모두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Xilinx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가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FPGA(</a:t>
            </a:r>
            <a:r>
              <a:rPr lang="en-US" altLang="ko-KR" sz="1400" dirty="0" err="1">
                <a:solidFill>
                  <a:srgbClr val="000000"/>
                </a:solidFill>
                <a:latin typeface="-apple-system"/>
              </a:rPr>
              <a:t>Fiel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-Programmable Gate Array) </a:t>
            </a:r>
            <a:endParaRPr lang="en-US" altLang="ko-KR" sz="1400" dirty="0" smtClean="0">
              <a:solidFill>
                <a:srgbClr val="000000"/>
              </a:solidFill>
              <a:latin typeface="-apple-system"/>
            </a:endParaRPr>
          </a:p>
          <a:p>
            <a:pPr fontAlgn="base"/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개발을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위해 제공하는 </a:t>
            </a:r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도구</a:t>
            </a: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.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각 도구의 주요 사용 용도와 차이는 다음과 </a:t>
            </a:r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같다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.</a:t>
            </a:r>
            <a:endParaRPr lang="ko-KR" altLang="en-US" sz="1400" dirty="0">
              <a:solidFill>
                <a:srgbClr val="8A837E"/>
              </a:solidFill>
              <a:latin typeface="se-nanumgothic"/>
            </a:endParaRPr>
          </a:p>
          <a:p>
            <a:pPr fontAlgn="base"/>
            <a:r>
              <a:rPr lang="ko-KR" altLang="en-US" dirty="0">
                <a:solidFill>
                  <a:srgbClr val="000000"/>
                </a:solidFill>
                <a:latin typeface="-apple-system"/>
              </a:rPr>
              <a:t>​</a:t>
            </a:r>
            <a:endParaRPr lang="ko-KR" altLang="en-US" dirty="0">
              <a:solidFill>
                <a:srgbClr val="8A837E"/>
              </a:solidFill>
              <a:latin typeface="se-nanumgothic"/>
            </a:endParaRPr>
          </a:p>
          <a:p>
            <a:pPr fontAlgn="base"/>
            <a:r>
              <a:rPr lang="en-US" altLang="ko-KR" sz="1400" b="1" dirty="0" err="1" smtClean="0">
                <a:solidFill>
                  <a:srgbClr val="000000"/>
                </a:solidFill>
                <a:latin typeface="inherit"/>
              </a:rPr>
              <a:t>Vivado</a:t>
            </a: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:</a:t>
            </a:r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Xilinx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의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FPGA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디자인 및 논리 합성 </a:t>
            </a:r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도구</a:t>
            </a: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.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이 도구를 사용하면 디자인을 직접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FPGA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에 구현하고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논리를 합성하며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타이밍 분석을 수행하고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, FPGA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의 물리적 배치를 정의할 수 </a:t>
            </a:r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있다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.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또한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, RTL(RTL, Register Transfer Level)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설계를 위한 하드웨어 설명 언어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예를 들어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VHDL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이나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Verilog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를 사용하여 사용자가 직접 </a:t>
            </a:r>
            <a:r>
              <a:rPr lang="ko-KR" altLang="en-US" sz="1400" dirty="0">
                <a:solidFill>
                  <a:srgbClr val="FF0000"/>
                </a:solidFill>
                <a:latin typeface="-apple-system"/>
              </a:rPr>
              <a:t>하드웨어 </a:t>
            </a:r>
            <a:r>
              <a:rPr lang="ko-KR" altLang="en-US" sz="1400" dirty="0" err="1">
                <a:solidFill>
                  <a:srgbClr val="FF0000"/>
                </a:solidFill>
                <a:latin typeface="-apple-system"/>
              </a:rPr>
              <a:t>로직을</a:t>
            </a:r>
            <a:r>
              <a:rPr lang="ko-KR" altLang="en-US" sz="1400" dirty="0">
                <a:solidFill>
                  <a:srgbClr val="FF0000"/>
                </a:solidFill>
                <a:latin typeface="-apple-system"/>
              </a:rPr>
              <a:t> </a:t>
            </a:r>
            <a:r>
              <a:rPr lang="ko-KR" altLang="en-US" sz="1400" dirty="0" smtClean="0">
                <a:solidFill>
                  <a:srgbClr val="FF0000"/>
                </a:solidFill>
                <a:latin typeface="-apple-system"/>
              </a:rPr>
              <a:t>설계 </a:t>
            </a:r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할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수 </a:t>
            </a:r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있다</a:t>
            </a: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.</a:t>
            </a:r>
          </a:p>
          <a:p>
            <a:pPr fontAlgn="base"/>
            <a:endParaRPr lang="ko-KR" altLang="en-US" sz="1400" dirty="0">
              <a:solidFill>
                <a:srgbClr val="8A837E"/>
              </a:solidFill>
              <a:latin typeface="se-nanumgothic"/>
            </a:endParaRPr>
          </a:p>
          <a:p>
            <a:pPr fontAlgn="base"/>
            <a:r>
              <a:rPr lang="en-US" altLang="ko-KR" sz="1400" b="1" dirty="0" err="1">
                <a:solidFill>
                  <a:srgbClr val="000000"/>
                </a:solidFill>
                <a:latin typeface="inherit"/>
              </a:rPr>
              <a:t>Vitis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: </a:t>
            </a:r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Xilinx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의 소프트웨어 설계 스택으로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, FPGA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에서 실행되는 애플리케이션을 개발하는 데 </a:t>
            </a:r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사용</a:t>
            </a: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. </a:t>
            </a:r>
            <a:r>
              <a:rPr lang="en-US" altLang="ko-KR" sz="1400" dirty="0" err="1">
                <a:solidFill>
                  <a:srgbClr val="000000"/>
                </a:solidFill>
                <a:latin typeface="-apple-system"/>
              </a:rPr>
              <a:t>Vitis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는 다양한 종류의 처리 요소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(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예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: CPUs, GPUs, FPGAs)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에 대해 단일 개발 환경을 </a:t>
            </a:r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제공</a:t>
            </a: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.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소프트웨어 개발자가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C, C++, </a:t>
            </a:r>
            <a:r>
              <a:rPr lang="en-US" altLang="ko-KR" sz="1400" dirty="0" err="1">
                <a:solidFill>
                  <a:srgbClr val="000000"/>
                </a:solidFill>
                <a:latin typeface="-apple-system"/>
              </a:rPr>
              <a:t>OpenCL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, Python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등의 고수준 언어를 사용하여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FPGA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에 애플리케이션을 개발하고 최적화할 수 </a:t>
            </a:r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있다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. </a:t>
            </a:r>
            <a:r>
              <a:rPr lang="en-US" altLang="ko-KR" sz="1400" dirty="0" err="1">
                <a:solidFill>
                  <a:srgbClr val="000000"/>
                </a:solidFill>
                <a:latin typeface="-apple-system"/>
              </a:rPr>
              <a:t>Vitis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는 또한 라이브러리 세트를 제공하여 알고리즘을 빠르게 구현하고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기계 학습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이미지 처리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데이터 분석 등의 고수준 도메인에 대한 최적화를 </a:t>
            </a:r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제공</a:t>
            </a:r>
            <a:r>
              <a:rPr lang="en-US" altLang="ko-KR" sz="1400" dirty="0" smtClean="0">
                <a:solidFill>
                  <a:srgbClr val="000000"/>
                </a:solidFill>
                <a:latin typeface="-apple-system"/>
              </a:rPr>
              <a:t>.</a:t>
            </a:r>
            <a:endParaRPr lang="ko-KR" altLang="en-US" sz="1400" dirty="0">
              <a:solidFill>
                <a:srgbClr val="8A837E"/>
              </a:solidFill>
              <a:latin typeface="se-nanumgothic"/>
            </a:endParaRPr>
          </a:p>
          <a:p>
            <a:pPr fontAlgn="base"/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​</a:t>
            </a:r>
            <a:endParaRPr lang="ko-KR" altLang="en-US" sz="1400" dirty="0">
              <a:solidFill>
                <a:srgbClr val="8A837E"/>
              </a:solidFill>
              <a:latin typeface="se-nanumgothic"/>
            </a:endParaRPr>
          </a:p>
          <a:p>
            <a:pPr fontAlgn="base"/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요약하면</a:t>
            </a:r>
            <a:r>
              <a:rPr lang="en-US" altLang="ko-KR" sz="1400" dirty="0">
                <a:solidFill>
                  <a:srgbClr val="FF0000"/>
                </a:solidFill>
                <a:latin typeface="-apple-system"/>
              </a:rPr>
              <a:t>, </a:t>
            </a:r>
            <a:r>
              <a:rPr lang="en-US" altLang="ko-KR" sz="1400" dirty="0" err="1">
                <a:solidFill>
                  <a:srgbClr val="FF0000"/>
                </a:solidFill>
                <a:latin typeface="-apple-system"/>
              </a:rPr>
              <a:t>Vivado</a:t>
            </a:r>
            <a:r>
              <a:rPr lang="ko-KR" altLang="en-US" sz="1400" dirty="0">
                <a:solidFill>
                  <a:srgbClr val="FF0000"/>
                </a:solidFill>
                <a:latin typeface="-apple-system"/>
              </a:rPr>
              <a:t>는 </a:t>
            </a:r>
            <a:r>
              <a:rPr lang="en-US" altLang="ko-KR" sz="1400" dirty="0">
                <a:solidFill>
                  <a:srgbClr val="FF0000"/>
                </a:solidFill>
                <a:latin typeface="-apple-system"/>
              </a:rPr>
              <a:t>FPGA</a:t>
            </a:r>
            <a:r>
              <a:rPr lang="ko-KR" altLang="en-US" sz="1400" dirty="0">
                <a:solidFill>
                  <a:srgbClr val="FF0000"/>
                </a:solidFill>
                <a:latin typeface="-apple-system"/>
              </a:rPr>
              <a:t>의 하드웨어 설계 및 구현을 위한 도구이고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, </a:t>
            </a:r>
            <a:r>
              <a:rPr lang="en-US" altLang="ko-KR" sz="1400" dirty="0" err="1">
                <a:solidFill>
                  <a:srgbClr val="FF0000"/>
                </a:solidFill>
                <a:latin typeface="-apple-system"/>
              </a:rPr>
              <a:t>Vitis</a:t>
            </a:r>
            <a:r>
              <a:rPr lang="ko-KR" altLang="en-US" sz="1400" dirty="0">
                <a:solidFill>
                  <a:srgbClr val="FF0000"/>
                </a:solidFill>
                <a:latin typeface="-apple-system"/>
              </a:rPr>
              <a:t>는 </a:t>
            </a:r>
            <a:r>
              <a:rPr lang="en-US" altLang="ko-KR" sz="1400" dirty="0">
                <a:solidFill>
                  <a:srgbClr val="FF0000"/>
                </a:solidFill>
                <a:latin typeface="-apple-system"/>
              </a:rPr>
              <a:t>FPGA</a:t>
            </a:r>
            <a:r>
              <a:rPr lang="ko-KR" altLang="en-US" sz="1400" dirty="0">
                <a:solidFill>
                  <a:srgbClr val="FF0000"/>
                </a:solidFill>
                <a:latin typeface="-apple-system"/>
              </a:rPr>
              <a:t>에서 실행되는 소프트웨어 애플리케이션을 개발하는 </a:t>
            </a:r>
            <a:r>
              <a:rPr lang="ko-KR" altLang="en-US" sz="1400" dirty="0" smtClean="0">
                <a:solidFill>
                  <a:srgbClr val="FF0000"/>
                </a:solidFill>
                <a:latin typeface="-apple-system"/>
              </a:rPr>
              <a:t>도구</a:t>
            </a:r>
            <a:r>
              <a:rPr lang="ko-KR" altLang="en-US" sz="1400" dirty="0">
                <a:solidFill>
                  <a:srgbClr val="FF0000"/>
                </a:solidFill>
                <a:latin typeface="-apple-system"/>
              </a:rPr>
              <a:t>이</a:t>
            </a:r>
            <a:r>
              <a:rPr lang="ko-KR" altLang="en-US" sz="1400" dirty="0" smtClean="0">
                <a:solidFill>
                  <a:srgbClr val="FF0000"/>
                </a:solidFill>
                <a:latin typeface="-apple-system"/>
              </a:rPr>
              <a:t>다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.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따라서 이 두 도구는 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FPGA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개발의 다른 측면을 각각 다루며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종종 함께 사용되어 하드웨어와 소프트웨어를 모두 개발하는 통합 개발 환경을 제</a:t>
            </a:r>
            <a:endParaRPr lang="ko-KR" altLang="en-US" sz="1400" dirty="0">
              <a:solidFill>
                <a:srgbClr val="8A837E"/>
              </a:solidFill>
              <a:latin typeface="se-nanumgothic"/>
            </a:endParaRPr>
          </a:p>
          <a:p>
            <a:pPr fontAlgn="base"/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공합니다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.</a:t>
            </a:r>
            <a:endParaRPr lang="ko-KR" altLang="en-US" sz="1400" dirty="0">
              <a:solidFill>
                <a:srgbClr val="8A837E"/>
              </a:solidFill>
              <a:latin typeface="se-nanumgothic"/>
            </a:endParaRPr>
          </a:p>
          <a:p>
            <a:pPr fontAlgn="base"/>
            <a:r>
              <a:rPr lang="ko-KR" altLang="en-US" sz="1400" dirty="0" smtClean="0">
                <a:solidFill>
                  <a:srgbClr val="000000"/>
                </a:solidFill>
                <a:latin typeface="-apple-system"/>
              </a:rPr>
              <a:t>​​</a:t>
            </a:r>
            <a:endParaRPr lang="ko-KR" altLang="en-US" sz="1400" dirty="0">
              <a:solidFill>
                <a:srgbClr val="8A837E"/>
              </a:solidFill>
              <a:latin typeface="se-nanumgothic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935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4004" y="1941028"/>
            <a:ext cx="972573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 smtClean="0"/>
              <a:t>II. visual studio code  </a:t>
            </a:r>
            <a:r>
              <a:rPr lang="ko-KR" altLang="en-US" sz="6000" dirty="0" smtClean="0"/>
              <a:t>설치 </a:t>
            </a:r>
            <a:endParaRPr lang="en-US" altLang="ko-KR" sz="6000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691213" y="3310633"/>
            <a:ext cx="75841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주의사항 : 반드시 </a:t>
            </a:r>
            <a:r>
              <a:rPr kumimoji="0" lang="ko-KR" altLang="ko-KR" sz="20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Xilinx</a:t>
            </a:r>
            <a: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사의 </a:t>
            </a:r>
            <a:r>
              <a:rPr kumimoji="0" lang="ko-KR" altLang="ko-KR" sz="20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Vivado가</a:t>
            </a:r>
            <a: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lang="ko-KR" altLang="en-US" sz="2000" dirty="0" smtClean="0">
                <a:solidFill>
                  <a:srgbClr val="FF0000"/>
                </a:solidFill>
                <a:latin typeface="Arial Unicode MS"/>
              </a:rPr>
              <a:t>설치 되어 </a:t>
            </a:r>
            <a: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있어야 한다!!!</a:t>
            </a:r>
            <a:endParaRPr kumimoji="0" lang="ko-KR" altLang="ko-KR" sz="20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887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8180" y="398986"/>
            <a:ext cx="8642751" cy="1969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3200" dirty="0" err="1" smtClean="0">
                <a:solidFill>
                  <a:srgbClr val="FF0000"/>
                </a:solidFill>
              </a:rPr>
              <a:t>Xvlog</a:t>
            </a:r>
            <a:r>
              <a:rPr lang="en-US" altLang="ko-KR" sz="3200" dirty="0" smtClean="0">
                <a:solidFill>
                  <a:srgbClr val="FF0000"/>
                </a:solidFill>
              </a:rPr>
              <a:t> </a:t>
            </a:r>
            <a:r>
              <a:rPr lang="ko-KR" altLang="en-US" sz="3200" dirty="0" smtClean="0">
                <a:solidFill>
                  <a:srgbClr val="FF0000"/>
                </a:solidFill>
              </a:rPr>
              <a:t>환경 설정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- </a:t>
            </a:r>
            <a:r>
              <a:rPr lang="en-US" altLang="ko-KR" dirty="0" err="1"/>
              <a:t>Xvlog</a:t>
            </a:r>
            <a:r>
              <a:rPr lang="ko-KR" altLang="en-US" dirty="0"/>
              <a:t>는 </a:t>
            </a:r>
            <a:r>
              <a:rPr lang="en-US" altLang="ko-KR" dirty="0" err="1"/>
              <a:t>Vivado</a:t>
            </a:r>
            <a:r>
              <a:rPr lang="en-US" altLang="ko-KR" dirty="0"/>
              <a:t> </a:t>
            </a:r>
            <a:r>
              <a:rPr lang="ko-KR" altLang="en-US" dirty="0"/>
              <a:t>설치하면 같이 설치되기에 따로 설치할 </a:t>
            </a:r>
            <a:r>
              <a:rPr lang="ko-KR" altLang="en-US" dirty="0" smtClean="0"/>
              <a:t>필요가 없다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 (1) </a:t>
            </a:r>
            <a:r>
              <a:rPr lang="ko-KR" altLang="en-US" dirty="0" smtClean="0"/>
              <a:t>윈도우 탐색기로 가서 </a:t>
            </a:r>
            <a:r>
              <a:rPr lang="en-US" altLang="ko-KR" dirty="0"/>
              <a:t>C:\Xilinx\Vivado\Vivado </a:t>
            </a:r>
            <a:r>
              <a:rPr lang="ko-KR" altLang="en-US" dirty="0"/>
              <a:t>설치 버전</a:t>
            </a:r>
            <a:r>
              <a:rPr lang="en-US" altLang="ko-KR" dirty="0"/>
              <a:t>\</a:t>
            </a:r>
            <a:r>
              <a:rPr lang="en-US" altLang="ko-KR" dirty="0" smtClean="0"/>
              <a:t>bin</a:t>
            </a:r>
            <a:r>
              <a:rPr lang="ko-KR" altLang="en-US" dirty="0" smtClean="0"/>
              <a:t>으로 가서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      </a:t>
            </a:r>
            <a:r>
              <a:rPr lang="ko-KR" altLang="en-US" dirty="0" smtClean="0"/>
              <a:t>아래의 파일이 존재 하는지 확인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   </a:t>
            </a:r>
            <a:br>
              <a:rPr lang="en-US" altLang="ko-KR" dirty="0" smtClean="0"/>
            </a:br>
            <a:r>
              <a:rPr lang="en-US" altLang="ko-KR" dirty="0" smtClean="0"/>
              <a:t>     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115" y="1972059"/>
            <a:ext cx="6269229" cy="1612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0115" y="4081806"/>
            <a:ext cx="54668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(2) </a:t>
            </a:r>
            <a:r>
              <a:rPr lang="ko-KR" altLang="en-US" dirty="0" smtClean="0"/>
              <a:t>설치 경로 복사</a:t>
            </a:r>
            <a:r>
              <a:rPr lang="en-US" altLang="ko-KR" dirty="0" smtClean="0"/>
              <a:t>:  </a:t>
            </a:r>
            <a:r>
              <a:rPr lang="en-US" altLang="ko-KR" dirty="0"/>
              <a:t>C:\</a:t>
            </a:r>
            <a:r>
              <a:rPr lang="en-US" altLang="ko-KR" dirty="0" smtClean="0"/>
              <a:t>Xilinx\Vivado\2021.1\bin</a:t>
            </a:r>
          </a:p>
          <a:p>
            <a:r>
              <a:rPr lang="en-US" altLang="ko-KR" dirty="0" smtClean="0"/>
              <a:t>(3) Windows </a:t>
            </a:r>
            <a:r>
              <a:rPr lang="en-US" altLang="ko-KR" dirty="0"/>
              <a:t>'</a:t>
            </a:r>
            <a:r>
              <a:rPr lang="ko-KR" altLang="en-US" dirty="0"/>
              <a:t>시스템 환경 변수 편집</a:t>
            </a:r>
            <a:r>
              <a:rPr lang="en-US" altLang="ko-KR" dirty="0"/>
              <a:t>' </a:t>
            </a:r>
            <a:r>
              <a:rPr lang="ko-KR" altLang="en-US" dirty="0" smtClean="0"/>
              <a:t>들어가기</a:t>
            </a:r>
            <a:endParaRPr lang="en-US" altLang="ko-KR" dirty="0" smtClean="0"/>
          </a:p>
          <a:p>
            <a:r>
              <a:rPr lang="en-US" altLang="ko-KR" dirty="0" smtClean="0"/>
              <a:t>(4) </a:t>
            </a:r>
            <a:r>
              <a:rPr lang="ko-KR" altLang="en-US" dirty="0" smtClean="0"/>
              <a:t>윈도우 키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환경변수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705" y="3786575"/>
            <a:ext cx="4589468" cy="2991578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221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2983" y="2614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1359" y="990784"/>
            <a:ext cx="5058481" cy="26292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6204" y="466077"/>
            <a:ext cx="7274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(5) </a:t>
            </a:r>
            <a:r>
              <a:rPr lang="ko-KR" altLang="en-US" sz="1400" dirty="0" smtClean="0"/>
              <a:t>명령 프롬프트</a:t>
            </a:r>
            <a:r>
              <a:rPr lang="en-US" altLang="ko-KR" sz="1400" dirty="0"/>
              <a:t> </a:t>
            </a:r>
            <a:r>
              <a:rPr lang="ko-KR" altLang="en-US" sz="1400" dirty="0" smtClean="0"/>
              <a:t>관리자 권한 으로 </a:t>
            </a:r>
            <a:r>
              <a:rPr lang="en-US" altLang="ko-KR" sz="1400" dirty="0" err="1">
                <a:solidFill>
                  <a:srgbClr val="FF0000"/>
                </a:solidFill>
              </a:rPr>
              <a:t>xvlog</a:t>
            </a:r>
            <a:r>
              <a:rPr lang="en-US" altLang="ko-KR" sz="1400" dirty="0">
                <a:solidFill>
                  <a:srgbClr val="FF0000"/>
                </a:solidFill>
              </a:rPr>
              <a:t> -version</a:t>
            </a:r>
            <a:r>
              <a:rPr lang="ko-KR" altLang="en-US" sz="1400" dirty="0" err="1"/>
              <a:t>입력시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제대로된</a:t>
            </a:r>
            <a:r>
              <a:rPr lang="ko-KR" altLang="en-US" sz="1400" dirty="0"/>
              <a:t> 버전이 나오면 성공</a:t>
            </a:r>
          </a:p>
          <a:p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6204" y="3727649"/>
            <a:ext cx="6654386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>
                <a:solidFill>
                  <a:srgbClr val="FF0000"/>
                </a:solidFill>
              </a:rPr>
              <a:t>2. vs code </a:t>
            </a:r>
            <a:r>
              <a:rPr lang="ko-KR" altLang="en-US" sz="3200" dirty="0" smtClean="0">
                <a:solidFill>
                  <a:srgbClr val="FF0000"/>
                </a:solidFill>
              </a:rPr>
              <a:t>설치</a:t>
            </a:r>
            <a:r>
              <a:rPr lang="en-US" altLang="ko-KR" dirty="0" smtClean="0"/>
              <a:t>:</a:t>
            </a:r>
            <a:r>
              <a:rPr lang="ko-KR" altLang="en-US" dirty="0" smtClean="0"/>
              <a:t> 아래 </a:t>
            </a:r>
            <a:r>
              <a:rPr lang="en-US" altLang="ko-KR" dirty="0" smtClean="0"/>
              <a:t>(1) </a:t>
            </a:r>
            <a:r>
              <a:rPr lang="ko-KR" altLang="en-US" dirty="0" smtClean="0"/>
              <a:t>또는 </a:t>
            </a:r>
            <a:r>
              <a:rPr lang="en-US" altLang="ko-KR" dirty="0" smtClean="0"/>
              <a:t>(2)</a:t>
            </a:r>
            <a:r>
              <a:rPr lang="ko-KR" altLang="en-US" dirty="0" smtClean="0"/>
              <a:t>로 들어가서 설치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   (1)</a:t>
            </a:r>
            <a:r>
              <a:rPr lang="ko-KR" altLang="en-US" dirty="0" smtClean="0"/>
              <a:t>바탕화면 하단 의 </a:t>
            </a:r>
            <a:r>
              <a:rPr lang="en-US" altLang="ko-KR" dirty="0" smtClean="0"/>
              <a:t>Micro soft store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775" y="3562948"/>
            <a:ext cx="3477110" cy="3295052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738117" y="4764962"/>
            <a:ext cx="367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(2) </a:t>
            </a:r>
            <a:r>
              <a:rPr lang="ko-KR" altLang="en-US" dirty="0" smtClean="0"/>
              <a:t>https</a:t>
            </a:r>
            <a:r>
              <a:rPr lang="ko-KR" altLang="en-US" dirty="0"/>
              <a:t>://code.visualstudio.com/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10" y="880461"/>
            <a:ext cx="3450113" cy="274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85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61257" y="346753"/>
            <a:ext cx="35187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200" b="1" dirty="0" smtClean="0">
                <a:solidFill>
                  <a:srgbClr val="FF0000"/>
                </a:solidFill>
                <a:latin typeface="+mn-ea"/>
              </a:rPr>
              <a:t>3. </a:t>
            </a:r>
            <a:r>
              <a:rPr lang="en-US" altLang="ko-KR" sz="3200" b="1" dirty="0">
                <a:solidFill>
                  <a:srgbClr val="FF0000"/>
                </a:solidFill>
                <a:latin typeface="+mn-ea"/>
              </a:rPr>
              <a:t>Extension </a:t>
            </a:r>
            <a:r>
              <a:rPr lang="ko-KR" altLang="en-US" sz="3200" b="1" dirty="0">
                <a:solidFill>
                  <a:srgbClr val="FF0000"/>
                </a:solidFill>
                <a:latin typeface="+mn-ea"/>
              </a:rPr>
              <a:t>설치</a:t>
            </a:r>
            <a:endParaRPr lang="ko-KR" altLang="en-US" sz="3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886" y="1190171"/>
            <a:ext cx="3584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</a:t>
            </a:r>
            <a:r>
              <a:rPr lang="en-US" altLang="ko-KR" dirty="0" smtClean="0"/>
              <a:t>s code</a:t>
            </a:r>
            <a:r>
              <a:rPr lang="ko-KR" altLang="en-US" dirty="0" smtClean="0"/>
              <a:t>실행 </a:t>
            </a:r>
            <a:r>
              <a:rPr lang="en-US" altLang="ko-KR" dirty="0" smtClean="0">
                <a:sym typeface="Wingdings" panose="05000000000000000000" pitchFamily="2" charset="2"/>
              </a:rPr>
              <a:t> (1)  (2)  (3) 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89" y="1730953"/>
            <a:ext cx="4334480" cy="3828716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341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750" y="165453"/>
            <a:ext cx="3186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   </a:t>
            </a:r>
            <a:r>
              <a:rPr lang="en-US" altLang="ko-KR" sz="2400" dirty="0" smtClean="0">
                <a:solidFill>
                  <a:srgbClr val="FF0000"/>
                </a:solidFill>
              </a:rPr>
              <a:t>4. </a:t>
            </a:r>
            <a:r>
              <a:rPr lang="en-US" altLang="ko-KR" sz="2400" dirty="0">
                <a:solidFill>
                  <a:srgbClr val="FF0000"/>
                </a:solidFill>
              </a:rPr>
              <a:t>Extension </a:t>
            </a:r>
            <a:r>
              <a:rPr lang="en-US" altLang="ko-KR" sz="2400" dirty="0" smtClean="0">
                <a:solidFill>
                  <a:srgbClr val="FF0000"/>
                </a:solidFill>
              </a:rPr>
              <a:t>Setting</a:t>
            </a:r>
            <a:endParaRPr lang="en-US" altLang="ko-KR" sz="2400" dirty="0">
              <a:solidFill>
                <a:srgbClr val="FF000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80856" y="62711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AutoNum type="arabicParenBoth"/>
            </a:pPr>
            <a:r>
              <a:rPr lang="en-US" altLang="ko-KR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Vs code</a:t>
            </a:r>
            <a:r>
              <a:rPr lang="ko-KR" altLang="en-US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를 실행 한다</a:t>
            </a:r>
            <a:r>
              <a:rPr lang="en-US" altLang="ko-KR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. </a:t>
            </a:r>
          </a:p>
          <a:p>
            <a:pPr marL="342900" indent="-342900">
              <a:buAutoNum type="arabicParenBoth"/>
            </a:pPr>
            <a:r>
              <a:rPr lang="en-US" altLang="ko-KR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(1)extension </a:t>
            </a:r>
            <a:r>
              <a:rPr lang="en-US" altLang="ko-KR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  <a:sym typeface="Wingdings" panose="05000000000000000000" pitchFamily="2" charset="2"/>
              </a:rPr>
              <a:t> (2)</a:t>
            </a:r>
            <a:r>
              <a:rPr lang="ko-KR" altLang="en-US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  <a:sym typeface="Wingdings" panose="05000000000000000000" pitchFamily="2" charset="2"/>
              </a:rPr>
              <a:t>설정을 누름</a:t>
            </a:r>
            <a:r>
              <a:rPr lang="en-US" altLang="ko-KR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  <a:sym typeface="Wingdings" panose="05000000000000000000" pitchFamily="2" charset="2"/>
              </a:rPr>
              <a:t>.</a:t>
            </a:r>
            <a:endParaRPr lang="en-US" altLang="ko-KR" sz="1400" dirty="0">
              <a:solidFill>
                <a:srgbClr val="121212"/>
              </a:solidFill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236979"/>
            <a:ext cx="3146086" cy="2913043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4387189" y="734839"/>
            <a:ext cx="23014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(3) setting</a:t>
            </a:r>
            <a:r>
              <a:rPr lang="ko-KR" altLang="en-US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을 선택 한다</a:t>
            </a:r>
            <a:r>
              <a:rPr lang="en-US" altLang="ko-KR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. </a:t>
            </a:r>
            <a:endParaRPr lang="en-US" altLang="ko-KR" sz="1400" dirty="0">
              <a:solidFill>
                <a:srgbClr val="121212"/>
              </a:solidFill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188" y="1236979"/>
            <a:ext cx="5140467" cy="3597488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078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80856" y="627118"/>
            <a:ext cx="78217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(4)  search </a:t>
            </a:r>
            <a:r>
              <a:rPr lang="ko-KR" altLang="en-US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창에서 </a:t>
            </a:r>
            <a:r>
              <a:rPr lang="en-US" altLang="ko-KR" sz="1400" dirty="0" err="1" smtClean="0">
                <a:solidFill>
                  <a:srgbClr val="FF0000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verilog</a:t>
            </a:r>
            <a:r>
              <a:rPr lang="ko-KR" altLang="en-US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를 입력 </a:t>
            </a:r>
            <a:r>
              <a:rPr lang="en-US" altLang="ko-KR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  <a:sym typeface="Wingdings" panose="05000000000000000000" pitchFamily="2" charset="2"/>
              </a:rPr>
              <a:t> Verilog&gt;</a:t>
            </a:r>
            <a:r>
              <a:rPr lang="en-US" altLang="ko-KR" sz="1400" dirty="0" err="1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  <a:sym typeface="Wingdings" panose="05000000000000000000" pitchFamily="2" charset="2"/>
              </a:rPr>
              <a:t>Linting:Linter</a:t>
            </a:r>
            <a:r>
              <a:rPr lang="ko-KR" altLang="en-US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  <a:sym typeface="Wingdings" panose="05000000000000000000" pitchFamily="2" charset="2"/>
              </a:rPr>
              <a:t>의 </a:t>
            </a:r>
            <a:r>
              <a:rPr lang="en-US" altLang="ko-KR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  <a:sym typeface="Wingdings" panose="05000000000000000000" pitchFamily="2" charset="2"/>
              </a:rPr>
              <a:t>option</a:t>
            </a:r>
            <a:r>
              <a:rPr lang="ko-KR" altLang="en-US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  <a:sym typeface="Wingdings" panose="05000000000000000000" pitchFamily="2" charset="2"/>
              </a:rPr>
              <a:t>을 </a:t>
            </a:r>
            <a:r>
              <a:rPr lang="en-US" altLang="ko-KR" sz="1400" dirty="0" err="1" smtClean="0">
                <a:solidFill>
                  <a:srgbClr val="FF0000"/>
                </a:solidFill>
                <a:latin typeface="Noto Serif KR" panose="02020200000000000000" pitchFamily="18" charset="-127"/>
                <a:ea typeface="Noto Serif KR" panose="02020200000000000000" pitchFamily="18" charset="-127"/>
                <a:sym typeface="Wingdings" panose="05000000000000000000" pitchFamily="2" charset="2"/>
              </a:rPr>
              <a:t>xvlog</a:t>
            </a:r>
            <a:r>
              <a:rPr lang="ko-KR" altLang="en-US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  <a:sym typeface="Wingdings" panose="05000000000000000000" pitchFamily="2" charset="2"/>
              </a:rPr>
              <a:t>로 설정 한다</a:t>
            </a:r>
            <a:r>
              <a:rPr lang="en-US" altLang="ko-KR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  <a:sym typeface="Wingdings" panose="05000000000000000000" pitchFamily="2" charset="2"/>
              </a:rPr>
              <a:t>.</a:t>
            </a:r>
            <a:r>
              <a:rPr lang="en-US" altLang="ko-KR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</a:p>
          <a:p>
            <a:r>
              <a:rPr lang="en-US" altLang="ko-KR" sz="1400" dirty="0" smtClean="0">
                <a:solidFill>
                  <a:srgbClr val="121212"/>
                </a:solidFill>
                <a:latin typeface="Noto Serif KR" panose="02020200000000000000" pitchFamily="18" charset="-127"/>
                <a:ea typeface="Noto Serif KR" panose="02020200000000000000" pitchFamily="18" charset="-127"/>
                <a:sym typeface="Wingdings" panose="05000000000000000000" pitchFamily="2" charset="2"/>
              </a:rPr>
              <a:t>.</a:t>
            </a:r>
            <a:endParaRPr lang="en-US" altLang="ko-KR" sz="1400" dirty="0">
              <a:solidFill>
                <a:srgbClr val="121212"/>
              </a:solidFill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30" y="1088783"/>
            <a:ext cx="7619194" cy="5523684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607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40123" y="263051"/>
            <a:ext cx="78217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5. </a:t>
            </a:r>
            <a:r>
              <a:rPr lang="en-US" altLang="ko-KR" dirty="0">
                <a:solidFill>
                  <a:srgbClr val="FF0000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lang="en-US" altLang="ko-KR" dirty="0" err="1" smtClean="0">
                <a:solidFill>
                  <a:srgbClr val="FF0000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vivado</a:t>
            </a:r>
            <a:r>
              <a:rPr lang="en-US" altLang="ko-KR" dirty="0" smtClean="0">
                <a:solidFill>
                  <a:srgbClr val="FF0000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설정</a:t>
            </a:r>
            <a:endParaRPr lang="en-US" altLang="ko-KR" dirty="0" smtClean="0">
              <a:solidFill>
                <a:srgbClr val="FF0000"/>
              </a:solidFill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58670" y="632383"/>
            <a:ext cx="1151561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/>
              <a:t>★Windows</a:t>
            </a:r>
            <a:r>
              <a:rPr lang="ko-KR" altLang="en-US" sz="1200" dirty="0"/>
              <a:t>에서 </a:t>
            </a:r>
            <a:r>
              <a:rPr lang="en-US" altLang="ko-KR" sz="1200" dirty="0"/>
              <a:t>VS Code </a:t>
            </a:r>
            <a:r>
              <a:rPr lang="ko-KR" altLang="en-US" sz="1200" dirty="0"/>
              <a:t>설치 경로 찾는 방법</a:t>
            </a:r>
            <a:endParaRPr lang="en-US" altLang="ko-KR" sz="1200" dirty="0"/>
          </a:p>
          <a:p>
            <a:r>
              <a:rPr lang="en-US" altLang="ko-KR" sz="1200" dirty="0" smtClean="0"/>
              <a:t> </a:t>
            </a:r>
            <a:r>
              <a:rPr lang="en-US" altLang="ko-KR" sz="1200" dirty="0"/>
              <a:t>"Visual Studio Code" </a:t>
            </a:r>
            <a:r>
              <a:rPr lang="ko-KR" altLang="en-US" sz="1200" dirty="0"/>
              <a:t>아이콘 </a:t>
            </a:r>
            <a:r>
              <a:rPr lang="ko-KR" altLang="en-US" sz="1200" dirty="0" err="1"/>
              <a:t>우클릭</a:t>
            </a:r>
            <a:r>
              <a:rPr lang="ko-KR" altLang="en-US" sz="1200" dirty="0"/>
              <a:t> </a:t>
            </a:r>
            <a:r>
              <a:rPr lang="en-US" altLang="ko-KR" sz="1200" dirty="0" smtClean="0">
                <a:sym typeface="Wingdings" panose="05000000000000000000" pitchFamily="2" charset="2"/>
              </a:rPr>
              <a:t> </a:t>
            </a:r>
            <a:r>
              <a:rPr lang="ko-KR" altLang="en-US" sz="1200" dirty="0" smtClean="0">
                <a:sym typeface="Wingdings" panose="05000000000000000000" pitchFamily="2" charset="2"/>
              </a:rPr>
              <a:t>속성 </a:t>
            </a:r>
            <a:r>
              <a:rPr lang="en-US" altLang="ko-KR" sz="1200" dirty="0" smtClean="0">
                <a:sym typeface="Wingdings" panose="05000000000000000000" pitchFamily="2" charset="2"/>
              </a:rPr>
              <a:t> </a:t>
            </a:r>
            <a:r>
              <a:rPr lang="ko-KR" altLang="en-US" sz="1200" dirty="0" smtClean="0">
                <a:sym typeface="Wingdings" panose="05000000000000000000" pitchFamily="2" charset="2"/>
              </a:rPr>
              <a:t>대상 창에 있는 내용을 복사 하면 된다</a:t>
            </a:r>
            <a:r>
              <a:rPr lang="en-US" altLang="ko-KR" sz="1200" dirty="0" smtClean="0">
                <a:sym typeface="Wingdings" panose="05000000000000000000" pitchFamily="2" charset="2"/>
              </a:rPr>
              <a:t>. </a:t>
            </a:r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1. </a:t>
            </a:r>
            <a:r>
              <a:rPr lang="en-US" altLang="ko-KR" sz="1200" dirty="0" err="1" smtClean="0"/>
              <a:t>Vivido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실행 </a:t>
            </a:r>
            <a:r>
              <a:rPr lang="en-US" altLang="ko-KR" sz="1200" dirty="0" smtClean="0">
                <a:sym typeface="Wingdings" panose="05000000000000000000" pitchFamily="2" charset="2"/>
              </a:rPr>
              <a:t>  Tools  Settings   Text Editor  Current Editor  Custom Editor </a:t>
            </a:r>
          </a:p>
          <a:p>
            <a:endParaRPr lang="en-US" altLang="ko-KR" sz="1200" dirty="0">
              <a:sym typeface="Wingdings" panose="05000000000000000000" pitchFamily="2" charset="2"/>
            </a:endParaRPr>
          </a:p>
          <a:p>
            <a:r>
              <a:rPr lang="en-US" altLang="ko-KR" sz="1200" dirty="0" smtClean="0">
                <a:sym typeface="Wingdings" panose="05000000000000000000" pitchFamily="2" charset="2"/>
              </a:rPr>
              <a:t>2. </a:t>
            </a:r>
            <a:r>
              <a:rPr lang="ko-KR" altLang="en-US" sz="1200" dirty="0" smtClean="0">
                <a:sym typeface="Wingdings" panose="05000000000000000000" pitchFamily="2" charset="2"/>
              </a:rPr>
              <a:t>상기와 같이 </a:t>
            </a:r>
            <a:r>
              <a:rPr lang="en-US" altLang="ko-KR" sz="1200" dirty="0" smtClean="0">
                <a:sym typeface="Wingdings" panose="05000000000000000000" pitchFamily="2" charset="2"/>
              </a:rPr>
              <a:t>vs code </a:t>
            </a:r>
            <a:r>
              <a:rPr lang="ko-KR" altLang="en-US" sz="1200" dirty="0">
                <a:sym typeface="Wingdings" panose="05000000000000000000" pitchFamily="2" charset="2"/>
              </a:rPr>
              <a:t> </a:t>
            </a:r>
            <a:r>
              <a:rPr lang="ko-KR" altLang="en-US" sz="1200" dirty="0" smtClean="0">
                <a:sym typeface="Wingdings" panose="05000000000000000000" pitchFamily="2" charset="2"/>
              </a:rPr>
              <a:t>설치 위치를 알아 낸다</a:t>
            </a:r>
            <a:r>
              <a:rPr lang="en-US" altLang="ko-KR" sz="1200" dirty="0" smtClean="0">
                <a:sym typeface="Wingdings" panose="05000000000000000000" pitchFamily="2" charset="2"/>
              </a:rPr>
              <a:t>. </a:t>
            </a:r>
          </a:p>
          <a:p>
            <a:endParaRPr lang="en-US" altLang="ko-KR" sz="1200" dirty="0" smtClean="0">
              <a:sym typeface="Wingdings" panose="05000000000000000000" pitchFamily="2" charset="2"/>
            </a:endParaRPr>
          </a:p>
          <a:p>
            <a:r>
              <a:rPr lang="en-US" altLang="ko-KR" sz="1200" dirty="0" smtClean="0">
                <a:sym typeface="Wingdings" panose="05000000000000000000" pitchFamily="2" charset="2"/>
              </a:rPr>
              <a:t>3. </a:t>
            </a:r>
            <a:r>
              <a:rPr lang="ko-KR" altLang="en-US" sz="1200" dirty="0" smtClean="0">
                <a:sym typeface="Wingdings" panose="05000000000000000000" pitchFamily="2" charset="2"/>
              </a:rPr>
              <a:t>아래의 </a:t>
            </a:r>
            <a:r>
              <a:rPr lang="ko-KR" altLang="en-US" sz="1200" dirty="0" err="1" smtClean="0">
                <a:sym typeface="Wingdings" panose="05000000000000000000" pitchFamily="2" charset="2"/>
              </a:rPr>
              <a:t>화면창</a:t>
            </a:r>
            <a:r>
              <a:rPr lang="ko-KR" altLang="en-US" sz="1200" dirty="0" smtClean="0">
                <a:sym typeface="Wingdings" panose="05000000000000000000" pitchFamily="2" charset="2"/>
              </a:rPr>
              <a:t> </a:t>
            </a:r>
            <a:r>
              <a:rPr lang="en-US" altLang="ko-KR" sz="1200" dirty="0" smtClean="0">
                <a:sym typeface="Wingdings" panose="05000000000000000000" pitchFamily="2" charset="2"/>
              </a:rPr>
              <a:t>(1)</a:t>
            </a:r>
            <a:r>
              <a:rPr lang="ko-KR" altLang="en-US" sz="1200" dirty="0" smtClean="0">
                <a:sym typeface="Wingdings" panose="05000000000000000000" pitchFamily="2" charset="2"/>
              </a:rPr>
              <a:t>에 </a:t>
            </a:r>
            <a:r>
              <a:rPr lang="en-US" altLang="ko-KR" sz="1200" dirty="0" smtClean="0"/>
              <a:t>VSCODE </a:t>
            </a:r>
            <a:r>
              <a:rPr lang="ko-KR" altLang="en-US" sz="1200" dirty="0"/>
              <a:t>경로 </a:t>
            </a:r>
            <a:r>
              <a:rPr lang="ko-KR" altLang="en-US" sz="1200" dirty="0" smtClean="0"/>
              <a:t>위치</a:t>
            </a:r>
            <a:r>
              <a:rPr lang="en-US" altLang="ko-KR" sz="1200" dirty="0" smtClean="0"/>
              <a:t>＂</a:t>
            </a:r>
            <a:r>
              <a:rPr lang="en-US" altLang="ko-KR" sz="1200" dirty="0"/>
              <a:t> -g [file name]:[line number</a:t>
            </a:r>
            <a:r>
              <a:rPr lang="en-US" altLang="ko-KR" sz="1200" dirty="0" smtClean="0"/>
              <a:t>] </a:t>
            </a:r>
            <a:r>
              <a:rPr lang="ko-KR" altLang="en-US" sz="1200" dirty="0" smtClean="0"/>
              <a:t>를 입력 한다</a:t>
            </a:r>
            <a:r>
              <a:rPr lang="en-US" altLang="ko-KR" sz="1200" dirty="0" smtClean="0"/>
              <a:t>. </a:t>
            </a:r>
          </a:p>
          <a:p>
            <a:r>
              <a:rPr lang="ko-KR" altLang="en-US" dirty="0" smtClean="0"/>
              <a:t>예</a:t>
            </a:r>
            <a:r>
              <a:rPr lang="en-US" altLang="ko-KR" dirty="0" smtClean="0"/>
              <a:t>) </a:t>
            </a:r>
            <a:r>
              <a:rPr lang="en-US" altLang="ko-KR" dirty="0" smtClean="0">
                <a:solidFill>
                  <a:srgbClr val="FF0000"/>
                </a:solidFill>
              </a:rPr>
              <a:t>C</a:t>
            </a:r>
            <a:r>
              <a:rPr lang="en-US" altLang="ko-KR" dirty="0">
                <a:solidFill>
                  <a:srgbClr val="FF0000"/>
                </a:solidFill>
              </a:rPr>
              <a:t>:\Users\user\AppData\Local\Programs\Microsoft VS Code\Code.exe -g [file name]:[line number] </a:t>
            </a:r>
            <a:r>
              <a:rPr lang="en-US" altLang="ko-KR" dirty="0"/>
              <a:t> </a:t>
            </a:r>
            <a:endParaRPr lang="en-US" altLang="ko-KR" sz="1200" dirty="0">
              <a:solidFill>
                <a:srgbClr val="002060"/>
              </a:solidFill>
              <a:sym typeface="Wingdings" panose="05000000000000000000" pitchFamily="2" charset="2"/>
            </a:endParaRPr>
          </a:p>
          <a:p>
            <a:endParaRPr lang="ko-KR" altLang="en-US" sz="1200" dirty="0">
              <a:solidFill>
                <a:srgbClr val="002060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370" y="2982686"/>
            <a:ext cx="4488240" cy="3875314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614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73889" y="590309"/>
            <a:ext cx="5968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★★ </a:t>
            </a:r>
            <a:r>
              <a:rPr lang="en-US" altLang="ko-KR" dirty="0" smtClean="0">
                <a:solidFill>
                  <a:srgbClr val="FF0000"/>
                </a:solidFill>
              </a:rPr>
              <a:t>TEXT EDITOR</a:t>
            </a:r>
            <a:r>
              <a:rPr lang="ko-KR" altLang="en-US" dirty="0" smtClean="0">
                <a:solidFill>
                  <a:srgbClr val="FF0000"/>
                </a:solidFill>
              </a:rPr>
              <a:t>창의 글자 색이 흑백으로 </a:t>
            </a:r>
            <a:r>
              <a:rPr lang="ko-KR" altLang="en-US" dirty="0" err="1" smtClean="0">
                <a:solidFill>
                  <a:srgbClr val="FF0000"/>
                </a:solidFill>
              </a:rPr>
              <a:t>보일때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★★</a:t>
            </a:r>
            <a:endParaRPr lang="en-US" altLang="ko-KR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26" y="1932783"/>
            <a:ext cx="9697803" cy="44392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85732" y="1296365"/>
            <a:ext cx="4823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아래 확장 </a:t>
            </a:r>
            <a:r>
              <a:rPr lang="en-US" altLang="ko-KR" dirty="0" smtClean="0"/>
              <a:t>UTILTY</a:t>
            </a:r>
            <a:r>
              <a:rPr lang="ko-KR" altLang="en-US" dirty="0" smtClean="0"/>
              <a:t>를 삭제 후 다시 설치 한다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5264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3842" y="486458"/>
            <a:ext cx="98269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★★디렉토리 내의 어느 파일에 문자열이 있는지를 찾고자 </a:t>
            </a:r>
            <a:r>
              <a:rPr lang="ko-KR" altLang="en-US" dirty="0" err="1" smtClean="0">
                <a:solidFill>
                  <a:srgbClr val="FF0000"/>
                </a:solidFill>
              </a:rPr>
              <a:t>할때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en-US" altLang="ko-KR" dirty="0" err="1" smtClean="0">
                <a:solidFill>
                  <a:srgbClr val="FF0000"/>
                </a:solidFill>
              </a:rPr>
              <a:t>Ctrl+Shift+H</a:t>
            </a:r>
            <a:r>
              <a:rPr lang="en-US" altLang="ko-KR" dirty="0" smtClean="0">
                <a:solidFill>
                  <a:srgbClr val="FF0000"/>
                </a:solidFill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를 누른다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ko-KR" altLang="en-US" dirty="0" smtClean="0"/>
              <a:t>예</a:t>
            </a:r>
            <a:r>
              <a:rPr lang="en-US" altLang="ko-KR" dirty="0" smtClean="0"/>
              <a:t>) dht11_sensor </a:t>
            </a:r>
            <a:r>
              <a:rPr lang="ko-KR" altLang="en-US" dirty="0" smtClean="0"/>
              <a:t>를 찾고자 </a:t>
            </a:r>
            <a:r>
              <a:rPr lang="ko-KR" altLang="en-US" dirty="0" err="1" smtClean="0"/>
              <a:t>할때</a:t>
            </a:r>
            <a:r>
              <a:rPr lang="ko-KR" altLang="en-US" dirty="0" smtClean="0"/>
              <a:t> </a:t>
            </a:r>
            <a:r>
              <a:rPr lang="en-US" altLang="ko-KR" dirty="0" err="1" smtClean="0">
                <a:solidFill>
                  <a:srgbClr val="FF0000"/>
                </a:solidFill>
              </a:rPr>
              <a:t>Ctrl+Shift+h</a:t>
            </a:r>
            <a:r>
              <a:rPr lang="en-US" altLang="ko-KR" dirty="0" smtClean="0">
                <a:solidFill>
                  <a:srgbClr val="FF0000"/>
                </a:solidFill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를 누르면 아래와 같은 </a:t>
            </a:r>
            <a:r>
              <a:rPr lang="ko-KR" altLang="en-US" dirty="0" err="1" smtClean="0">
                <a:solidFill>
                  <a:srgbClr val="FF0000"/>
                </a:solidFill>
              </a:rPr>
              <a:t>검색창이</a:t>
            </a:r>
            <a:r>
              <a:rPr lang="ko-KR" altLang="en-US" dirty="0" smtClean="0">
                <a:solidFill>
                  <a:srgbClr val="FF0000"/>
                </a:solidFill>
              </a:rPr>
              <a:t> 나오면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    </a:t>
            </a:r>
            <a:r>
              <a:rPr lang="ko-KR" altLang="en-US" dirty="0" smtClean="0">
                <a:solidFill>
                  <a:srgbClr val="FF0000"/>
                </a:solidFill>
              </a:rPr>
              <a:t>문자열 </a:t>
            </a:r>
            <a:r>
              <a:rPr lang="en-US" altLang="ko-KR" dirty="0" smtClean="0"/>
              <a:t>dht11_sensor</a:t>
            </a:r>
            <a:r>
              <a:rPr lang="ko-KR" altLang="en-US" dirty="0" smtClean="0"/>
              <a:t>을 입력 한다</a:t>
            </a:r>
            <a:r>
              <a:rPr lang="en-US" altLang="ko-KR" dirty="0" smtClean="0"/>
              <a:t>. 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42" y="2177646"/>
            <a:ext cx="7404481" cy="4794496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3670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76410" y="2252351"/>
            <a:ext cx="1161991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 smtClean="0"/>
              <a:t>III. </a:t>
            </a:r>
            <a:r>
              <a:rPr lang="en-US" altLang="ko-KR" sz="6000" dirty="0" err="1" smtClean="0"/>
              <a:t>Vivado</a:t>
            </a:r>
            <a:r>
              <a:rPr lang="en-US" altLang="ko-KR" sz="6000" dirty="0" smtClean="0"/>
              <a:t> </a:t>
            </a:r>
            <a:r>
              <a:rPr lang="ko-KR" altLang="en-US" sz="6000" dirty="0" smtClean="0"/>
              <a:t>라이선스 에러 발생시 </a:t>
            </a:r>
            <a:endParaRPr lang="en-US" altLang="ko-KR" sz="6000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04120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708" y="1476796"/>
            <a:ext cx="8667692" cy="50053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9508" y="573481"/>
            <a:ext cx="7931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★ </a:t>
            </a:r>
            <a:r>
              <a:rPr lang="ko-KR" altLang="en-US" dirty="0" err="1" smtClean="0">
                <a:solidFill>
                  <a:srgbClr val="FF0000"/>
                </a:solidFill>
              </a:rPr>
              <a:t>합성시</a:t>
            </a:r>
            <a:r>
              <a:rPr lang="ko-KR" altLang="en-US" dirty="0" smtClean="0">
                <a:solidFill>
                  <a:srgbClr val="FF0000"/>
                </a:solidFill>
              </a:rPr>
              <a:t> 라이선스가 유효하지 않다는 에러가 발생시 대처 방법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0384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6" y="758840"/>
            <a:ext cx="4909743" cy="46309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381" y="758840"/>
            <a:ext cx="4866338" cy="4358444"/>
          </a:xfrm>
          <a:prstGeom prst="rect">
            <a:avLst/>
          </a:prstGeom>
        </p:spPr>
      </p:pic>
      <p:sp>
        <p:nvSpPr>
          <p:cNvPr id="5" name="오른쪽 화살표 4"/>
          <p:cNvSpPr/>
          <p:nvPr/>
        </p:nvSpPr>
        <p:spPr>
          <a:xfrm>
            <a:off x="5803900" y="2298700"/>
            <a:ext cx="774700" cy="939800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661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2397</TotalTime>
  <Words>952</Words>
  <Application>Microsoft Office PowerPoint</Application>
  <PresentationFormat>와이드스크린</PresentationFormat>
  <Paragraphs>144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8" baseType="lpstr">
      <vt:lpstr>-apple-system</vt:lpstr>
      <vt:lpstr>Arial Unicode MS</vt:lpstr>
      <vt:lpstr>inherit</vt:lpstr>
      <vt:lpstr>Noto Serif KR</vt:lpstr>
      <vt:lpstr>se-nanumgothic</vt:lpstr>
      <vt:lpstr>Dotum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user</cp:lastModifiedBy>
  <cp:revision>75</cp:revision>
  <dcterms:created xsi:type="dcterms:W3CDTF">2025-05-06T08:17:22Z</dcterms:created>
  <dcterms:modified xsi:type="dcterms:W3CDTF">2026-02-10T10:33:15Z</dcterms:modified>
</cp:coreProperties>
</file>