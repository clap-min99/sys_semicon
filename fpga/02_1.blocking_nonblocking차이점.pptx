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7" r:id="rId2"/>
    <p:sldId id="257" r:id="rId3"/>
    <p:sldId id="26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44310-E966-41A8-A96F-FC27C5536A94}" type="datetimeFigureOut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033F-297B-4CE0-8A49-8A271D9040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254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76C5A-E982-4164-9247-89933572B2A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47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EDB12-87CA-4E2E-93A7-A53D4B40CC2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7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13E30-A62D-477B-B6AB-845385A9F57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62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DB772-7B42-460F-A59E-AA2E21B9DD4B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30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6EA04-A9E3-4722-B22E-1283D4812994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90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669E6-F6B5-4F09-B4B3-4C9AF1C131A0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56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2B657-530A-4F35-93BE-3E3C1412D8EF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67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F67-05D7-402A-99AC-475F8F263734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69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E5A4-EBA8-42E7-B72A-3D8B2AC9BD2D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10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BFEFA-29E9-436B-AE58-4C20D08A1384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54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FFC7C-0F29-4490-8339-DCD8C12AC3DB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62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3D5ED-A34D-4681-917F-0578C1C3A35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93D03-106B-4198-8D85-F2B80FFE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85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9718" y="1654556"/>
            <a:ext cx="68716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순차회로에서의 </a:t>
            </a:r>
            <a:r>
              <a:rPr lang="en-US" altLang="ko-KR" sz="4000" dirty="0" smtClean="0"/>
              <a:t>blocking</a:t>
            </a:r>
          </a:p>
          <a:p>
            <a:r>
              <a:rPr lang="en-US" altLang="ko-KR" sz="4000" dirty="0"/>
              <a:t>n</a:t>
            </a:r>
            <a:r>
              <a:rPr lang="en-US" altLang="ko-KR" sz="4000" dirty="0" smtClean="0"/>
              <a:t>on blocking</a:t>
            </a:r>
            <a:r>
              <a:rPr lang="ko-KR" altLang="en-US" sz="4000" dirty="0" smtClean="0"/>
              <a:t> </a:t>
            </a:r>
            <a:r>
              <a:rPr lang="ko-KR" altLang="en-US" sz="4000" dirty="0" smtClean="0"/>
              <a:t>차이점 </a:t>
            </a:r>
            <a:endParaRPr lang="en-US" altLang="ko-KR" sz="4000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154634" y="4680946"/>
            <a:ext cx="35801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June 24, 2025</a:t>
            </a:r>
          </a:p>
          <a:p>
            <a:r>
              <a:rPr lang="en-US" altLang="ko-KR" dirty="0"/>
              <a:t>b</a:t>
            </a:r>
            <a:r>
              <a:rPr lang="en-US" altLang="ko-KR" dirty="0" smtClean="0"/>
              <a:t>y S.I.KWON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35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186542" y="788351"/>
            <a:ext cx="38181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always</a:t>
            </a:r>
            <a:r>
              <a:rPr lang="ko-KR" altLang="en-US" dirty="0"/>
              <a:t> @(</a:t>
            </a:r>
            <a:r>
              <a:rPr lang="ko-KR" altLang="en-US" dirty="0" err="1"/>
              <a:t>posedge</a:t>
            </a:r>
            <a:r>
              <a:rPr lang="ko-KR" altLang="en-US" dirty="0"/>
              <a:t> </a:t>
            </a:r>
            <a:r>
              <a:rPr lang="ko-KR" altLang="en-US" dirty="0" err="1"/>
              <a:t>clk</a:t>
            </a:r>
            <a:r>
              <a:rPr lang="ko-KR" altLang="en-US" dirty="0"/>
              <a:t>) </a:t>
            </a:r>
            <a:r>
              <a:rPr lang="ko-KR" altLang="en-US" dirty="0" err="1"/>
              <a:t>begin</a:t>
            </a:r>
            <a:endParaRPr lang="ko-KR" altLang="en-US" dirty="0"/>
          </a:p>
          <a:p>
            <a:r>
              <a:rPr lang="ko-KR" altLang="en-US" dirty="0"/>
              <a:t>    q0 = </a:t>
            </a:r>
            <a:r>
              <a:rPr lang="ko-KR" altLang="en-US" dirty="0" err="1"/>
              <a:t>d</a:t>
            </a:r>
            <a:r>
              <a:rPr lang="ko-KR" altLang="en-US" dirty="0"/>
              <a:t>;</a:t>
            </a:r>
          </a:p>
          <a:p>
            <a:r>
              <a:rPr lang="ko-KR" altLang="en-US" dirty="0"/>
              <a:t>    q1 = q0;</a:t>
            </a:r>
          </a:p>
          <a:p>
            <a:r>
              <a:rPr lang="ko-KR" altLang="en-US" dirty="0"/>
              <a:t>    q2 = q1;</a:t>
            </a:r>
          </a:p>
          <a:p>
            <a:r>
              <a:rPr lang="ko-KR" altLang="en-US" dirty="0"/>
              <a:t>    q3 = q2;</a:t>
            </a:r>
          </a:p>
          <a:p>
            <a:r>
              <a:rPr lang="ko-KR" altLang="en-US" dirty="0" err="1"/>
              <a:t>end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73629" y="3159579"/>
            <a:ext cx="4299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126672" y="2816973"/>
            <a:ext cx="46944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b="1" dirty="0">
                <a:latin typeface="Arial Unicode MS"/>
              </a:rPr>
              <a:t>q0 = </a:t>
            </a:r>
            <a:r>
              <a:rPr lang="ko-KR" altLang="ko-KR" sz="1200" b="1" dirty="0" err="1">
                <a:latin typeface="Arial Unicode MS"/>
              </a:rPr>
              <a:t>d</a:t>
            </a:r>
            <a:r>
              <a:rPr lang="ko-KR" altLang="ko-KR" sz="1200" b="1" dirty="0">
                <a:latin typeface="Arial Unicode MS"/>
              </a:rPr>
              <a:t>;</a:t>
            </a:r>
            <a:r>
              <a:rPr lang="ko-KR" altLang="ko-KR" sz="1200" b="1" dirty="0"/>
              <a:t> → </a:t>
            </a:r>
            <a:r>
              <a:rPr lang="ko-KR" altLang="ko-KR" sz="1200" b="1" dirty="0">
                <a:latin typeface="Arial" panose="020B0604020202020204" pitchFamily="34" charset="0"/>
              </a:rPr>
              <a:t>즉시 q0가 </a:t>
            </a:r>
            <a:r>
              <a:rPr lang="ko-KR" altLang="ko-KR" sz="1200" b="1" dirty="0" err="1">
                <a:latin typeface="Arial" panose="020B0604020202020204" pitchFamily="34" charset="0"/>
              </a:rPr>
              <a:t>d</a:t>
            </a:r>
            <a:r>
              <a:rPr lang="ko-KR" altLang="ko-KR" sz="1200" b="1" dirty="0">
                <a:latin typeface="Arial" panose="020B0604020202020204" pitchFamily="34" charset="0"/>
              </a:rPr>
              <a:t> 값으로 갱신됨.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b="1" dirty="0">
                <a:latin typeface="Arial Unicode MS"/>
              </a:rPr>
              <a:t>q1 = q0;</a:t>
            </a:r>
            <a:r>
              <a:rPr lang="ko-KR" altLang="ko-KR" sz="1200" b="1" dirty="0"/>
              <a:t> → 바로 위에서 갱신된 q0 값이 q1으로 전달됨.</a:t>
            </a:r>
            <a:endParaRPr lang="ko-KR" altLang="ko-KR" sz="12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b="1" dirty="0">
                <a:latin typeface="Arial Unicode MS"/>
              </a:rPr>
              <a:t>q2 = q1;</a:t>
            </a:r>
            <a:r>
              <a:rPr lang="ko-KR" altLang="ko-KR" sz="1200" b="1" dirty="0"/>
              <a:t> → 갱신된 q1 값이 q2로 복사됨.</a:t>
            </a:r>
            <a:endParaRPr lang="ko-KR" altLang="ko-KR" sz="12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b="1" dirty="0">
                <a:latin typeface="Arial Unicode MS"/>
              </a:rPr>
              <a:t>q3 = q2;</a:t>
            </a:r>
            <a:r>
              <a:rPr lang="ko-KR" altLang="ko-KR" sz="1200" b="1" dirty="0"/>
              <a:t> → 갱신된 q2 값이 q3으로 </a:t>
            </a:r>
            <a:r>
              <a:rPr lang="ko-KR" altLang="ko-KR" sz="1200" b="1" dirty="0" smtClean="0"/>
              <a:t>복사됨</a:t>
            </a:r>
            <a:endParaRPr lang="en-US" altLang="ko-KR" sz="1200" b="1" dirty="0" smtClean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2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200" b="1" dirty="0"/>
              <a:t>하나의 클럭 주기 안에서 </a:t>
            </a:r>
            <a:r>
              <a:rPr lang="en-US" altLang="ko-KR" sz="1200" b="1" dirty="0"/>
              <a:t>d → q0 → q1 → q2 → q3 </a:t>
            </a:r>
            <a:r>
              <a:rPr lang="ko-KR" altLang="en-US" sz="1200" b="1" dirty="0"/>
              <a:t>순으로 새 값이 </a:t>
            </a:r>
            <a:r>
              <a:rPr lang="ko-KR" altLang="en-US" sz="1200" b="1" dirty="0" smtClean="0"/>
              <a:t>전파됨</a:t>
            </a:r>
            <a:endParaRPr lang="en-US" altLang="ko-KR" sz="1200" b="1" dirty="0" smtClean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200" dirty="0"/>
              <a:t>블</a:t>
            </a:r>
            <a:r>
              <a:rPr lang="ko-KR" altLang="en-US" sz="1200" dirty="0" smtClean="0"/>
              <a:t>로킹 </a:t>
            </a:r>
            <a:r>
              <a:rPr lang="ko-KR" altLang="en-US" sz="1200" dirty="0"/>
              <a:t>할당 순서 때문에</a:t>
            </a:r>
            <a:r>
              <a:rPr lang="en-US" altLang="ko-KR" sz="1200" dirty="0"/>
              <a:t>, d</a:t>
            </a:r>
            <a:r>
              <a:rPr lang="ko-KR" altLang="en-US" sz="1200" dirty="0"/>
              <a:t>가 즉시 </a:t>
            </a:r>
            <a:r>
              <a:rPr lang="en-US" altLang="ko-KR" sz="1200" dirty="0"/>
              <a:t>q3</a:t>
            </a:r>
            <a:r>
              <a:rPr lang="ko-KR" altLang="en-US" sz="1200" dirty="0"/>
              <a:t>까지 전파 → 시프트 레지스터 동작과 다름</a:t>
            </a:r>
            <a:r>
              <a:rPr lang="en-US" altLang="ko-KR" sz="1200" dirty="0"/>
              <a:t>.</a:t>
            </a:r>
            <a:endParaRPr lang="ko-KR" altLang="ko-KR" sz="1200" b="1" dirty="0"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889907"/>
            <a:ext cx="32496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always @(</a:t>
            </a:r>
            <a:r>
              <a:rPr lang="en-US" altLang="ko-KR" dirty="0" err="1"/>
              <a:t>posedge</a:t>
            </a:r>
            <a:r>
              <a:rPr lang="en-US" altLang="ko-KR" dirty="0"/>
              <a:t> </a:t>
            </a:r>
            <a:r>
              <a:rPr lang="en-US" altLang="ko-KR" dirty="0" err="1"/>
              <a:t>clk</a:t>
            </a:r>
            <a:r>
              <a:rPr lang="en-US" altLang="ko-KR" dirty="0"/>
              <a:t>) begin</a:t>
            </a:r>
          </a:p>
          <a:p>
            <a:r>
              <a:rPr lang="en-US" altLang="ko-KR" dirty="0"/>
              <a:t>    q3 = q2;</a:t>
            </a:r>
          </a:p>
          <a:p>
            <a:r>
              <a:rPr lang="en-US" altLang="ko-KR" dirty="0"/>
              <a:t>    q2 = q1;</a:t>
            </a:r>
          </a:p>
          <a:p>
            <a:r>
              <a:rPr lang="en-US" altLang="ko-KR" dirty="0"/>
              <a:t>    q1 = q0;</a:t>
            </a:r>
          </a:p>
          <a:p>
            <a:r>
              <a:rPr lang="en-US" altLang="ko-KR" dirty="0"/>
              <a:t>    q0 = d;</a:t>
            </a:r>
          </a:p>
          <a:p>
            <a:r>
              <a:rPr lang="en-US" altLang="ko-KR" dirty="0"/>
              <a:t>end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547506" y="2928746"/>
            <a:ext cx="5644494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b="1" dirty="0">
                <a:latin typeface="Arial Unicode MS"/>
              </a:rPr>
              <a:t>q3 = q2;</a:t>
            </a:r>
            <a:r>
              <a:rPr lang="ko-KR" altLang="ko-KR" sz="1200" b="1" dirty="0"/>
              <a:t> → q3에 현재 q2 값 저장 (아직 q2 갱신 안 됨).</a:t>
            </a:r>
            <a:endParaRPr lang="ko-KR" altLang="ko-KR" sz="12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b="1" dirty="0">
                <a:latin typeface="Arial Unicode MS"/>
              </a:rPr>
              <a:t>q2 = q1;</a:t>
            </a:r>
            <a:r>
              <a:rPr lang="ko-KR" altLang="ko-KR" sz="1200" b="1" dirty="0"/>
              <a:t> → q2에 현재 q1 값 저장 (아직 q1 갱신 안 됨).</a:t>
            </a:r>
            <a:endParaRPr lang="ko-KR" altLang="ko-KR" sz="12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b="1" dirty="0">
                <a:latin typeface="Arial Unicode MS"/>
              </a:rPr>
              <a:t>q1 = q0;</a:t>
            </a:r>
            <a:r>
              <a:rPr lang="ko-KR" altLang="ko-KR" sz="1200" b="1" dirty="0"/>
              <a:t> → q1에 현재 q0 값 저장 (아직 q0 갱신 안 됨).</a:t>
            </a:r>
            <a:endParaRPr lang="ko-KR" altLang="ko-KR" sz="12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b="1" dirty="0">
                <a:latin typeface="Arial Unicode MS"/>
              </a:rPr>
              <a:t>q0 = </a:t>
            </a:r>
            <a:r>
              <a:rPr lang="ko-KR" altLang="ko-KR" sz="1200" b="1" dirty="0" err="1">
                <a:latin typeface="Arial Unicode MS"/>
              </a:rPr>
              <a:t>d</a:t>
            </a:r>
            <a:r>
              <a:rPr lang="ko-KR" altLang="ko-KR" sz="1200" b="1" dirty="0">
                <a:latin typeface="Arial Unicode MS"/>
              </a:rPr>
              <a:t>;</a:t>
            </a:r>
            <a:r>
              <a:rPr lang="ko-KR" altLang="ko-KR" sz="1200" b="1" dirty="0"/>
              <a:t> → 마지막에 q0 값 갱신.</a:t>
            </a:r>
            <a:endParaRPr lang="ko-KR" altLang="ko-KR" sz="1200" b="1" dirty="0">
              <a:latin typeface="Arial" panose="020B0604020202020204" pitchFamily="34" charset="0"/>
            </a:endParaRPr>
          </a:p>
          <a:p>
            <a:endParaRPr lang="en-US" altLang="ko-KR" dirty="0" smtClean="0"/>
          </a:p>
          <a:p>
            <a:r>
              <a:rPr lang="en-US" altLang="ko-KR" dirty="0"/>
              <a:t>d → q0 → q1 → q2 → q3 </a:t>
            </a:r>
            <a:r>
              <a:rPr lang="ko-KR" altLang="en-US" dirty="0"/>
              <a:t>가 </a:t>
            </a:r>
            <a:endParaRPr lang="en-US" altLang="ko-KR" dirty="0" smtClean="0"/>
          </a:p>
          <a:p>
            <a:r>
              <a:rPr lang="ko-KR" altLang="en-US" b="1" dirty="0" smtClean="0"/>
              <a:t>한 </a:t>
            </a:r>
            <a:r>
              <a:rPr lang="ko-KR" altLang="en-US" b="1" dirty="0"/>
              <a:t>단계씩 이동</a:t>
            </a:r>
            <a:r>
              <a:rPr lang="ko-KR" altLang="en-US" dirty="0"/>
              <a:t>함 → 일반적인 시프트 레지스터 동작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879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93D03-106B-4198-8D85-F2B80FFEFCDC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186542" y="788351"/>
            <a:ext cx="38181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always @(</a:t>
            </a:r>
            <a:r>
              <a:rPr lang="en-US" altLang="ko-KR" dirty="0" err="1"/>
              <a:t>posedge</a:t>
            </a:r>
            <a:r>
              <a:rPr lang="en-US" altLang="ko-KR" dirty="0"/>
              <a:t> </a:t>
            </a:r>
            <a:r>
              <a:rPr lang="en-US" altLang="ko-KR" dirty="0" err="1"/>
              <a:t>clk</a:t>
            </a:r>
            <a:r>
              <a:rPr lang="en-US" altLang="ko-KR" dirty="0"/>
              <a:t>) begin</a:t>
            </a:r>
          </a:p>
          <a:p>
            <a:r>
              <a:rPr lang="en-US" altLang="ko-KR" dirty="0"/>
              <a:t>    q0 &lt;= d;</a:t>
            </a:r>
          </a:p>
          <a:p>
            <a:r>
              <a:rPr lang="en-US" altLang="ko-KR" dirty="0"/>
              <a:t>    q1 &lt;= q0;</a:t>
            </a:r>
          </a:p>
          <a:p>
            <a:r>
              <a:rPr lang="en-US" altLang="ko-KR" dirty="0"/>
              <a:t>    q2 &lt;= q1;</a:t>
            </a:r>
          </a:p>
          <a:p>
            <a:r>
              <a:rPr lang="en-US" altLang="ko-KR" dirty="0"/>
              <a:t>    q3 &lt;= q2;</a:t>
            </a:r>
          </a:p>
          <a:p>
            <a:r>
              <a:rPr lang="en-US" altLang="ko-KR" dirty="0"/>
              <a:t>end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73629" y="3159579"/>
            <a:ext cx="4299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0" y="881440"/>
            <a:ext cx="32496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always @(</a:t>
            </a:r>
            <a:r>
              <a:rPr lang="en-US" altLang="ko-KR" dirty="0" err="1"/>
              <a:t>posedge</a:t>
            </a:r>
            <a:r>
              <a:rPr lang="en-US" altLang="ko-KR" dirty="0"/>
              <a:t> </a:t>
            </a:r>
            <a:r>
              <a:rPr lang="en-US" altLang="ko-KR" dirty="0" err="1"/>
              <a:t>clk</a:t>
            </a:r>
            <a:r>
              <a:rPr lang="en-US" altLang="ko-KR" dirty="0"/>
              <a:t>) begin</a:t>
            </a:r>
          </a:p>
          <a:p>
            <a:r>
              <a:rPr lang="en-US" altLang="ko-KR" dirty="0"/>
              <a:t>    q3 &lt;= q2;</a:t>
            </a:r>
          </a:p>
          <a:p>
            <a:r>
              <a:rPr lang="en-US" altLang="ko-KR" dirty="0"/>
              <a:t>    q2 &lt;= q1;</a:t>
            </a:r>
          </a:p>
          <a:p>
            <a:r>
              <a:rPr lang="en-US" altLang="ko-KR" dirty="0"/>
              <a:t>    q1 &lt;= q0;</a:t>
            </a:r>
          </a:p>
          <a:p>
            <a:r>
              <a:rPr lang="en-US" altLang="ko-KR" dirty="0"/>
              <a:t>    q0 &lt;= d;</a:t>
            </a:r>
          </a:p>
          <a:p>
            <a:r>
              <a:rPr lang="en-US" altLang="ko-KR" dirty="0"/>
              <a:t>end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273629" y="3222484"/>
            <a:ext cx="9174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b="1" dirty="0" err="1">
                <a:latin typeface="Arial" panose="020B0604020202020204" pitchFamily="34" charset="0"/>
              </a:rPr>
              <a:t>논블로킹</a:t>
            </a:r>
            <a:r>
              <a:rPr lang="ko-KR" altLang="ko-KR" sz="1600" b="1" dirty="0">
                <a:latin typeface="Arial" panose="020B0604020202020204" pitchFamily="34" charset="0"/>
              </a:rPr>
              <a:t> 할당(</a:t>
            </a:r>
            <a:r>
              <a:rPr lang="ko-KR" altLang="ko-KR" sz="1600" b="1" dirty="0">
                <a:latin typeface="Arial Unicode MS"/>
              </a:rPr>
              <a:t>&lt;=</a:t>
            </a:r>
            <a:r>
              <a:rPr lang="ko-KR" altLang="ko-KR" sz="1600" b="1" dirty="0"/>
              <a:t>) 특성</a:t>
            </a:r>
            <a:endParaRPr lang="ko-KR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 err="1">
                <a:latin typeface="Arial" panose="020B0604020202020204" pitchFamily="34" charset="0"/>
              </a:rPr>
              <a:t>논블로킹</a:t>
            </a:r>
            <a:r>
              <a:rPr lang="ko-KR" altLang="ko-KR" sz="1600" dirty="0">
                <a:latin typeface="Arial" panose="020B0604020202020204" pitchFamily="34" charset="0"/>
              </a:rPr>
              <a:t> 할당은 다음과 같은 특징이 </a:t>
            </a:r>
            <a:r>
              <a:rPr lang="ko-KR" altLang="ko-KR" sz="1600" dirty="0" smtClean="0">
                <a:latin typeface="Arial" panose="020B0604020202020204" pitchFamily="34" charset="0"/>
              </a:rPr>
              <a:t>있다</a:t>
            </a:r>
            <a:r>
              <a:rPr lang="ko-KR" altLang="ko-KR" sz="1600" dirty="0">
                <a:latin typeface="Arial" panose="020B0604020202020204" pitchFamily="34" charset="0"/>
              </a:rPr>
              <a:t>: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모든 오른쪽 값 평가</a:t>
            </a:r>
            <a:r>
              <a:rPr lang="ko-KR" altLang="ko-KR" sz="1600" dirty="0">
                <a:latin typeface="Arial" panose="020B0604020202020204" pitchFamily="34" charset="0"/>
              </a:rPr>
              <a:t>는 클럭 에지 시점 </a:t>
            </a:r>
            <a:r>
              <a:rPr lang="ko-KR" altLang="ko-KR" sz="1600" b="1" dirty="0">
                <a:latin typeface="Arial" panose="020B0604020202020204" pitchFamily="34" charset="0"/>
              </a:rPr>
              <a:t>현재 값</a:t>
            </a:r>
            <a:r>
              <a:rPr lang="ko-KR" altLang="ko-KR" sz="1600" dirty="0">
                <a:latin typeface="Arial" panose="020B0604020202020204" pitchFamily="34" charset="0"/>
              </a:rPr>
              <a:t> 기준으로 </a:t>
            </a:r>
            <a:r>
              <a:rPr lang="ko-KR" altLang="ko-KR" sz="1600" b="1" dirty="0">
                <a:latin typeface="Arial" panose="020B0604020202020204" pitchFamily="34" charset="0"/>
              </a:rPr>
              <a:t>즉시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r>
              <a:rPr lang="ko-KR" altLang="ko-KR" sz="1600" dirty="0" smtClean="0">
                <a:latin typeface="Arial" panose="020B0604020202020204" pitchFamily="34" charset="0"/>
              </a:rPr>
              <a:t>평가</a:t>
            </a:r>
            <a:r>
              <a:rPr lang="ko-KR" altLang="en-US" sz="1600" dirty="0" smtClean="0">
                <a:latin typeface="Arial" panose="020B0604020202020204" pitchFamily="34" charset="0"/>
              </a:rPr>
              <a:t>된</a:t>
            </a:r>
            <a:r>
              <a:rPr lang="ko-KR" altLang="ko-KR" sz="1600" dirty="0" smtClean="0">
                <a:latin typeface="Arial" panose="020B0604020202020204" pitchFamily="34" charset="0"/>
              </a:rPr>
              <a:t>다</a:t>
            </a:r>
            <a:r>
              <a:rPr lang="ko-KR" altLang="ko-KR" sz="1600" dirty="0">
                <a:latin typeface="Arial" panose="020B0604020202020204" pitchFamily="34" charset="0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왼쪽 값 갱신</a:t>
            </a:r>
            <a:r>
              <a:rPr lang="ko-KR" altLang="ko-KR" sz="1600" dirty="0">
                <a:latin typeface="Arial" panose="020B0604020202020204" pitchFamily="34" charset="0"/>
              </a:rPr>
              <a:t>은 모든 문장이 끝난 뒤, </a:t>
            </a:r>
            <a:r>
              <a:rPr lang="ko-KR" altLang="ko-KR" sz="1600" b="1" dirty="0">
                <a:latin typeface="Arial" panose="020B0604020202020204" pitchFamily="34" charset="0"/>
              </a:rPr>
              <a:t>동시에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r>
              <a:rPr lang="ko-KR" altLang="ko-KR" sz="1600" dirty="0" smtClean="0">
                <a:latin typeface="Arial" panose="020B0604020202020204" pitchFamily="34" charset="0"/>
              </a:rPr>
              <a:t>업데이트</a:t>
            </a:r>
            <a:r>
              <a:rPr lang="en-US" altLang="ko-KR" sz="1600" dirty="0" smtClean="0">
                <a:latin typeface="Arial" panose="020B0604020202020204" pitchFamily="34" charset="0"/>
              </a:rPr>
              <a:t> </a:t>
            </a:r>
            <a:r>
              <a:rPr lang="ko-KR" altLang="en-US" sz="1600" dirty="0" smtClean="0">
                <a:latin typeface="Arial" panose="020B0604020202020204" pitchFamily="34" charset="0"/>
              </a:rPr>
              <a:t>된</a:t>
            </a:r>
            <a:r>
              <a:rPr lang="ko-KR" altLang="ko-KR" sz="1600" dirty="0" smtClean="0">
                <a:latin typeface="Arial" panose="020B0604020202020204" pitchFamily="34" charset="0"/>
              </a:rPr>
              <a:t>다</a:t>
            </a:r>
            <a:endParaRPr lang="en-US" altLang="ko-KR" sz="1600" dirty="0" smtClean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dirty="0">
                <a:latin typeface="Arial" panose="020B0604020202020204" pitchFamily="34" charset="0"/>
              </a:rPr>
              <a:t>즉, </a:t>
            </a:r>
            <a:r>
              <a:rPr lang="ko-KR" altLang="ko-KR" sz="1600" dirty="0">
                <a:latin typeface="Arial Unicode MS"/>
              </a:rPr>
              <a:t>q1 &lt;= q0;</a:t>
            </a:r>
            <a:r>
              <a:rPr lang="ko-KR" altLang="ko-KR" sz="1600" dirty="0"/>
              <a:t> 문장에서 </a:t>
            </a:r>
            <a:r>
              <a:rPr lang="ko-KR" altLang="ko-KR" sz="1600" dirty="0">
                <a:latin typeface="Arial Unicode MS"/>
              </a:rPr>
              <a:t>q0</a:t>
            </a:r>
            <a:r>
              <a:rPr lang="ko-KR" altLang="ko-KR" sz="1600" dirty="0"/>
              <a:t> 값은 항상 </a:t>
            </a:r>
            <a:r>
              <a:rPr lang="ko-KR" altLang="ko-KR" sz="1600" b="1" dirty="0">
                <a:latin typeface="Arial" panose="020B0604020202020204" pitchFamily="34" charset="0"/>
              </a:rPr>
              <a:t>클럭 이전 상태 값</a:t>
            </a:r>
            <a:r>
              <a:rPr lang="ko-KR" altLang="ko-KR" sz="1600" dirty="0">
                <a:latin typeface="Arial" panose="020B0604020202020204" pitchFamily="34" charset="0"/>
              </a:rPr>
              <a:t>을 사용하고, </a:t>
            </a:r>
            <a:endParaRPr lang="en-US" altLang="ko-KR" sz="1600" dirty="0" smtClean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>
                <a:latin typeface="Arial" panose="020B0604020202020204" pitchFamily="34" charset="0"/>
              </a:rPr>
              <a:t> </a:t>
            </a:r>
            <a:r>
              <a:rPr lang="ko-KR" altLang="ko-KR" sz="1600" dirty="0" smtClean="0">
                <a:latin typeface="Arial" panose="020B0604020202020204" pitchFamily="34" charset="0"/>
              </a:rPr>
              <a:t>할당 </a:t>
            </a:r>
            <a:r>
              <a:rPr lang="ko-KR" altLang="ko-KR" sz="1600" dirty="0">
                <a:latin typeface="Arial" panose="020B0604020202020204" pitchFamily="34" charset="0"/>
              </a:rPr>
              <a:t>순서는 결과에 영향을 주지 </a:t>
            </a:r>
            <a:r>
              <a:rPr lang="ko-KR" altLang="ko-KR" sz="1600" dirty="0" smtClean="0">
                <a:latin typeface="Arial" panose="020B0604020202020204" pitchFamily="34" charset="0"/>
              </a:rPr>
              <a:t>않</a:t>
            </a:r>
            <a:r>
              <a:rPr lang="ko-KR" altLang="en-US" sz="1600" dirty="0" smtClean="0">
                <a:latin typeface="Arial" panose="020B0604020202020204" pitchFamily="34" charset="0"/>
              </a:rPr>
              <a:t>는</a:t>
            </a:r>
            <a:r>
              <a:rPr lang="ko-KR" altLang="ko-KR" sz="1600" dirty="0" smtClean="0">
                <a:latin typeface="Arial" panose="020B0604020202020204" pitchFamily="34" charset="0"/>
              </a:rPr>
              <a:t>다</a:t>
            </a:r>
            <a:endParaRPr lang="ko-KR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1200" b="1" dirty="0"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393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42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</TotalTime>
  <Words>349</Words>
  <Application>Microsoft Office PowerPoint</Application>
  <PresentationFormat>와이드스크린</PresentationFormat>
  <Paragraphs>60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 Unicode MS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user</cp:lastModifiedBy>
  <cp:revision>62</cp:revision>
  <dcterms:created xsi:type="dcterms:W3CDTF">2025-05-06T08:17:22Z</dcterms:created>
  <dcterms:modified xsi:type="dcterms:W3CDTF">2025-06-29T11:51:20Z</dcterms:modified>
</cp:coreProperties>
</file>