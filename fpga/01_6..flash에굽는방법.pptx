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2" r:id="rId5"/>
    <p:sldId id="259" r:id="rId6"/>
    <p:sldId id="263" r:id="rId7"/>
    <p:sldId id="260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13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34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1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53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65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12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90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3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94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25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8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38F5D-2E6C-4456-BB2D-28F89E692B2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2468" y="1945716"/>
            <a:ext cx="89045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smtClean="0">
                <a:solidFill>
                  <a:srgbClr val="FF0000"/>
                </a:solidFill>
              </a:rPr>
              <a:t>basys3 Flash </a:t>
            </a:r>
            <a:r>
              <a:rPr lang="en-US" altLang="ko-KR" sz="5400" b="1" dirty="0" smtClean="0">
                <a:solidFill>
                  <a:srgbClr val="FF0000"/>
                </a:solidFill>
              </a:rPr>
              <a:t>Memory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에</a:t>
            </a:r>
            <a:endParaRPr lang="en-US" altLang="ko-KR" sz="5400" b="1" dirty="0" smtClean="0">
              <a:solidFill>
                <a:srgbClr val="FF0000"/>
              </a:solidFill>
            </a:endParaRPr>
          </a:p>
          <a:p>
            <a:pPr algn="ctr"/>
            <a:r>
              <a:rPr lang="en-US" altLang="ko-KR" sz="5400" b="1" dirty="0" smtClean="0">
                <a:solidFill>
                  <a:srgbClr val="FF0000"/>
                </a:solidFill>
              </a:rPr>
              <a:t>Write 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하는 방법</a:t>
            </a:r>
            <a:endParaRPr lang="en-US" altLang="ko-KR" sz="5400" b="1" dirty="0" smtClean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80439" y="5322278"/>
            <a:ext cx="71481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June 19,2025</a:t>
            </a:r>
          </a:p>
          <a:p>
            <a:pPr algn="r"/>
            <a:r>
              <a:rPr lang="en-US" altLang="ko-KR" sz="2400" b="1" dirty="0" smtClean="0"/>
              <a:t>by SIKWON</a:t>
            </a:r>
          </a:p>
          <a:p>
            <a:pPr algn="r"/>
            <a:endParaRPr lang="en-US" altLang="ko-KR" sz="2400" b="1" dirty="0"/>
          </a:p>
          <a:p>
            <a:pPr algn="r"/>
            <a:r>
              <a:rPr lang="ko-KR" altLang="en-US" sz="2400" b="1" dirty="0"/>
              <a:t> </a:t>
            </a:r>
          </a:p>
          <a:p>
            <a:endParaRPr lang="ko-KR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20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940" y="1043940"/>
            <a:ext cx="5806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0. JP1</a:t>
            </a:r>
            <a:r>
              <a:rPr lang="ko-KR" altLang="en-US" smtClean="0"/>
              <a:t>이 </a:t>
            </a:r>
            <a:r>
              <a:rPr lang="en-US" altLang="ko-KR" smtClean="0"/>
              <a:t>SPI </a:t>
            </a:r>
            <a:r>
              <a:rPr lang="ko-KR" altLang="en-US" smtClean="0"/>
              <a:t>프로그래밍 모드로 </a:t>
            </a:r>
            <a:r>
              <a:rPr lang="en-US" altLang="ko-KR" smtClean="0"/>
              <a:t>set </a:t>
            </a:r>
            <a:r>
              <a:rPr lang="ko-KR" altLang="en-US" smtClean="0"/>
              <a:t>되어 있어야 한다</a:t>
            </a:r>
            <a:r>
              <a:rPr lang="en-US" altLang="ko-KR" smtClean="0"/>
              <a:t>. </a:t>
            </a: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19705" y="1568134"/>
            <a:ext cx="105085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smtClean="0"/>
              <a:t>비휘발성 </a:t>
            </a:r>
            <a:r>
              <a:rPr lang="ko-KR" altLang="en-US" sz="1400" dirty="0"/>
              <a:t>플래시 장치를 프로그래밍할 때 </a:t>
            </a:r>
            <a:r>
              <a:rPr lang="ko-KR" altLang="en-US" sz="1400" err="1"/>
              <a:t>비트스트림</a:t>
            </a:r>
            <a:r>
              <a:rPr lang="ko-KR" altLang="en-US" sz="1400"/>
              <a:t> </a:t>
            </a:r>
            <a:r>
              <a:rPr lang="en-US" altLang="ko-KR" sz="1400" smtClean="0"/>
              <a:t>.bin</a:t>
            </a:r>
            <a:r>
              <a:rPr lang="ko-KR" altLang="en-US" sz="1400" smtClean="0"/>
              <a:t>파일은 </a:t>
            </a:r>
            <a:r>
              <a:rPr lang="en-US" altLang="ko-KR" sz="1400" dirty="0"/>
              <a:t>2</a:t>
            </a:r>
            <a:r>
              <a:rPr lang="ko-KR" altLang="en-US" sz="1400" dirty="0"/>
              <a:t>단계 프로세스로 플래시로 </a:t>
            </a:r>
            <a:r>
              <a:rPr lang="ko-KR" altLang="en-US" sz="1400" dirty="0" smtClean="0"/>
              <a:t>전송된다</a:t>
            </a:r>
            <a:r>
              <a:rPr lang="en-US" altLang="ko-KR" sz="1400" dirty="0" smtClean="0"/>
              <a:t>. </a:t>
            </a:r>
            <a:r>
              <a:rPr lang="ko-KR" altLang="en-US" sz="1400" dirty="0"/>
              <a:t>먼저 </a:t>
            </a:r>
            <a:r>
              <a:rPr lang="en-US" altLang="ko-KR" sz="1400" dirty="0"/>
              <a:t>FPGA</a:t>
            </a:r>
            <a:r>
              <a:rPr lang="ko-KR" altLang="en-US" sz="1400" dirty="0"/>
              <a:t>는 플래시 장치를 프로그래밍할 수 있는 회로로 프로그래밍된 다음 </a:t>
            </a:r>
            <a:r>
              <a:rPr lang="en-US" altLang="ko-KR" sz="1400" dirty="0"/>
              <a:t>FPGA </a:t>
            </a:r>
            <a:r>
              <a:rPr lang="ko-KR" altLang="en-US" sz="1400" dirty="0"/>
              <a:t>회로를 통해 데이터를 플래시 장치로 </a:t>
            </a:r>
            <a:r>
              <a:rPr lang="ko-KR" altLang="en-US" sz="1400" dirty="0" smtClean="0"/>
              <a:t>전송한다</a:t>
            </a:r>
            <a:r>
              <a:rPr lang="en-US" altLang="ko-KR" sz="1400" dirty="0" smtClean="0"/>
              <a:t>. </a:t>
            </a:r>
            <a:r>
              <a:rPr lang="ko-KR" altLang="en-US" sz="1400" dirty="0"/>
              <a:t>플래시 장치를 프로그래밍한 후 모드 점퍼 설정에 따라 결정된 대로 후속 전원 켜기 또는 재설정 이벤트에서 </a:t>
            </a:r>
            <a:r>
              <a:rPr lang="en-US" altLang="ko-KR" sz="1400" dirty="0"/>
              <a:t>FPGA</a:t>
            </a:r>
            <a:r>
              <a:rPr lang="ko-KR" altLang="en-US" sz="1400" dirty="0"/>
              <a:t>를 자동으로 구성할 수 있</a:t>
            </a:r>
            <a:r>
              <a:rPr lang="ko-KR" altLang="en-US" sz="1400" dirty="0" smtClean="0"/>
              <a:t>다</a:t>
            </a:r>
            <a:r>
              <a:rPr lang="en-US" altLang="ko-KR" sz="1400" smtClean="0"/>
              <a:t>. </a:t>
            </a:r>
            <a:r>
              <a:rPr lang="en-US" altLang="ko-KR" sz="1400" smtClean="0"/>
              <a:t> </a:t>
            </a:r>
            <a:r>
              <a:rPr lang="ko-KR" altLang="en-US" sz="1400" smtClean="0"/>
              <a:t>플래시 </a:t>
            </a:r>
            <a:r>
              <a:rPr lang="ko-KR" altLang="en-US" sz="1400" dirty="0"/>
              <a:t>장치에 저장된 프로그래밍 파일은 전원 </a:t>
            </a:r>
            <a:r>
              <a:rPr lang="ko-KR" altLang="en-US" sz="1400"/>
              <a:t>주기 </a:t>
            </a:r>
            <a:r>
              <a:rPr lang="ko-KR" altLang="en-US" sz="1400" smtClean="0"/>
              <a:t>이벤트에</a:t>
            </a:r>
            <a:r>
              <a:rPr lang="en-US" altLang="ko-KR" sz="1400"/>
              <a:t> </a:t>
            </a:r>
            <a:r>
              <a:rPr lang="ko-KR" altLang="en-US" sz="1400" smtClean="0"/>
              <a:t>관계없이 </a:t>
            </a:r>
            <a:r>
              <a:rPr lang="ko-KR" altLang="en-US" sz="1400" dirty="0"/>
              <a:t>덮어쓸 때까지 남아 </a:t>
            </a:r>
            <a:r>
              <a:rPr lang="ko-KR" altLang="en-US" sz="1400" dirty="0" smtClean="0"/>
              <a:t>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07" y="3069699"/>
            <a:ext cx="416300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6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1" y="1893332"/>
            <a:ext cx="4277980" cy="13888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1940" y="1043940"/>
            <a:ext cx="336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1. Project manager </a:t>
            </a:r>
            <a:r>
              <a:rPr lang="en-US" altLang="ko-KR" smtClean="0">
                <a:sym typeface="Wingdings" panose="05000000000000000000" pitchFamily="2" charset="2"/>
              </a:rPr>
              <a:t> settings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056" y="1954292"/>
            <a:ext cx="4806197" cy="4274311"/>
          </a:xfrm>
          <a:prstGeom prst="rect">
            <a:avLst/>
          </a:prstGeom>
        </p:spPr>
      </p:pic>
      <p:sp>
        <p:nvSpPr>
          <p:cNvPr id="8" name="오른쪽 화살표 7"/>
          <p:cNvSpPr/>
          <p:nvPr/>
        </p:nvSpPr>
        <p:spPr>
          <a:xfrm>
            <a:off x="5113020" y="3086100"/>
            <a:ext cx="518160" cy="50292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39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442670"/>
            <a:ext cx="5066912" cy="27686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845820"/>
            <a:ext cx="8568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r>
              <a:rPr lang="en-US" altLang="ko-KR" smtClean="0"/>
              <a:t>. Run Synthesis -&gt; Run Implementation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en-US" altLang="ko-KR" smtClean="0"/>
              <a:t>Generate Bitstream</a:t>
            </a:r>
            <a:r>
              <a:rPr lang="ko-KR" altLang="en-US" smtClean="0"/>
              <a:t>까지 실행 한다</a:t>
            </a:r>
            <a:r>
              <a:rPr lang="en-US" altLang="ko-KR" smtClean="0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62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59" y="1541003"/>
            <a:ext cx="3377964" cy="1872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6700" y="655320"/>
            <a:ext cx="8743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3. Open Target </a:t>
            </a:r>
            <a:r>
              <a:rPr lang="en-US" altLang="ko-KR" smtClean="0">
                <a:sym typeface="Wingdings" panose="05000000000000000000" pitchFamily="2" charset="2"/>
              </a:rPr>
              <a:t> Auto Connect  Program device  .bin </a:t>
            </a:r>
            <a:r>
              <a:rPr lang="ko-KR" altLang="en-US" smtClean="0">
                <a:sym typeface="Wingdings" panose="05000000000000000000" pitchFamily="2" charset="2"/>
              </a:rPr>
              <a:t>화일선택 </a:t>
            </a:r>
            <a:r>
              <a:rPr lang="en-US" altLang="ko-KR" smtClean="0">
                <a:sym typeface="Wingdings" panose="05000000000000000000" pitchFamily="2" charset="2"/>
              </a:rPr>
              <a:t> program</a:t>
            </a:r>
            <a:r>
              <a:rPr lang="en-US" altLang="ko-KR" smtClean="0"/>
              <a:t> 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246675" y="1152140"/>
            <a:ext cx="67177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rgbClr val="FF0000"/>
                </a:solidFill>
              </a:rPr>
              <a:t>★주의 </a:t>
            </a:r>
            <a:r>
              <a:rPr lang="en-US" altLang="ko-KR" smtClean="0">
                <a:solidFill>
                  <a:srgbClr val="FF0000"/>
                </a:solidFill>
              </a:rPr>
              <a:t>: </a:t>
            </a:r>
            <a:r>
              <a:rPr lang="ko-KR" altLang="en-US" smtClean="0">
                <a:solidFill>
                  <a:srgbClr val="FF0000"/>
                </a:solidFill>
              </a:rPr>
              <a:t>아래</a:t>
            </a:r>
            <a:r>
              <a:rPr lang="en-US" altLang="ko-KR" smtClean="0">
                <a:solidFill>
                  <a:srgbClr val="FF0000"/>
                </a:solidFill>
              </a:rPr>
              <a:t>(1)</a:t>
            </a:r>
            <a:r>
              <a:rPr lang="ko-KR" altLang="en-US" smtClean="0">
                <a:solidFill>
                  <a:srgbClr val="FF0000"/>
                </a:solidFill>
              </a:rPr>
              <a:t>의 장치가 없고 아래</a:t>
            </a:r>
            <a:r>
              <a:rPr lang="en-US" altLang="ko-KR" smtClean="0">
                <a:solidFill>
                  <a:srgbClr val="FF0000"/>
                </a:solidFill>
              </a:rPr>
              <a:t>(2)</a:t>
            </a:r>
            <a:r>
              <a:rPr lang="ko-KR" altLang="en-US" smtClean="0">
                <a:solidFill>
                  <a:srgbClr val="FF0000"/>
                </a:solidFill>
              </a:rPr>
              <a:t> 같이 </a:t>
            </a:r>
            <a:r>
              <a:rPr lang="en-US" altLang="ko-KR" smtClean="0">
                <a:solidFill>
                  <a:srgbClr val="FF0000"/>
                </a:solidFill>
              </a:rPr>
              <a:t>Add Configuartion</a:t>
            </a:r>
          </a:p>
          <a:p>
            <a:r>
              <a:rPr lang="en-US" altLang="ko-KR">
                <a:solidFill>
                  <a:srgbClr val="FF0000"/>
                </a:solidFill>
              </a:rPr>
              <a:t> </a:t>
            </a:r>
            <a:r>
              <a:rPr lang="en-US" altLang="ko-KR" smtClean="0">
                <a:solidFill>
                  <a:srgbClr val="FF0000"/>
                </a:solidFill>
              </a:rPr>
              <a:t>          Memory Device</a:t>
            </a:r>
            <a:r>
              <a:rPr lang="ko-KR" altLang="en-US" smtClean="0">
                <a:solidFill>
                  <a:srgbClr val="FF0000"/>
                </a:solidFill>
              </a:rPr>
              <a:t>가 비활성화 되어 있으면 번호</a:t>
            </a:r>
            <a:r>
              <a:rPr lang="en-US" altLang="ko-KR" smtClean="0">
                <a:solidFill>
                  <a:srgbClr val="FF0000"/>
                </a:solidFill>
              </a:rPr>
              <a:t>4~5</a:t>
            </a:r>
            <a:r>
              <a:rPr lang="ko-KR" altLang="en-US" smtClean="0">
                <a:solidFill>
                  <a:srgbClr val="FF0000"/>
                </a:solidFill>
              </a:rPr>
              <a:t>를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en-US" altLang="ko-KR" smtClean="0">
                <a:solidFill>
                  <a:srgbClr val="FF0000"/>
                </a:solidFill>
              </a:rPr>
              <a:t>           </a:t>
            </a:r>
            <a:r>
              <a:rPr lang="ko-KR" altLang="en-US" smtClean="0">
                <a:solidFill>
                  <a:srgbClr val="FF0000"/>
                </a:solidFill>
              </a:rPr>
              <a:t>실행 한다</a:t>
            </a:r>
            <a:r>
              <a:rPr lang="en-US" altLang="ko-KR" smtClean="0">
                <a:solidFill>
                  <a:srgbClr val="FF0000"/>
                </a:solidFill>
              </a:rPr>
              <a:t>. </a:t>
            </a:r>
          </a:p>
          <a:p>
            <a:r>
              <a:rPr lang="en-US" altLang="ko-KR"/>
              <a:t> </a:t>
            </a:r>
            <a:r>
              <a:rPr lang="en-US" altLang="ko-KR" smtClean="0"/>
              <a:t>           </a:t>
            </a:r>
            <a:endParaRPr lang="ko-KR" altLang="en-US"/>
          </a:p>
        </p:txBody>
      </p:sp>
      <p:cxnSp>
        <p:nvCxnSpPr>
          <p:cNvPr id="23" name="직선 연결선 22"/>
          <p:cNvCxnSpPr/>
          <p:nvPr/>
        </p:nvCxnSpPr>
        <p:spPr>
          <a:xfrm>
            <a:off x="6629400" y="2057400"/>
            <a:ext cx="1976143" cy="32842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아래쪽 화살표 24"/>
          <p:cNvSpPr/>
          <p:nvPr/>
        </p:nvSpPr>
        <p:spPr>
          <a:xfrm>
            <a:off x="2339340" y="3482340"/>
            <a:ext cx="601980" cy="3429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83" y="3930112"/>
            <a:ext cx="5058481" cy="2295845"/>
          </a:xfrm>
          <a:prstGeom prst="rect">
            <a:avLst/>
          </a:prstGeom>
        </p:spPr>
      </p:pic>
      <p:cxnSp>
        <p:nvCxnSpPr>
          <p:cNvPr id="29" name="직선 화살표 연결선 28"/>
          <p:cNvCxnSpPr/>
          <p:nvPr/>
        </p:nvCxnSpPr>
        <p:spPr>
          <a:xfrm flipV="1">
            <a:off x="2640330" y="2110740"/>
            <a:ext cx="3455670" cy="28879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008" y="4168270"/>
            <a:ext cx="2143424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7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2" y="1436211"/>
            <a:ext cx="4803924" cy="330739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425" y="1362239"/>
            <a:ext cx="3631077" cy="4248145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5030105" y="2777490"/>
            <a:ext cx="655320" cy="4953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501" y="2367931"/>
            <a:ext cx="1967339" cy="1443957"/>
          </a:xfrm>
          <a:prstGeom prst="rect">
            <a:avLst/>
          </a:prstGeom>
        </p:spPr>
      </p:pic>
      <p:sp>
        <p:nvSpPr>
          <p:cNvPr id="8" name="오른쪽 화살표 7"/>
          <p:cNvSpPr/>
          <p:nvPr/>
        </p:nvSpPr>
        <p:spPr>
          <a:xfrm>
            <a:off x="9432181" y="2842260"/>
            <a:ext cx="655320" cy="4953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36431" y="518579"/>
            <a:ext cx="9295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3. </a:t>
            </a:r>
            <a:r>
              <a:rPr lang="ko-KR" altLang="en-US" smtClean="0"/>
              <a:t>아래를 정상적으로 실행 하면 </a:t>
            </a:r>
            <a:r>
              <a:rPr lang="en-US" altLang="ko-KR" smtClean="0"/>
              <a:t>flash Programming completed successfully</a:t>
            </a:r>
            <a:r>
              <a:rPr lang="ko-KR" altLang="en-US" smtClean="0"/>
              <a:t>가 나타난다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82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9474" y="335585"/>
            <a:ext cx="10164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4. Bitstream</a:t>
            </a:r>
            <a:r>
              <a:rPr lang="ko-KR" altLang="en-US" dirty="0" smtClean="0"/>
              <a:t>후에도 </a:t>
            </a:r>
            <a:r>
              <a:rPr lang="en-US" altLang="ko-KR" dirty="0" smtClean="0"/>
              <a:t>add configuration device</a:t>
            </a:r>
            <a:r>
              <a:rPr lang="ko-KR" altLang="en-US" dirty="0" smtClean="0"/>
              <a:t>가 활성화가 안되면 아래를 마우스 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후 삭제  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55" y="922020"/>
            <a:ext cx="3721885" cy="323953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808" y="845820"/>
            <a:ext cx="3616572" cy="4592375"/>
          </a:xfrm>
          <a:prstGeom prst="rect">
            <a:avLst/>
          </a:prstGeom>
        </p:spPr>
      </p:pic>
      <p:sp>
        <p:nvSpPr>
          <p:cNvPr id="9" name="오른쪽 화살표 8"/>
          <p:cNvSpPr/>
          <p:nvPr/>
        </p:nvSpPr>
        <p:spPr>
          <a:xfrm>
            <a:off x="4800600" y="2118360"/>
            <a:ext cx="521855" cy="4234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74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9474" y="335585"/>
            <a:ext cx="5822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5. Add Configuration Memory</a:t>
            </a:r>
            <a:r>
              <a:rPr lang="ko-KR" altLang="en-US" smtClean="0"/>
              <a:t>를 실행후 </a:t>
            </a:r>
            <a:r>
              <a:rPr lang="en-US" altLang="ko-KR" smtClean="0"/>
              <a:t>flash</a:t>
            </a:r>
            <a:r>
              <a:rPr lang="ko-KR" altLang="en-US" smtClean="0"/>
              <a:t>에 </a:t>
            </a:r>
            <a:r>
              <a:rPr lang="en-US" altLang="ko-KR" smtClean="0"/>
              <a:t>write</a:t>
            </a:r>
            <a:r>
              <a:rPr lang="ko-KR" altLang="en-US" smtClean="0"/>
              <a:t> 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579" y="768556"/>
            <a:ext cx="3544402" cy="4656884"/>
          </a:xfrm>
          <a:prstGeom prst="rect">
            <a:avLst/>
          </a:prstGeom>
        </p:spPr>
      </p:pic>
      <p:sp>
        <p:nvSpPr>
          <p:cNvPr id="8" name="오른쪽 화살표 7"/>
          <p:cNvSpPr/>
          <p:nvPr/>
        </p:nvSpPr>
        <p:spPr>
          <a:xfrm>
            <a:off x="3602179" y="1805940"/>
            <a:ext cx="533400" cy="4953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803" y="768556"/>
            <a:ext cx="3192093" cy="3715919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7820083" y="1785826"/>
            <a:ext cx="533400" cy="4953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9854" y="5228998"/>
            <a:ext cx="3267531" cy="1629002"/>
          </a:xfrm>
          <a:prstGeom prst="rect">
            <a:avLst/>
          </a:prstGeom>
        </p:spPr>
      </p:pic>
      <p:sp>
        <p:nvSpPr>
          <p:cNvPr id="14" name="아래쪽 화살표 13"/>
          <p:cNvSpPr/>
          <p:nvPr/>
        </p:nvSpPr>
        <p:spPr>
          <a:xfrm>
            <a:off x="9448800" y="4722547"/>
            <a:ext cx="541020" cy="37421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39" y="901793"/>
            <a:ext cx="3143689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9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11927</TotalTime>
  <Words>196</Words>
  <Application>Microsoft Office PowerPoint</Application>
  <PresentationFormat>와이드스크린</PresentationFormat>
  <Paragraphs>17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user</cp:lastModifiedBy>
  <cp:revision>847</cp:revision>
  <dcterms:created xsi:type="dcterms:W3CDTF">2021-09-16T07:35:26Z</dcterms:created>
  <dcterms:modified xsi:type="dcterms:W3CDTF">2025-07-21T09:01:47Z</dcterms:modified>
</cp:coreProperties>
</file>