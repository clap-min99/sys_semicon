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8" r:id="rId3"/>
    <p:sldId id="320" r:id="rId4"/>
    <p:sldId id="319" r:id="rId5"/>
    <p:sldId id="321" r:id="rId6"/>
    <p:sldId id="324" r:id="rId7"/>
    <p:sldId id="329" r:id="rId8"/>
    <p:sldId id="327" r:id="rId9"/>
    <p:sldId id="322" r:id="rId10"/>
    <p:sldId id="326" r:id="rId11"/>
    <p:sldId id="331" r:id="rId12"/>
    <p:sldId id="323" r:id="rId13"/>
    <p:sldId id="330" r:id="rId14"/>
    <p:sldId id="328" r:id="rId15"/>
    <p:sldId id="332" r:id="rId16"/>
    <p:sldId id="333" r:id="rId17"/>
    <p:sldId id="336" r:id="rId18"/>
    <p:sldId id="334" r:id="rId19"/>
    <p:sldId id="337" r:id="rId20"/>
    <p:sldId id="335" r:id="rId21"/>
    <p:sldId id="338" r:id="rId22"/>
    <p:sldId id="339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3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0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134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4349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213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532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4658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9126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7903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535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8946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2250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284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138F5D-2E6C-4456-BB2D-28F89E692B20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197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73323" y="1927428"/>
            <a:ext cx="8377225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600" b="1" dirty="0" smtClean="0">
                <a:solidFill>
                  <a:srgbClr val="FF0000"/>
                </a:solidFill>
              </a:rPr>
              <a:t>Piezo Buzzer</a:t>
            </a:r>
          </a:p>
          <a:p>
            <a:pPr algn="ctr"/>
            <a:r>
              <a:rPr lang="en-US" altLang="ko-KR" sz="4000" b="1" dirty="0" smtClean="0">
                <a:solidFill>
                  <a:srgbClr val="000000"/>
                </a:solidFill>
                <a:latin typeface="inherit"/>
              </a:rPr>
              <a:t> </a:t>
            </a:r>
            <a:endParaRPr lang="ko-KR" altLang="en-US" sz="40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80439" y="5322278"/>
            <a:ext cx="714814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smtClean="0"/>
              <a:t>June 18,2026</a:t>
            </a:r>
            <a:endParaRPr lang="en-US" altLang="ko-KR" sz="2400" b="1" dirty="0" smtClean="0"/>
          </a:p>
          <a:p>
            <a:pPr algn="r"/>
            <a:r>
              <a:rPr lang="en-US" altLang="ko-KR" sz="2400" b="1" dirty="0" smtClean="0"/>
              <a:t>by SIKWON</a:t>
            </a:r>
          </a:p>
          <a:p>
            <a:pPr algn="r"/>
            <a:endParaRPr lang="en-US" altLang="ko-KR" sz="2400" b="1" dirty="0"/>
          </a:p>
          <a:p>
            <a:pPr algn="r"/>
            <a:r>
              <a:rPr lang="ko-KR" altLang="en-US" sz="2400" b="1" dirty="0"/>
              <a:t> </a:t>
            </a:r>
          </a:p>
          <a:p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132365" y="4829549"/>
            <a:ext cx="522611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 smtClean="0">
                <a:solidFill>
                  <a:srgbClr val="000000"/>
                </a:solidFill>
                <a:latin typeface="TT Norms Pro"/>
              </a:rPr>
              <a:t>공진주파수</a:t>
            </a:r>
            <a:r>
              <a:rPr lang="en-US" altLang="ko-KR" b="1" dirty="0" smtClean="0">
                <a:solidFill>
                  <a:srgbClr val="000000"/>
                </a:solidFill>
                <a:latin typeface="TT Norms Pro"/>
              </a:rPr>
              <a:t>:4KHZ </a:t>
            </a:r>
            <a:r>
              <a:rPr lang="ko-KR" altLang="en-US" b="1" err="1">
                <a:solidFill>
                  <a:srgbClr val="000000"/>
                </a:solidFill>
                <a:latin typeface="TT Norms Pro"/>
              </a:rPr>
              <a:t>피에조</a:t>
            </a:r>
            <a:r>
              <a:rPr lang="ko-KR" altLang="en-US" b="1">
                <a:solidFill>
                  <a:srgbClr val="000000"/>
                </a:solidFill>
                <a:latin typeface="TT Norms Pro"/>
              </a:rPr>
              <a:t> </a:t>
            </a:r>
            <a:r>
              <a:rPr lang="ko-KR" altLang="en-US" b="1" smtClean="0">
                <a:solidFill>
                  <a:srgbClr val="000000"/>
                </a:solidFill>
                <a:latin typeface="TT Norms Pro"/>
              </a:rPr>
              <a:t>부저</a:t>
            </a:r>
            <a:endParaRPr lang="en-US" altLang="ko-KR" b="1" smtClean="0">
              <a:solidFill>
                <a:srgbClr val="000000"/>
              </a:solidFill>
              <a:latin typeface="TT Norms Pro"/>
            </a:endParaRPr>
          </a:p>
          <a:p>
            <a:endParaRPr lang="en-US" altLang="ko-KR" b="1">
              <a:solidFill>
                <a:srgbClr val="000000"/>
              </a:solidFill>
              <a:latin typeface="TT Norms Pro"/>
            </a:endParaRPr>
          </a:p>
          <a:p>
            <a:r>
              <a:rPr lang="en-US" altLang="ko-KR" b="1" smtClean="0">
                <a:solidFill>
                  <a:srgbClr val="000000"/>
                </a:solidFill>
                <a:latin typeface="TT Norms Pro"/>
              </a:rPr>
              <a:t>*</a:t>
            </a:r>
            <a:r>
              <a:rPr lang="ko-KR" altLang="en-US" b="1" smtClean="0">
                <a:solidFill>
                  <a:srgbClr val="000000"/>
                </a:solidFill>
                <a:latin typeface="TT Norms Pro"/>
              </a:rPr>
              <a:t>공진주파수</a:t>
            </a:r>
            <a:r>
              <a:rPr lang="en-US" altLang="ko-KR" b="1" smtClean="0">
                <a:solidFill>
                  <a:srgbClr val="000000"/>
                </a:solidFill>
                <a:latin typeface="TT Norms Pro"/>
              </a:rPr>
              <a:t>:  </a:t>
            </a:r>
            <a:r>
              <a:rPr lang="ko-KR" altLang="en-US" b="1" smtClean="0">
                <a:solidFill>
                  <a:srgbClr val="000000"/>
                </a:solidFill>
                <a:latin typeface="TT Norms Pro"/>
              </a:rPr>
              <a:t>외부의 힘</a:t>
            </a:r>
            <a:r>
              <a:rPr lang="en-US" altLang="ko-KR" b="1" smtClean="0">
                <a:solidFill>
                  <a:srgbClr val="000000"/>
                </a:solidFill>
                <a:latin typeface="TT Norms Pro"/>
              </a:rPr>
              <a:t>(</a:t>
            </a:r>
            <a:r>
              <a:rPr lang="ko-KR" altLang="en-US" b="1" smtClean="0">
                <a:solidFill>
                  <a:srgbClr val="000000"/>
                </a:solidFill>
                <a:latin typeface="TT Norms Pro"/>
              </a:rPr>
              <a:t>에너지</a:t>
            </a:r>
            <a:r>
              <a:rPr lang="en-US" altLang="ko-KR" b="1" smtClean="0">
                <a:solidFill>
                  <a:srgbClr val="000000"/>
                </a:solidFill>
                <a:latin typeface="TT Norms Pro"/>
              </a:rPr>
              <a:t>)</a:t>
            </a:r>
            <a:r>
              <a:rPr lang="ko-KR" altLang="en-US" b="1" smtClean="0">
                <a:solidFill>
                  <a:srgbClr val="000000"/>
                </a:solidFill>
                <a:latin typeface="TT Norms Pro"/>
              </a:rPr>
              <a:t>를 받아</a:t>
            </a:r>
            <a:endParaRPr lang="en-US" altLang="ko-KR" b="1" smtClean="0">
              <a:solidFill>
                <a:srgbClr val="000000"/>
              </a:solidFill>
              <a:latin typeface="TT Norms Pro"/>
            </a:endParaRPr>
          </a:p>
          <a:p>
            <a:r>
              <a:rPr lang="ko-KR" altLang="en-US" b="1" smtClean="0">
                <a:solidFill>
                  <a:srgbClr val="000000"/>
                </a:solidFill>
                <a:latin typeface="TT Norms Pro"/>
              </a:rPr>
              <a:t>가장 크고 강하게 진동하는 고유한 특정 </a:t>
            </a:r>
            <a:r>
              <a:rPr lang="ko-KR" altLang="en-US" b="1" smtClean="0">
                <a:solidFill>
                  <a:srgbClr val="000000"/>
                </a:solidFill>
                <a:latin typeface="TT Norms Pro"/>
              </a:rPr>
              <a:t>주파수 </a:t>
            </a:r>
            <a:endParaRPr lang="ko-KR" altLang="en-US" dirty="0"/>
          </a:p>
        </p:txBody>
      </p:sp>
      <p:pic>
        <p:nvPicPr>
          <p:cNvPr id="1026" name="Picture 2" descr="https://media.digikey.com/Photos/Soberton%20Photos/PT-1407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3419" y="3377345"/>
            <a:ext cx="2262186" cy="2262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8209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/>
        </p:nvSpPr>
        <p:spPr>
          <a:xfrm>
            <a:off x="11438792" y="-2"/>
            <a:ext cx="753207" cy="753207"/>
          </a:xfrm>
          <a:prstGeom prst="rtTriangle">
            <a:avLst/>
          </a:prstGeom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379" y="222713"/>
            <a:ext cx="24817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Piezo Buzzer</a:t>
            </a:r>
            <a:endParaRPr lang="en-US" altLang="ko-KR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04694" y="234340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8274" y="858713"/>
            <a:ext cx="266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128572"/>
            <a:ext cx="9297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ea typeface="Pretendard Variable"/>
              </a:rPr>
              <a:t>.</a:t>
            </a: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retendard Variable"/>
              </a:rPr>
              <a:t> 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3239" y="759971"/>
            <a:ext cx="113054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altLang="ko-KR" dirty="0" smtClean="0"/>
          </a:p>
          <a:p>
            <a:pPr fontAlgn="base"/>
            <a:endParaRPr lang="ko-KR" altLang="en-US" dirty="0"/>
          </a:p>
        </p:txBody>
      </p:sp>
      <p:sp>
        <p:nvSpPr>
          <p:cNvPr id="17" name="내용 개체 틀 1"/>
          <p:cNvSpPr>
            <a:spLocks noGrp="1"/>
          </p:cNvSpPr>
          <p:nvPr>
            <p:ph idx="1"/>
          </p:nvPr>
        </p:nvSpPr>
        <p:spPr>
          <a:xfrm>
            <a:off x="797058" y="1210096"/>
            <a:ext cx="10425124" cy="5543731"/>
          </a:xfrm>
        </p:spPr>
        <p:txBody>
          <a:bodyPr>
            <a:normAutofit/>
          </a:bodyPr>
          <a:lstStyle/>
          <a:p>
            <a:r>
              <a:rPr lang="ko-KR" altLang="en-US" sz="2000" dirty="0" smtClean="0"/>
              <a:t>스피커</a:t>
            </a:r>
            <a:endParaRPr lang="en-US" altLang="ko-KR" sz="2000" dirty="0" smtClean="0"/>
          </a:p>
          <a:p>
            <a:pPr lvl="1"/>
            <a:r>
              <a:rPr lang="ko-KR" altLang="en-US" sz="1600" dirty="0" smtClean="0"/>
              <a:t>전기 신호를 소리로 변환시켜 주는 장치</a:t>
            </a:r>
            <a:endParaRPr lang="en-US" altLang="ko-KR" sz="1600" dirty="0" smtClean="0"/>
          </a:p>
          <a:p>
            <a:pPr lvl="1"/>
            <a:r>
              <a:rPr lang="ko-KR" altLang="en-US" sz="1600" dirty="0" smtClean="0"/>
              <a:t>전자석으로 진동판을 빠른 속도로 움직여 진동판의 진동에 의해 소리 발생</a:t>
            </a:r>
            <a:endParaRPr lang="en-US" altLang="ko-KR" sz="1600" dirty="0" smtClean="0"/>
          </a:p>
          <a:p>
            <a:pPr marL="0" indent="0" fontAlgn="base">
              <a:buNone/>
            </a:pPr>
            <a:r>
              <a:rPr lang="ko-KR" altLang="en-US" sz="1600" dirty="0" smtClean="0"/>
              <a:t>    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수정진동자를 </a:t>
            </a:r>
            <a:r>
              <a:rPr lang="ko-KR" altLang="en-US" sz="1600" dirty="0"/>
              <a:t>이용하여 소리를 낸다</a:t>
            </a:r>
            <a:r>
              <a:rPr lang="en-US" altLang="ko-KR" sz="1600" dirty="0" smtClean="0"/>
              <a:t>.</a:t>
            </a:r>
          </a:p>
          <a:p>
            <a:pPr marL="0" indent="0" fontAlgn="base">
              <a:buNone/>
            </a:pPr>
            <a:r>
              <a:rPr lang="en-US" altLang="ko-KR" sz="1600" dirty="0"/>
              <a:t> </a:t>
            </a:r>
            <a:r>
              <a:rPr lang="en-US" altLang="ko-KR" sz="1600" dirty="0" smtClean="0"/>
              <a:t>    - </a:t>
            </a:r>
            <a:r>
              <a:rPr lang="ko-KR" altLang="en-US" sz="1600" dirty="0" smtClean="0"/>
              <a:t>수정 </a:t>
            </a:r>
            <a:r>
              <a:rPr lang="ko-KR" altLang="en-US" sz="1600" dirty="0" err="1"/>
              <a:t>진동자에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단속적</a:t>
            </a:r>
            <a:r>
              <a:rPr lang="en-US" altLang="ko-KR" sz="1400" dirty="0" smtClean="0"/>
              <a:t>(</a:t>
            </a:r>
            <a:r>
              <a:rPr lang="ko-KR" altLang="en-US" sz="1400" dirty="0"/>
              <a:t>일정한 주기에 </a:t>
            </a:r>
            <a:r>
              <a:rPr lang="ko-KR" altLang="en-US" sz="1400" dirty="0" smtClean="0"/>
              <a:t>따라</a:t>
            </a:r>
            <a:r>
              <a:rPr lang="en-US" altLang="ko-KR" sz="1400" dirty="0" smtClean="0"/>
              <a:t>)</a:t>
            </a:r>
            <a:r>
              <a:rPr lang="ko-KR" altLang="en-US" sz="1600" dirty="0" smtClean="0"/>
              <a:t>으로 </a:t>
            </a:r>
            <a:r>
              <a:rPr lang="ko-KR" altLang="en-US" sz="1600" dirty="0"/>
              <a:t>전류를 보내어 수정진동자의 늘어짐과 수축을 </a:t>
            </a:r>
            <a:endParaRPr lang="en-US" altLang="ko-KR" sz="1600" dirty="0" smtClean="0"/>
          </a:p>
          <a:p>
            <a:pPr marL="0" indent="0" fontAlgn="base">
              <a:buNone/>
            </a:pPr>
            <a:r>
              <a:rPr lang="en-US" altLang="ko-KR" sz="1600" dirty="0"/>
              <a:t> </a:t>
            </a:r>
            <a:r>
              <a:rPr lang="en-US" altLang="ko-KR" sz="1600" dirty="0" smtClean="0"/>
              <a:t>      </a:t>
            </a:r>
            <a:r>
              <a:rPr lang="ko-KR" altLang="en-US" sz="1600" dirty="0" smtClean="0"/>
              <a:t>발생 </a:t>
            </a:r>
            <a:r>
              <a:rPr lang="ko-KR" altLang="en-US" sz="1600" dirty="0" err="1" smtClean="0"/>
              <a:t>시키므로써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공기를 </a:t>
            </a:r>
            <a:r>
              <a:rPr lang="ko-KR" altLang="en-US" sz="1600" dirty="0"/>
              <a:t>진동시켜 소리를 내는 장치 </a:t>
            </a:r>
            <a:endParaRPr lang="en-US" altLang="ko-KR" sz="1600" dirty="0"/>
          </a:p>
          <a:p>
            <a:pPr marL="457200" lvl="1" indent="0">
              <a:buNone/>
            </a:pPr>
            <a:endParaRPr lang="en-US" altLang="ko-KR" sz="1600" dirty="0" smtClean="0"/>
          </a:p>
          <a:p>
            <a:pPr marL="457200" lvl="1" indent="0">
              <a:buNone/>
            </a:pPr>
            <a:endParaRPr lang="en-US" altLang="ko-KR" dirty="0" smtClean="0"/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endParaRPr lang="en-US" altLang="ko-KR" dirty="0" smtClean="0"/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endParaRPr lang="en-US" altLang="ko-KR" dirty="0" smtClean="0"/>
          </a:p>
          <a:p>
            <a:r>
              <a:rPr lang="en-US" altLang="ko-KR" sz="2000" dirty="0" smtClean="0"/>
              <a:t>PWM </a:t>
            </a:r>
            <a:r>
              <a:rPr lang="ko-KR" altLang="en-US" sz="2000" dirty="0" smtClean="0"/>
              <a:t>신호에 의한 스피커 제어</a:t>
            </a:r>
            <a:endParaRPr lang="en-US" altLang="ko-KR" sz="2000" dirty="0" smtClean="0"/>
          </a:p>
          <a:p>
            <a:pPr lvl="1"/>
            <a:r>
              <a:rPr lang="en-US" altLang="ko-KR" sz="1600" dirty="0" smtClean="0"/>
              <a:t>50% </a:t>
            </a:r>
            <a:r>
              <a:rPr lang="ko-KR" altLang="en-US" sz="1600" dirty="0" err="1" smtClean="0"/>
              <a:t>듀티</a:t>
            </a:r>
            <a:r>
              <a:rPr lang="ko-KR" altLang="en-US" sz="1600" dirty="0" smtClean="0"/>
              <a:t> 사이클의 </a:t>
            </a:r>
            <a:r>
              <a:rPr lang="en-US" altLang="ko-KR" sz="1600" dirty="0" smtClean="0"/>
              <a:t>PWM </a:t>
            </a:r>
            <a:r>
              <a:rPr lang="ko-KR" altLang="en-US" sz="1600" dirty="0" smtClean="0"/>
              <a:t>신호로 스피커 제어</a:t>
            </a:r>
            <a:endParaRPr lang="en-US" altLang="ko-KR" sz="1600" dirty="0" smtClean="0"/>
          </a:p>
          <a:p>
            <a:pPr lvl="1"/>
            <a:r>
              <a:rPr lang="ko-KR" altLang="en-US" sz="1600" dirty="0" smtClean="0"/>
              <a:t>재생하고자 하는 음의 주파수에 맞는 </a:t>
            </a:r>
            <a:r>
              <a:rPr lang="ko-KR" altLang="en-US" sz="1600" dirty="0" err="1" smtClean="0"/>
              <a:t>구형파로</a:t>
            </a:r>
            <a:r>
              <a:rPr lang="ko-KR" altLang="en-US" sz="1600" dirty="0" smtClean="0"/>
              <a:t> 제어</a:t>
            </a:r>
            <a:endParaRPr lang="en-US" altLang="ko-KR" sz="1600" dirty="0" smtClean="0"/>
          </a:p>
          <a:p>
            <a:endParaRPr lang="en-US" altLang="ko-KR" dirty="0" smtClean="0"/>
          </a:p>
          <a:p>
            <a:pPr lvl="2"/>
            <a:endParaRPr lang="ko-KR" altLang="en-US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757" y="3203865"/>
            <a:ext cx="4448992" cy="200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305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/>
        </p:nvSpPr>
        <p:spPr>
          <a:xfrm>
            <a:off x="11438792" y="-2"/>
            <a:ext cx="753207" cy="753207"/>
          </a:xfrm>
          <a:prstGeom prst="rtTriangle">
            <a:avLst/>
          </a:prstGeom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379" y="222713"/>
            <a:ext cx="34444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en-US" altLang="ko-KR" sz="2800" b="1" dirty="0"/>
              <a:t>Piezo </a:t>
            </a:r>
            <a:r>
              <a:rPr lang="en-US" altLang="ko-KR" sz="2800" b="1" dirty="0" smtClean="0"/>
              <a:t>Buzzer(AVR)</a:t>
            </a:r>
            <a:endParaRPr lang="en-US" altLang="ko-KR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04694" y="234340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8274" y="858713"/>
            <a:ext cx="266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057742"/>
            <a:ext cx="15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altLang="ko-KR" sz="1400" dirty="0" smtClean="0"/>
              <a:t>.</a:t>
            </a:r>
            <a:endParaRPr lang="ko-KR" altLang="en-US" dirty="0"/>
          </a:p>
          <a:p>
            <a:r>
              <a:rPr lang="en-US" altLang="ko-KR" dirty="0" smtClean="0"/>
              <a:t>                 </a:t>
            </a:r>
          </a:p>
          <a:p>
            <a:r>
              <a:rPr lang="en-US" altLang="ko-KR" dirty="0" smtClean="0"/>
              <a:t>     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128572"/>
            <a:ext cx="9297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ea typeface="Pretendard Variable"/>
              </a:rPr>
              <a:t>.</a:t>
            </a: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retendard Variable"/>
              </a:rPr>
              <a:t> 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3239" y="759971"/>
            <a:ext cx="113054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altLang="ko-KR" dirty="0" smtClean="0"/>
          </a:p>
          <a:p>
            <a:pPr fontAlgn="base"/>
            <a:endParaRPr lang="ko-KR" altLang="en-US" dirty="0"/>
          </a:p>
        </p:txBody>
      </p:sp>
      <p:sp>
        <p:nvSpPr>
          <p:cNvPr id="14" name="내용 개체 틀 1"/>
          <p:cNvSpPr>
            <a:spLocks noGrp="1"/>
          </p:cNvSpPr>
          <p:nvPr>
            <p:ph idx="1"/>
          </p:nvPr>
        </p:nvSpPr>
        <p:spPr>
          <a:xfrm>
            <a:off x="457200" y="1556792"/>
            <a:ext cx="9418320" cy="4824536"/>
          </a:xfrm>
        </p:spPr>
        <p:txBody>
          <a:bodyPr/>
          <a:lstStyle/>
          <a:p>
            <a:r>
              <a:rPr lang="en-US" altLang="ko-KR" sz="1800" dirty="0" smtClean="0"/>
              <a:t>4</a:t>
            </a:r>
            <a:r>
              <a:rPr lang="ko-KR" altLang="en-US" sz="1800" dirty="0"/>
              <a:t>번 </a:t>
            </a:r>
            <a:r>
              <a:rPr lang="en-US" altLang="ko-KR" sz="1800" dirty="0"/>
              <a:t>CTC </a:t>
            </a:r>
            <a:r>
              <a:rPr lang="ko-KR" altLang="en-US" sz="1800" dirty="0"/>
              <a:t>모드 </a:t>
            </a:r>
            <a:r>
              <a:rPr lang="ko-KR" altLang="en-US" sz="1800" dirty="0" smtClean="0"/>
              <a:t>사용</a:t>
            </a:r>
            <a:endParaRPr lang="en-US" altLang="ko-KR" sz="1800" dirty="0" smtClean="0"/>
          </a:p>
          <a:p>
            <a:pPr lvl="1"/>
            <a:r>
              <a:rPr lang="en-US" altLang="ko-KR" sz="1800" dirty="0" smtClean="0"/>
              <a:t>OCR1A </a:t>
            </a:r>
            <a:r>
              <a:rPr lang="ko-KR" altLang="en-US" sz="1800" dirty="0" smtClean="0"/>
              <a:t>레지스터의 </a:t>
            </a:r>
            <a:r>
              <a:rPr lang="ko-KR" altLang="en-US" sz="1800" dirty="0" err="1" smtClean="0"/>
              <a:t>비교일치</a:t>
            </a:r>
            <a:r>
              <a:rPr lang="ko-KR" altLang="en-US" sz="1800" dirty="0" smtClean="0"/>
              <a:t> 값 조절을 통해 주파수 제어 가능</a:t>
            </a:r>
            <a:r>
              <a:rPr lang="en-US" altLang="ko-KR" sz="1800" dirty="0" smtClean="0"/>
              <a:t>(Toggle:  </a:t>
            </a:r>
            <a:r>
              <a:rPr lang="ko-KR" altLang="en-US" sz="1800" dirty="0" err="1" smtClean="0"/>
              <a:t>비교일치가</a:t>
            </a:r>
            <a:r>
              <a:rPr lang="ko-KR" altLang="en-US" sz="1800" dirty="0" smtClean="0"/>
              <a:t> 되면 </a:t>
            </a:r>
            <a:r>
              <a:rPr lang="en-US" altLang="ko-KR" sz="1800" dirty="0" smtClean="0"/>
              <a:t>1</a:t>
            </a:r>
            <a:r>
              <a:rPr lang="ko-KR" altLang="en-US" sz="1800" dirty="0" smtClean="0"/>
              <a:t>번은 </a:t>
            </a:r>
            <a:r>
              <a:rPr lang="en-US" altLang="ko-KR" sz="1800" dirty="0" smtClean="0"/>
              <a:t>high 1</a:t>
            </a:r>
            <a:r>
              <a:rPr lang="ko-KR" altLang="en-US" sz="1800" dirty="0" smtClean="0"/>
              <a:t>번은 </a:t>
            </a:r>
            <a:r>
              <a:rPr lang="en-US" altLang="ko-KR" sz="1800" dirty="0" smtClean="0"/>
              <a:t>Low) </a:t>
            </a:r>
          </a:p>
          <a:p>
            <a:endParaRPr lang="en-US" altLang="ko-KR" sz="1800" dirty="0"/>
          </a:p>
          <a:p>
            <a:endParaRPr lang="en-US" altLang="ko-KR" sz="1800" dirty="0" smtClean="0"/>
          </a:p>
          <a:p>
            <a:endParaRPr lang="en-US" altLang="ko-KR" sz="1800" dirty="0" smtClean="0"/>
          </a:p>
          <a:p>
            <a:endParaRPr lang="en-US" altLang="ko-KR" sz="1800" dirty="0" smtClean="0"/>
          </a:p>
          <a:p>
            <a:endParaRPr lang="en-US" altLang="ko-KR" sz="1800" dirty="0"/>
          </a:p>
          <a:p>
            <a:r>
              <a:rPr lang="en-US" altLang="ko-KR" sz="1800" dirty="0" smtClean="0"/>
              <a:t>8</a:t>
            </a:r>
            <a:r>
              <a:rPr lang="ko-KR" altLang="en-US" sz="1800" dirty="0" smtClean="0"/>
              <a:t>번 위상 및 주파수 교정 </a:t>
            </a:r>
            <a:r>
              <a:rPr lang="en-US" altLang="ko-KR" sz="1800" dirty="0" smtClean="0"/>
              <a:t>PWM </a:t>
            </a:r>
            <a:r>
              <a:rPr lang="ko-KR" altLang="en-US" sz="1800" dirty="0" smtClean="0"/>
              <a:t>모드 사용</a:t>
            </a:r>
            <a:endParaRPr lang="en-US" altLang="ko-KR" sz="1800" dirty="0" smtClean="0"/>
          </a:p>
          <a:p>
            <a:pPr lvl="1"/>
            <a:r>
              <a:rPr lang="en-US" altLang="ko-KR" sz="1800" dirty="0" smtClean="0"/>
              <a:t>TOP </a:t>
            </a:r>
            <a:r>
              <a:rPr lang="ko-KR" altLang="en-US" sz="1800" dirty="0" smtClean="0"/>
              <a:t>값을 </a:t>
            </a:r>
            <a:r>
              <a:rPr lang="en-US" altLang="ko-KR" sz="1800" dirty="0" smtClean="0"/>
              <a:t>ICR1 </a:t>
            </a:r>
            <a:r>
              <a:rPr lang="ko-KR" altLang="en-US" sz="1800" dirty="0" smtClean="0"/>
              <a:t>레지스터에 설정하여 주파수 제어 가능</a:t>
            </a:r>
            <a:endParaRPr lang="en-US" altLang="ko-KR" sz="1800" dirty="0" smtClean="0"/>
          </a:p>
          <a:p>
            <a:pPr lvl="1"/>
            <a:r>
              <a:rPr lang="en-US" altLang="ko-KR" sz="1800" dirty="0" smtClean="0"/>
              <a:t>50% </a:t>
            </a:r>
            <a:r>
              <a:rPr lang="ko-KR" altLang="en-US" sz="1800" dirty="0" err="1" smtClean="0"/>
              <a:t>듀티</a:t>
            </a:r>
            <a:r>
              <a:rPr lang="ko-KR" altLang="en-US" sz="1800" dirty="0" smtClean="0"/>
              <a:t> 사이클을 위해 </a:t>
            </a:r>
            <a:r>
              <a:rPr lang="en-US" altLang="ko-KR" sz="1800" dirty="0" smtClean="0"/>
              <a:t>OCR1B </a:t>
            </a:r>
            <a:r>
              <a:rPr lang="ko-KR" altLang="en-US" sz="1800" dirty="0" smtClean="0"/>
              <a:t>레지스터 값은 </a:t>
            </a:r>
            <a:r>
              <a:rPr lang="en-US" altLang="ko-KR" sz="1800" dirty="0" smtClean="0"/>
              <a:t>ICR1 </a:t>
            </a:r>
            <a:r>
              <a:rPr lang="ko-KR" altLang="en-US" sz="1800" dirty="0" smtClean="0"/>
              <a:t>레지스터의 절반으로 설정</a:t>
            </a:r>
            <a:endParaRPr lang="ko-KR" altLang="en-US" sz="1800" dirty="0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66284" y="2508187"/>
            <a:ext cx="4411429" cy="1537143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31999" y="5315143"/>
            <a:ext cx="4445714" cy="1542857"/>
          </a:xfrm>
          <a:prstGeom prst="rect">
            <a:avLst/>
          </a:prstGeom>
        </p:spPr>
      </p:pic>
      <p:sp>
        <p:nvSpPr>
          <p:cNvPr id="19" name="제목 2"/>
          <p:cNvSpPr>
            <a:spLocks noGrp="1"/>
          </p:cNvSpPr>
          <p:nvPr>
            <p:ph type="title"/>
          </p:nvPr>
        </p:nvSpPr>
        <p:spPr>
          <a:xfrm>
            <a:off x="457200" y="879854"/>
            <a:ext cx="7931224" cy="618678"/>
          </a:xfrm>
        </p:spPr>
        <p:txBody>
          <a:bodyPr>
            <a:normAutofit/>
          </a:bodyPr>
          <a:lstStyle/>
          <a:p>
            <a:r>
              <a:rPr lang="ko-KR" altLang="en-US" sz="2400" dirty="0" err="1" smtClean="0"/>
              <a:t>구형파</a:t>
            </a:r>
            <a:r>
              <a:rPr lang="ko-KR" altLang="en-US" sz="2400" dirty="0" smtClean="0"/>
              <a:t> 생성 방법 </a:t>
            </a:r>
            <a:r>
              <a:rPr lang="en-US" altLang="ko-KR" sz="2400" dirty="0" smtClean="0"/>
              <a:t>(1</a:t>
            </a:r>
            <a:r>
              <a:rPr lang="ko-KR" altLang="en-US" sz="2400" dirty="0" smtClean="0"/>
              <a:t>번</a:t>
            </a:r>
            <a:r>
              <a:rPr lang="en-US" altLang="ko-KR" sz="2400" dirty="0" smtClean="0"/>
              <a:t>/3</a:t>
            </a:r>
            <a:r>
              <a:rPr lang="ko-KR" altLang="en-US" sz="2400" dirty="0" smtClean="0"/>
              <a:t>번 타이머</a:t>
            </a:r>
            <a:r>
              <a:rPr lang="en-US" altLang="ko-KR" sz="2400" dirty="0" smtClean="0"/>
              <a:t>/</a:t>
            </a:r>
            <a:r>
              <a:rPr lang="ko-KR" altLang="en-US" sz="2400" dirty="0" smtClean="0"/>
              <a:t>카운터 사용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26669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/>
        </p:nvSpPr>
        <p:spPr>
          <a:xfrm>
            <a:off x="11438792" y="-2"/>
            <a:ext cx="753207" cy="753207"/>
          </a:xfrm>
          <a:prstGeom prst="rtTriangle">
            <a:avLst/>
          </a:prstGeom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379" y="222713"/>
            <a:ext cx="34444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en-US" altLang="ko-KR" sz="2800" b="1" dirty="0"/>
              <a:t>Piezo</a:t>
            </a:r>
            <a:r>
              <a:rPr lang="en-US" altLang="ko-KR" sz="2800" b="1" dirty="0" smtClean="0"/>
              <a:t> </a:t>
            </a:r>
            <a:r>
              <a:rPr lang="en-US" altLang="ko-KR" sz="2800" b="1" dirty="0"/>
              <a:t>Buzzer(AVR)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694" y="234340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8274" y="858713"/>
            <a:ext cx="266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057742"/>
            <a:ext cx="15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altLang="ko-KR" sz="1400" dirty="0" smtClean="0"/>
              <a:t>.</a:t>
            </a:r>
            <a:endParaRPr lang="ko-KR" altLang="en-US" dirty="0"/>
          </a:p>
          <a:p>
            <a:r>
              <a:rPr lang="en-US" altLang="ko-KR" dirty="0" smtClean="0"/>
              <a:t>                 </a:t>
            </a:r>
          </a:p>
          <a:p>
            <a:r>
              <a:rPr lang="en-US" altLang="ko-KR" dirty="0" smtClean="0"/>
              <a:t>     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128572"/>
            <a:ext cx="9297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ea typeface="Pretendard Variable"/>
              </a:rPr>
              <a:t>.</a:t>
            </a: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retendard Variable"/>
              </a:rPr>
              <a:t> 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3239" y="759971"/>
            <a:ext cx="113054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altLang="ko-KR" dirty="0" smtClean="0"/>
          </a:p>
          <a:p>
            <a:pPr fontAlgn="base"/>
            <a:endParaRPr lang="ko-KR" altLang="en-US" dirty="0"/>
          </a:p>
        </p:txBody>
      </p:sp>
      <p:sp>
        <p:nvSpPr>
          <p:cNvPr id="19" name="제목 2"/>
          <p:cNvSpPr>
            <a:spLocks noGrp="1"/>
          </p:cNvSpPr>
          <p:nvPr>
            <p:ph type="title"/>
          </p:nvPr>
        </p:nvSpPr>
        <p:spPr>
          <a:xfrm>
            <a:off x="457200" y="879854"/>
            <a:ext cx="7931224" cy="618678"/>
          </a:xfrm>
        </p:spPr>
        <p:txBody>
          <a:bodyPr>
            <a:normAutofit/>
          </a:bodyPr>
          <a:lstStyle/>
          <a:p>
            <a:r>
              <a:rPr lang="ko-KR" altLang="en-US" sz="2400" dirty="0" smtClean="0"/>
              <a:t>음과 주파수 </a:t>
            </a:r>
            <a:endParaRPr lang="ko-KR" altLang="en-US" sz="2400" dirty="0"/>
          </a:p>
        </p:txBody>
      </p:sp>
      <p:sp>
        <p:nvSpPr>
          <p:cNvPr id="18" name="내용 개체 틀 1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824536"/>
          </a:xfrm>
        </p:spPr>
        <p:txBody>
          <a:bodyPr/>
          <a:lstStyle/>
          <a:p>
            <a:r>
              <a:rPr lang="en-US" altLang="ko-KR" dirty="0" smtClean="0"/>
              <a:t>16MHz </a:t>
            </a:r>
            <a:r>
              <a:rPr lang="ko-KR" altLang="en-US" dirty="0" err="1" smtClean="0"/>
              <a:t>클록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분주비</a:t>
            </a:r>
            <a:r>
              <a:rPr lang="ko-KR" altLang="en-US" dirty="0" smtClean="0"/>
              <a:t> </a:t>
            </a:r>
            <a:r>
              <a:rPr lang="en-US" altLang="ko-KR" dirty="0" smtClean="0"/>
              <a:t>8</a:t>
            </a:r>
          </a:p>
          <a:p>
            <a:r>
              <a:rPr lang="en-US" altLang="ko-KR" dirty="0" smtClean="0"/>
              <a:t>1/3</a:t>
            </a:r>
            <a:r>
              <a:rPr lang="ko-KR" altLang="en-US" dirty="0" smtClean="0"/>
              <a:t>번 타이머</a:t>
            </a:r>
            <a:r>
              <a:rPr lang="en-US" altLang="ko-KR" dirty="0" smtClean="0"/>
              <a:t>/</a:t>
            </a:r>
            <a:r>
              <a:rPr lang="ko-KR" altLang="en-US" dirty="0" smtClean="0"/>
              <a:t>카운터</a:t>
            </a:r>
            <a:endParaRPr lang="ko-KR" altLang="en-US" dirty="0"/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50" y="2568749"/>
            <a:ext cx="3690422" cy="4073953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337" y="2463086"/>
            <a:ext cx="7796389" cy="373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651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/>
        </p:nvSpPr>
        <p:spPr>
          <a:xfrm>
            <a:off x="11438792" y="-2"/>
            <a:ext cx="753207" cy="753207"/>
          </a:xfrm>
          <a:prstGeom prst="rtTriangle">
            <a:avLst/>
          </a:prstGeom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379" y="222713"/>
            <a:ext cx="34444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en-US" altLang="ko-KR" sz="2800" b="1" dirty="0"/>
              <a:t>Piezo</a:t>
            </a:r>
            <a:r>
              <a:rPr lang="en-US" altLang="ko-KR" sz="2800" b="1" dirty="0" smtClean="0"/>
              <a:t> </a:t>
            </a:r>
            <a:r>
              <a:rPr lang="en-US" altLang="ko-KR" sz="2800" b="1" dirty="0"/>
              <a:t>Buzzer(AVR)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694" y="234340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8274" y="858713"/>
            <a:ext cx="266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057742"/>
            <a:ext cx="15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altLang="ko-KR" sz="1400" dirty="0" smtClean="0"/>
              <a:t>.</a:t>
            </a:r>
            <a:endParaRPr lang="ko-KR" altLang="en-US" dirty="0"/>
          </a:p>
          <a:p>
            <a:r>
              <a:rPr lang="en-US" altLang="ko-KR" dirty="0" smtClean="0"/>
              <a:t>                 </a:t>
            </a:r>
          </a:p>
          <a:p>
            <a:r>
              <a:rPr lang="en-US" altLang="ko-KR" dirty="0" smtClean="0"/>
              <a:t>     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128572"/>
            <a:ext cx="9297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ea typeface="Pretendard Variable"/>
              </a:rPr>
              <a:t>.</a:t>
            </a: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retendard Variable"/>
              </a:rPr>
              <a:t> 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3239" y="759971"/>
            <a:ext cx="113054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altLang="ko-KR" dirty="0" smtClean="0"/>
          </a:p>
          <a:p>
            <a:pPr fontAlgn="base"/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586851" y="1083136"/>
            <a:ext cx="11045372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2400" b="1" dirty="0">
                <a:solidFill>
                  <a:srgbClr val="FF0000"/>
                </a:solidFill>
                <a:latin typeface="se-nanumgothic"/>
              </a:rPr>
              <a:t>CTC(Clear Timer on </a:t>
            </a:r>
            <a:r>
              <a:rPr lang="en-US" altLang="ko-KR" sz="2400" b="1">
                <a:solidFill>
                  <a:srgbClr val="FF0000"/>
                </a:solidFill>
                <a:latin typeface="se-nanumgothic"/>
              </a:rPr>
              <a:t>Compare </a:t>
            </a:r>
            <a:r>
              <a:rPr lang="en-US" altLang="ko-KR" sz="2400" b="1" smtClean="0">
                <a:solidFill>
                  <a:srgbClr val="FF0000"/>
                </a:solidFill>
                <a:latin typeface="se-nanumgothic"/>
              </a:rPr>
              <a:t>match</a:t>
            </a:r>
            <a:r>
              <a:rPr lang="en-US" altLang="ko-KR" sz="2400" b="1" dirty="0">
                <a:solidFill>
                  <a:srgbClr val="FF0000"/>
                </a:solidFill>
                <a:latin typeface="se-nanumgothic"/>
              </a:rPr>
              <a:t>) </a:t>
            </a:r>
            <a:r>
              <a:rPr lang="ko-KR" altLang="en-US" sz="2400" b="1" dirty="0" smtClean="0">
                <a:solidFill>
                  <a:srgbClr val="FF0000"/>
                </a:solidFill>
                <a:latin typeface="se-nanumgothic"/>
              </a:rPr>
              <a:t>모드</a:t>
            </a:r>
            <a:endParaRPr lang="en-US" altLang="ko-KR" sz="2400" b="1" i="0" dirty="0" smtClean="0">
              <a:solidFill>
                <a:srgbClr val="FF0000"/>
              </a:solidFill>
              <a:effectLst/>
              <a:latin typeface="se-nanumgothic"/>
            </a:endParaRPr>
          </a:p>
          <a:p>
            <a:pPr fontAlgn="base"/>
            <a:endParaRPr lang="en-US" altLang="ko-KR" b="1" dirty="0">
              <a:solidFill>
                <a:srgbClr val="636363"/>
              </a:solidFill>
              <a:latin typeface="se-nanumgothic"/>
            </a:endParaRPr>
          </a:p>
          <a:p>
            <a:pPr fontAlgn="base"/>
            <a:r>
              <a:rPr lang="en-US" altLang="ko-KR" b="1" i="0" dirty="0" smtClean="0">
                <a:solidFill>
                  <a:srgbClr val="636363"/>
                </a:solidFill>
                <a:effectLst/>
                <a:latin typeface="se-nanumgothic"/>
              </a:rPr>
              <a:t>Normal </a:t>
            </a:r>
            <a:r>
              <a:rPr lang="ko-KR" altLang="en-US" b="1" i="0" dirty="0" smtClean="0">
                <a:solidFill>
                  <a:srgbClr val="636363"/>
                </a:solidFill>
                <a:effectLst/>
                <a:latin typeface="se-nanumgothic"/>
              </a:rPr>
              <a:t>모드에서는 </a:t>
            </a:r>
            <a:r>
              <a:rPr lang="en-US" altLang="ko-KR" b="1" i="0" dirty="0" smtClean="0">
                <a:solidFill>
                  <a:srgbClr val="636363"/>
                </a:solidFill>
                <a:effectLst/>
                <a:latin typeface="se-nanumgothic"/>
              </a:rPr>
              <a:t>TCNT0</a:t>
            </a:r>
            <a:r>
              <a:rPr lang="ko-KR" altLang="en-US" b="1" i="0" dirty="0" smtClean="0">
                <a:solidFill>
                  <a:srgbClr val="636363"/>
                </a:solidFill>
                <a:effectLst/>
                <a:latin typeface="se-nanumgothic"/>
              </a:rPr>
              <a:t>가 </a:t>
            </a:r>
            <a:r>
              <a:rPr lang="ko-KR" altLang="en-US" b="1" i="0" dirty="0" err="1" smtClean="0">
                <a:solidFill>
                  <a:srgbClr val="636363"/>
                </a:solidFill>
                <a:effectLst/>
                <a:latin typeface="se-nanumgothic"/>
              </a:rPr>
              <a:t>오버플로우가</a:t>
            </a:r>
            <a:r>
              <a:rPr lang="ko-KR" altLang="en-US" b="1" i="0" dirty="0" smtClean="0">
                <a:solidFill>
                  <a:srgbClr val="636363"/>
                </a:solidFill>
                <a:effectLst/>
                <a:latin typeface="se-nanumgothic"/>
              </a:rPr>
              <a:t> </a:t>
            </a:r>
            <a:r>
              <a:rPr lang="ko-KR" altLang="en-US" b="1" i="0" dirty="0" err="1" smtClean="0">
                <a:solidFill>
                  <a:srgbClr val="636363"/>
                </a:solidFill>
                <a:effectLst/>
                <a:latin typeface="se-nanumgothic"/>
              </a:rPr>
              <a:t>되었을때</a:t>
            </a:r>
            <a:r>
              <a:rPr lang="ko-KR" altLang="en-US" b="1" i="0" dirty="0" smtClean="0">
                <a:solidFill>
                  <a:srgbClr val="636363"/>
                </a:solidFill>
                <a:effectLst/>
                <a:latin typeface="se-nanumgothic"/>
              </a:rPr>
              <a:t> 인터럽트가 발생하는 반면</a:t>
            </a:r>
            <a:r>
              <a:rPr lang="en-US" altLang="ko-KR" b="1" i="0" dirty="0" smtClean="0">
                <a:solidFill>
                  <a:srgbClr val="636363"/>
                </a:solidFill>
                <a:effectLst/>
                <a:latin typeface="se-nanumgothic"/>
              </a:rPr>
              <a:t>, CTC(Clear Timer on Compare Match) </a:t>
            </a:r>
            <a:r>
              <a:rPr lang="ko-KR" altLang="en-US" b="1" i="0" dirty="0" smtClean="0">
                <a:solidFill>
                  <a:srgbClr val="636363"/>
                </a:solidFill>
                <a:effectLst/>
                <a:latin typeface="se-nanumgothic"/>
              </a:rPr>
              <a:t>모드는 </a:t>
            </a:r>
            <a:r>
              <a:rPr lang="en-US" altLang="ko-KR" b="1" i="0" dirty="0" err="1" smtClean="0">
                <a:solidFill>
                  <a:srgbClr val="636363"/>
                </a:solidFill>
                <a:effectLst/>
                <a:latin typeface="se-nanumgothic"/>
              </a:rPr>
              <a:t>OCRnA</a:t>
            </a:r>
            <a:r>
              <a:rPr lang="ko-KR" altLang="en-US" b="1" i="0" dirty="0" smtClean="0">
                <a:solidFill>
                  <a:srgbClr val="636363"/>
                </a:solidFill>
                <a:effectLst/>
                <a:latin typeface="se-nanumgothic"/>
              </a:rPr>
              <a:t>의 레지스터에 원하는 값을 </a:t>
            </a:r>
            <a:r>
              <a:rPr lang="ko-KR" altLang="en-US" b="1" i="0" dirty="0" err="1" smtClean="0">
                <a:solidFill>
                  <a:srgbClr val="636363"/>
                </a:solidFill>
                <a:effectLst/>
                <a:latin typeface="se-nanumgothic"/>
              </a:rPr>
              <a:t>넣게되면</a:t>
            </a:r>
            <a:r>
              <a:rPr lang="ko-KR" altLang="en-US" b="1" i="0" dirty="0" smtClean="0">
                <a:solidFill>
                  <a:srgbClr val="636363"/>
                </a:solidFill>
                <a:effectLst/>
                <a:latin typeface="se-nanumgothic"/>
              </a:rPr>
              <a:t> </a:t>
            </a:r>
            <a:r>
              <a:rPr lang="en-US" altLang="ko-KR" b="1" i="0" dirty="0" smtClean="0">
                <a:solidFill>
                  <a:srgbClr val="636363"/>
                </a:solidFill>
                <a:effectLst/>
                <a:latin typeface="se-nanumgothic"/>
              </a:rPr>
              <a:t>TCNT0</a:t>
            </a:r>
            <a:r>
              <a:rPr lang="ko-KR" altLang="en-US" b="1" i="0" dirty="0" smtClean="0">
                <a:solidFill>
                  <a:srgbClr val="636363"/>
                </a:solidFill>
                <a:effectLst/>
                <a:latin typeface="se-nanumgothic"/>
              </a:rPr>
              <a:t>가 </a:t>
            </a:r>
            <a:r>
              <a:rPr lang="en-US" altLang="ko-KR" b="1" i="0" dirty="0" err="1" smtClean="0">
                <a:solidFill>
                  <a:srgbClr val="636363"/>
                </a:solidFill>
                <a:effectLst/>
                <a:latin typeface="se-nanumgothic"/>
              </a:rPr>
              <a:t>OCRnA</a:t>
            </a:r>
            <a:r>
              <a:rPr lang="ko-KR" altLang="en-US" b="1" i="0" dirty="0" smtClean="0">
                <a:solidFill>
                  <a:srgbClr val="636363"/>
                </a:solidFill>
                <a:effectLst/>
                <a:latin typeface="se-nanumgothic"/>
              </a:rPr>
              <a:t>의 값만큼 증가된 뒤 인터럽트</a:t>
            </a:r>
            <a:r>
              <a:rPr lang="en-US" altLang="ko-KR" b="1" i="0" dirty="0" smtClean="0">
                <a:solidFill>
                  <a:srgbClr val="636363"/>
                </a:solidFill>
                <a:effectLst/>
                <a:latin typeface="se-nanumgothic"/>
              </a:rPr>
              <a:t>(Compare Match Interrupt)</a:t>
            </a:r>
            <a:r>
              <a:rPr lang="ko-KR" altLang="en-US" b="1" i="0" dirty="0" smtClean="0">
                <a:solidFill>
                  <a:srgbClr val="636363"/>
                </a:solidFill>
                <a:effectLst/>
                <a:latin typeface="se-nanumgothic"/>
              </a:rPr>
              <a:t>가 발생하게 된다</a:t>
            </a:r>
            <a:r>
              <a:rPr lang="en-US" altLang="ko-KR" b="1" i="0" dirty="0" smtClean="0">
                <a:solidFill>
                  <a:srgbClr val="636363"/>
                </a:solidFill>
                <a:effectLst/>
                <a:latin typeface="se-nanumgothic"/>
              </a:rPr>
              <a:t>. </a:t>
            </a:r>
            <a:r>
              <a:rPr lang="ko-KR" altLang="en-US" b="1" i="0" dirty="0" smtClean="0">
                <a:solidFill>
                  <a:srgbClr val="636363"/>
                </a:solidFill>
                <a:effectLst/>
                <a:latin typeface="se-nanumgothic"/>
              </a:rPr>
              <a:t>즉 사용자가 원하는 값으로 인터럽트를 일으킬 수 있는 장점이 있다</a:t>
            </a:r>
            <a:r>
              <a:rPr lang="en-US" altLang="ko-KR" b="1" i="0" dirty="0" smtClean="0">
                <a:solidFill>
                  <a:srgbClr val="636363"/>
                </a:solidFill>
                <a:effectLst/>
                <a:latin typeface="se-nanumgothic"/>
              </a:rPr>
              <a:t>.</a:t>
            </a:r>
          </a:p>
          <a:p>
            <a:pPr fontAlgn="base"/>
            <a:r>
              <a:rPr lang="en-US" altLang="ko-KR" b="1" i="0" dirty="0" smtClean="0">
                <a:solidFill>
                  <a:srgbClr val="636363"/>
                </a:solidFill>
                <a:effectLst/>
                <a:latin typeface="se-nanumgothic"/>
              </a:rPr>
              <a:t>CTC </a:t>
            </a:r>
            <a:r>
              <a:rPr lang="ko-KR" altLang="en-US" b="1" i="0" dirty="0" smtClean="0">
                <a:solidFill>
                  <a:srgbClr val="636363"/>
                </a:solidFill>
                <a:effectLst/>
                <a:latin typeface="se-nanumgothic"/>
              </a:rPr>
              <a:t>에서는 </a:t>
            </a:r>
            <a:r>
              <a:rPr lang="en-US" altLang="ko-KR" b="1" i="0" dirty="0" smtClean="0">
                <a:solidFill>
                  <a:srgbClr val="636363"/>
                </a:solidFill>
                <a:effectLst/>
                <a:latin typeface="se-nanumgothic"/>
              </a:rPr>
              <a:t>TCNT0 == </a:t>
            </a:r>
            <a:r>
              <a:rPr lang="en-US" altLang="ko-KR" b="1" i="0" dirty="0" err="1" smtClean="0">
                <a:solidFill>
                  <a:srgbClr val="636363"/>
                </a:solidFill>
                <a:effectLst/>
                <a:latin typeface="se-nanumgothic"/>
              </a:rPr>
              <a:t>OCRnA</a:t>
            </a:r>
            <a:r>
              <a:rPr lang="en-US" altLang="ko-KR" b="1" i="0" dirty="0" smtClean="0">
                <a:solidFill>
                  <a:srgbClr val="636363"/>
                </a:solidFill>
                <a:effectLst/>
                <a:latin typeface="se-nanumgothic"/>
              </a:rPr>
              <a:t> </a:t>
            </a:r>
            <a:r>
              <a:rPr lang="ko-KR" altLang="en-US" b="1" i="0" dirty="0" smtClean="0">
                <a:solidFill>
                  <a:srgbClr val="636363"/>
                </a:solidFill>
                <a:effectLst/>
                <a:latin typeface="se-nanumgothic"/>
              </a:rPr>
              <a:t>가 되었을 때 </a:t>
            </a:r>
            <a:r>
              <a:rPr lang="en-US" altLang="ko-KR" b="1" i="0" dirty="0" smtClean="0">
                <a:solidFill>
                  <a:srgbClr val="636363"/>
                </a:solidFill>
                <a:effectLst/>
                <a:latin typeface="se-nanumgothic"/>
              </a:rPr>
              <a:t>TCNT0 = 0</a:t>
            </a:r>
            <a:r>
              <a:rPr lang="ko-KR" altLang="en-US" b="1" i="0" dirty="0" smtClean="0">
                <a:solidFill>
                  <a:srgbClr val="636363"/>
                </a:solidFill>
                <a:effectLst/>
                <a:latin typeface="se-nanumgothic"/>
              </a:rPr>
              <a:t>으로 되므로</a:t>
            </a:r>
            <a:r>
              <a:rPr lang="en-US" altLang="ko-KR" b="1" i="0" dirty="0" smtClean="0">
                <a:solidFill>
                  <a:srgbClr val="636363"/>
                </a:solidFill>
                <a:effectLst/>
                <a:latin typeface="se-nanumgothic"/>
              </a:rPr>
              <a:t>, ISR</a:t>
            </a:r>
            <a:r>
              <a:rPr lang="ko-KR" altLang="en-US" b="1" dirty="0" smtClean="0">
                <a:solidFill>
                  <a:srgbClr val="636363"/>
                </a:solidFill>
                <a:latin typeface="se-nanumgothic"/>
              </a:rPr>
              <a:t>에서 </a:t>
            </a:r>
            <a:r>
              <a:rPr lang="ko-KR" altLang="en-US" b="1" i="0" dirty="0" smtClean="0">
                <a:solidFill>
                  <a:srgbClr val="636363"/>
                </a:solidFill>
                <a:effectLst/>
                <a:latin typeface="se-nanumgothic"/>
              </a:rPr>
              <a:t>초기화 필요 없이 </a:t>
            </a:r>
            <a:r>
              <a:rPr lang="en-US" altLang="ko-KR" b="1" i="0" dirty="0" smtClean="0">
                <a:solidFill>
                  <a:srgbClr val="636363"/>
                </a:solidFill>
                <a:effectLst/>
                <a:latin typeface="se-nanumgothic"/>
              </a:rPr>
              <a:t>compare match </a:t>
            </a:r>
            <a:r>
              <a:rPr lang="en-US" altLang="ko-KR" b="1" i="0" dirty="0" err="1" smtClean="0">
                <a:solidFill>
                  <a:srgbClr val="636363"/>
                </a:solidFill>
                <a:effectLst/>
                <a:latin typeface="se-nanumgothic"/>
              </a:rPr>
              <a:t>interrrupt</a:t>
            </a:r>
            <a:r>
              <a:rPr lang="ko-KR" altLang="en-US" b="1" i="0" dirty="0" smtClean="0">
                <a:solidFill>
                  <a:srgbClr val="636363"/>
                </a:solidFill>
                <a:effectLst/>
                <a:latin typeface="se-nanumgothic"/>
              </a:rPr>
              <a:t>를 이용하여 구현을 하게 된다</a:t>
            </a:r>
            <a:endParaRPr lang="en-US" altLang="ko-KR" b="1" i="0" dirty="0" smtClean="0">
              <a:solidFill>
                <a:srgbClr val="636363"/>
              </a:solidFill>
              <a:effectLst/>
              <a:latin typeface="se-nanumgothic"/>
            </a:endParaRPr>
          </a:p>
          <a:p>
            <a:pPr fontAlgn="base"/>
            <a:endParaRPr lang="en-US" altLang="ko-KR" dirty="0">
              <a:solidFill>
                <a:srgbClr val="636363"/>
              </a:solidFill>
              <a:latin typeface="se-nanumgothic"/>
            </a:endParaRPr>
          </a:p>
          <a:p>
            <a:r>
              <a:rPr lang="ko-KR" altLang="en-US" dirty="0"/>
              <a:t> </a:t>
            </a:r>
            <a:r>
              <a:rPr lang="en-US" altLang="ko-KR" dirty="0"/>
              <a:t>- CTC mode : </a:t>
            </a:r>
            <a:r>
              <a:rPr lang="ko-KR" altLang="en-US" dirty="0" err="1"/>
              <a:t>비교일치가</a:t>
            </a:r>
            <a:r>
              <a:rPr lang="ko-KR" altLang="en-US" dirty="0"/>
              <a:t> 되면 카운터는 </a:t>
            </a:r>
            <a:r>
              <a:rPr lang="en-US" altLang="ko-KR" dirty="0"/>
              <a:t>reset</a:t>
            </a:r>
            <a:r>
              <a:rPr lang="ko-KR" altLang="en-US" dirty="0"/>
              <a:t>되면서 </a:t>
            </a:r>
            <a:r>
              <a:rPr lang="en-US" altLang="ko-KR" dirty="0"/>
              <a:t>PWM </a:t>
            </a:r>
            <a:r>
              <a:rPr lang="ko-KR" altLang="en-US" dirty="0"/>
              <a:t>파형 출력 핀의 출력이 반전 됨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 - </a:t>
            </a:r>
            <a:r>
              <a:rPr lang="ko-KR" altLang="en-US" dirty="0" err="1"/>
              <a:t>위상교정</a:t>
            </a:r>
            <a:r>
              <a:rPr lang="ko-KR" altLang="en-US" dirty="0"/>
              <a:t> </a:t>
            </a:r>
            <a:r>
              <a:rPr lang="en-US" altLang="ko-KR" dirty="0"/>
              <a:t>PWM mode4  CTC </a:t>
            </a:r>
            <a:r>
              <a:rPr lang="ko-KR" altLang="en-US" dirty="0" err="1"/>
              <a:t>분주비</a:t>
            </a:r>
            <a:r>
              <a:rPr lang="ko-KR" altLang="en-US" dirty="0"/>
              <a:t> </a:t>
            </a:r>
            <a:r>
              <a:rPr lang="en-US" altLang="ko-KR" dirty="0"/>
              <a:t>8  16000000/8 ==&gt; 2,000,000HZ(2000KHZ) : </a:t>
            </a:r>
          </a:p>
          <a:p>
            <a:r>
              <a:rPr lang="en-US" altLang="ko-KR" dirty="0"/>
              <a:t> - up-</a:t>
            </a:r>
            <a:r>
              <a:rPr lang="en-US" altLang="ko-KR" dirty="0" err="1"/>
              <a:t>dounting</a:t>
            </a:r>
            <a:r>
              <a:rPr lang="en-US" altLang="ko-KR" dirty="0"/>
              <a:t>: </a:t>
            </a:r>
            <a:r>
              <a:rPr lang="ko-KR" altLang="en-US" dirty="0" err="1"/>
              <a:t>비교일치시</a:t>
            </a:r>
            <a:r>
              <a:rPr lang="ko-KR" altLang="en-US" dirty="0"/>
              <a:t> </a:t>
            </a:r>
            <a:r>
              <a:rPr lang="en-US" altLang="ko-KR" dirty="0"/>
              <a:t>LOW, down-counting</a:t>
            </a:r>
            <a:r>
              <a:rPr lang="ko-KR" altLang="en-US" dirty="0"/>
              <a:t>시 </a:t>
            </a:r>
            <a:r>
              <a:rPr lang="en-US" altLang="ko-KR" dirty="0"/>
              <a:t>HIGH</a:t>
            </a:r>
            <a:r>
              <a:rPr lang="ko-KR" altLang="en-US" dirty="0"/>
              <a:t>출력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- 1/2000000 ==&gt; 0.0000005sec (0.5us)</a:t>
            </a:r>
          </a:p>
          <a:p>
            <a:r>
              <a:rPr lang="en-US" altLang="ko-KR" dirty="0"/>
              <a:t>   P599 TOP </a:t>
            </a:r>
            <a:r>
              <a:rPr lang="ko-KR" altLang="en-US" dirty="0"/>
              <a:t>값 계산 참고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en-US" altLang="ko-KR" dirty="0" err="1"/>
              <a:t>Ocn</a:t>
            </a:r>
            <a:r>
              <a:rPr lang="ko-KR" altLang="en-US" dirty="0"/>
              <a:t>핀으로 출력할 </a:t>
            </a:r>
            <a:r>
              <a:rPr lang="ko-KR" altLang="en-US" dirty="0" err="1"/>
              <a:t>구형파</a:t>
            </a:r>
            <a:r>
              <a:rPr lang="ko-KR" altLang="en-US" dirty="0"/>
              <a:t> 주파수</a:t>
            </a:r>
            <a:r>
              <a:rPr lang="en-US" altLang="ko-KR" dirty="0"/>
              <a:t> = OSC(16M) / ( 2(</a:t>
            </a:r>
            <a:r>
              <a:rPr lang="en-US" altLang="ko-KR" dirty="0" err="1"/>
              <a:t>up.down</a:t>
            </a:r>
            <a:r>
              <a:rPr lang="en-US" altLang="ko-KR" dirty="0"/>
              <a:t>)x N(</a:t>
            </a:r>
            <a:r>
              <a:rPr lang="ko-KR" altLang="en-US" dirty="0" err="1"/>
              <a:t>분주율</a:t>
            </a:r>
            <a:r>
              <a:rPr lang="en-US" altLang="ko-KR" dirty="0"/>
              <a:t>)x(1+TOP) </a:t>
            </a:r>
          </a:p>
          <a:p>
            <a:r>
              <a:rPr lang="en-US" altLang="ko-KR" dirty="0"/>
              <a:t> - TOP =  (OSC(16M) / (  2(</a:t>
            </a:r>
            <a:r>
              <a:rPr lang="en-US" altLang="ko-KR" dirty="0" err="1"/>
              <a:t>up.down</a:t>
            </a:r>
            <a:r>
              <a:rPr lang="en-US" altLang="ko-KR" dirty="0"/>
              <a:t>)x N(</a:t>
            </a:r>
            <a:r>
              <a:rPr lang="ko-KR" altLang="en-US" dirty="0" err="1"/>
              <a:t>분주율</a:t>
            </a:r>
            <a:r>
              <a:rPr lang="en-US" altLang="ko-KR" dirty="0"/>
              <a:t>)x </a:t>
            </a:r>
            <a:r>
              <a:rPr lang="ko-KR" altLang="en-US" dirty="0" err="1"/>
              <a:t>원하는주파수</a:t>
            </a:r>
            <a:r>
              <a:rPr lang="en-US" altLang="ko-KR" dirty="0"/>
              <a:t>)) -1</a:t>
            </a:r>
            <a:endParaRPr lang="ko-KR" altLang="en-US" dirty="0"/>
          </a:p>
          <a:p>
            <a:pPr fontAlgn="base"/>
            <a:endParaRPr lang="en-US" altLang="ko-KR" b="0" i="0" dirty="0" smtClean="0">
              <a:solidFill>
                <a:srgbClr val="636363"/>
              </a:solidFill>
              <a:effectLst/>
              <a:latin typeface="se-nanumgothi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9008" y="5662005"/>
            <a:ext cx="106244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- BOTTOM :  </a:t>
            </a:r>
            <a:r>
              <a:rPr lang="ko-KR" altLang="en-US" dirty="0" smtClean="0"/>
              <a:t>카운터가 </a:t>
            </a:r>
            <a:r>
              <a:rPr lang="en-US" altLang="ko-KR" dirty="0" smtClean="0"/>
              <a:t>0x00/0x0000 </a:t>
            </a:r>
            <a:r>
              <a:rPr lang="ko-KR" altLang="en-US" dirty="0" err="1" smtClean="0"/>
              <a:t>일때를</a:t>
            </a:r>
            <a:r>
              <a:rPr lang="ko-KR" altLang="en-US" dirty="0" smtClean="0"/>
              <a:t> 가리킨다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r>
              <a:rPr lang="en-US" altLang="ko-KR" dirty="0" smtClean="0"/>
              <a:t>- MAX : </a:t>
            </a:r>
            <a:r>
              <a:rPr lang="ko-KR" altLang="en-US" dirty="0" smtClean="0"/>
              <a:t>카운터가 </a:t>
            </a:r>
            <a:r>
              <a:rPr lang="en-US" altLang="ko-KR" dirty="0" smtClean="0"/>
              <a:t>0xFF/0xFFFF </a:t>
            </a:r>
            <a:r>
              <a:rPr lang="ko-KR" altLang="en-US" dirty="0" smtClean="0"/>
              <a:t>일 때를 가리킨다</a:t>
            </a:r>
            <a:r>
              <a:rPr lang="en-US" altLang="ko-KR" dirty="0" smtClean="0"/>
              <a:t>.</a:t>
            </a:r>
            <a:endParaRPr lang="ko-KR" altLang="en-US" dirty="0"/>
          </a:p>
          <a:p>
            <a:r>
              <a:rPr lang="en-US" altLang="ko-KR" dirty="0" smtClean="0"/>
              <a:t>- TOP</a:t>
            </a:r>
            <a:r>
              <a:rPr lang="en-US" altLang="ko-KR" dirty="0"/>
              <a:t> </a:t>
            </a:r>
            <a:r>
              <a:rPr lang="en-US" altLang="ko-KR" dirty="0" smtClean="0"/>
              <a:t>: </a:t>
            </a:r>
            <a:r>
              <a:rPr lang="ko-KR" altLang="en-US" dirty="0" smtClean="0"/>
              <a:t> 카운터가 가질 수 있는 최대값을 가리킨다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오버플로우</a:t>
            </a:r>
            <a:r>
              <a:rPr lang="ko-KR" altLang="en-US" dirty="0" smtClean="0"/>
              <a:t> 인터럽트의 경우 </a:t>
            </a:r>
            <a:r>
              <a:rPr lang="en-US" altLang="ko-KR" dirty="0" smtClean="0"/>
              <a:t>TOP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0xFF/0xFFFF</a:t>
            </a:r>
            <a:endParaRPr lang="en-US" altLang="ko-KR" dirty="0"/>
          </a:p>
          <a:p>
            <a:r>
              <a:rPr lang="ko-KR" altLang="en-US" dirty="0" smtClean="0"/>
              <a:t>            </a:t>
            </a:r>
            <a:r>
              <a:rPr lang="en-US" altLang="ko-KR" dirty="0"/>
              <a:t> </a:t>
            </a:r>
            <a:r>
              <a:rPr lang="ko-KR" altLang="en-US" dirty="0" smtClean="0"/>
              <a:t>이지만 </a:t>
            </a:r>
            <a:r>
              <a:rPr lang="ko-KR" altLang="en-US" dirty="0" err="1" smtClean="0"/>
              <a:t>비교일치</a:t>
            </a:r>
            <a:r>
              <a:rPr lang="ko-KR" altLang="en-US" dirty="0" smtClean="0"/>
              <a:t> 인터럽트의 경우 사용자가 설정한 값이 된다</a:t>
            </a:r>
            <a:r>
              <a:rPr lang="en-US" altLang="ko-KR" dirty="0" smtClean="0"/>
              <a:t>. 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4734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/>
        </p:nvSpPr>
        <p:spPr>
          <a:xfrm>
            <a:off x="11438792" y="-2"/>
            <a:ext cx="753207" cy="753207"/>
          </a:xfrm>
          <a:prstGeom prst="rtTriangle">
            <a:avLst/>
          </a:prstGeom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379" y="222713"/>
            <a:ext cx="344446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en-US" altLang="ko-KR" sz="2800" b="1" dirty="0"/>
              <a:t>Piezo</a:t>
            </a:r>
            <a:r>
              <a:rPr lang="en-US" altLang="ko-KR" sz="2800" b="1" dirty="0" smtClean="0"/>
              <a:t> </a:t>
            </a:r>
            <a:r>
              <a:rPr lang="en-US" altLang="ko-KR" sz="2800" b="1" dirty="0"/>
              <a:t>Buzzer(AVR)</a:t>
            </a:r>
          </a:p>
          <a:p>
            <a:endParaRPr lang="en-US" altLang="ko-KR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04694" y="234340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8274" y="858713"/>
            <a:ext cx="266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057742"/>
            <a:ext cx="15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altLang="ko-KR" sz="1400" dirty="0" smtClean="0"/>
              <a:t>.</a:t>
            </a:r>
            <a:endParaRPr lang="ko-KR" altLang="en-US" dirty="0"/>
          </a:p>
          <a:p>
            <a:r>
              <a:rPr lang="en-US" altLang="ko-KR" dirty="0" smtClean="0"/>
              <a:t>                 </a:t>
            </a:r>
          </a:p>
          <a:p>
            <a:r>
              <a:rPr lang="en-US" altLang="ko-KR" dirty="0" smtClean="0"/>
              <a:t>     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128572"/>
            <a:ext cx="9297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ea typeface="Pretendard Variable"/>
              </a:rPr>
              <a:t>.</a:t>
            </a: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retendard Variable"/>
              </a:rPr>
              <a:t> 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3239" y="759971"/>
            <a:ext cx="113054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altLang="ko-KR" dirty="0" smtClean="0"/>
          </a:p>
          <a:p>
            <a:pPr fontAlgn="base"/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84" y="996109"/>
            <a:ext cx="9881108" cy="5435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928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/>
        </p:nvSpPr>
        <p:spPr>
          <a:xfrm>
            <a:off x="11438792" y="-2"/>
            <a:ext cx="753207" cy="753207"/>
          </a:xfrm>
          <a:prstGeom prst="rtTriangle">
            <a:avLst/>
          </a:prstGeom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379" y="222713"/>
            <a:ext cx="34444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en-US" altLang="ko-KR" sz="2800" b="1" dirty="0"/>
              <a:t>Piezo</a:t>
            </a:r>
            <a:r>
              <a:rPr lang="en-US" altLang="ko-KR" sz="2800" b="1" dirty="0" smtClean="0"/>
              <a:t> </a:t>
            </a:r>
            <a:r>
              <a:rPr lang="en-US" altLang="ko-KR" sz="2800" b="1" dirty="0"/>
              <a:t>Buzzer(AVR)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694" y="234340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8274" y="858713"/>
            <a:ext cx="266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057742"/>
            <a:ext cx="15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altLang="ko-KR" sz="1400" dirty="0" smtClean="0"/>
              <a:t>.</a:t>
            </a:r>
            <a:endParaRPr lang="ko-KR" altLang="en-US" dirty="0"/>
          </a:p>
          <a:p>
            <a:r>
              <a:rPr lang="en-US" altLang="ko-KR" dirty="0" smtClean="0"/>
              <a:t>                 </a:t>
            </a:r>
          </a:p>
          <a:p>
            <a:r>
              <a:rPr lang="en-US" altLang="ko-KR" dirty="0" smtClean="0"/>
              <a:t>     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128572"/>
            <a:ext cx="9297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ea typeface="Pretendard Variable"/>
              </a:rPr>
              <a:t>.</a:t>
            </a: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retendard Variable"/>
              </a:rPr>
              <a:t> 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3239" y="759971"/>
            <a:ext cx="113054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altLang="ko-KR" dirty="0" smtClean="0"/>
          </a:p>
          <a:p>
            <a:pPr fontAlgn="base"/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74" y="1198316"/>
            <a:ext cx="10782854" cy="390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132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/>
        </p:nvSpPr>
        <p:spPr>
          <a:xfrm>
            <a:off x="11438792" y="-2"/>
            <a:ext cx="753207" cy="753207"/>
          </a:xfrm>
          <a:prstGeom prst="rtTriangle">
            <a:avLst/>
          </a:prstGeom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379" y="222713"/>
            <a:ext cx="34444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en-US" altLang="ko-KR" sz="2800" b="1" dirty="0"/>
              <a:t>Piezo</a:t>
            </a:r>
            <a:r>
              <a:rPr lang="en-US" altLang="ko-KR" sz="2800" b="1" dirty="0" smtClean="0"/>
              <a:t> </a:t>
            </a:r>
            <a:r>
              <a:rPr lang="en-US" altLang="ko-KR" sz="2800" b="1" dirty="0"/>
              <a:t>Buzzer(AVR)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694" y="234340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8274" y="858713"/>
            <a:ext cx="266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057742"/>
            <a:ext cx="15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altLang="ko-KR" sz="1400" dirty="0" smtClean="0"/>
              <a:t>.</a:t>
            </a:r>
            <a:endParaRPr lang="ko-KR" altLang="en-US" dirty="0"/>
          </a:p>
          <a:p>
            <a:r>
              <a:rPr lang="en-US" altLang="ko-KR" dirty="0" smtClean="0"/>
              <a:t>                 </a:t>
            </a:r>
          </a:p>
          <a:p>
            <a:r>
              <a:rPr lang="en-US" altLang="ko-KR" dirty="0" smtClean="0"/>
              <a:t>     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128572"/>
            <a:ext cx="9297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ea typeface="Pretendard Variable"/>
              </a:rPr>
              <a:t>.</a:t>
            </a: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retendard Variable"/>
              </a:rPr>
              <a:t> 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3239" y="759971"/>
            <a:ext cx="113054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altLang="ko-KR" dirty="0" smtClean="0"/>
          </a:p>
          <a:p>
            <a:pPr fontAlgn="base"/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74" y="4519364"/>
            <a:ext cx="4809491" cy="2121009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490" y="4519364"/>
            <a:ext cx="3665917" cy="1866996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274" y="1154052"/>
            <a:ext cx="3683189" cy="3168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1778" y="770983"/>
            <a:ext cx="7736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아래는 </a:t>
            </a:r>
            <a:r>
              <a:rPr lang="en-US" altLang="ko-KR" dirty="0" smtClean="0"/>
              <a:t>CTC mode</a:t>
            </a:r>
            <a:r>
              <a:rPr lang="ko-KR" altLang="en-US" dirty="0" smtClean="0"/>
              <a:t>에서 주어진 공식 이다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6908" y="1122768"/>
            <a:ext cx="7576457" cy="308759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15131" y="4515308"/>
            <a:ext cx="29768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focnA</a:t>
            </a:r>
            <a:r>
              <a:rPr lang="en-US" altLang="ko-KR" dirty="0" smtClean="0"/>
              <a:t> : </a:t>
            </a:r>
            <a:r>
              <a:rPr lang="en-US" altLang="ko-KR" dirty="0" err="1" smtClean="0"/>
              <a:t>ocnA</a:t>
            </a:r>
            <a:r>
              <a:rPr lang="ko-KR" altLang="en-US" dirty="0" smtClean="0"/>
              <a:t>를 통해 출력 되는 </a:t>
            </a:r>
            <a:r>
              <a:rPr lang="ko-KR" altLang="en-US" dirty="0" err="1" smtClean="0"/>
              <a:t>구형파</a:t>
            </a:r>
            <a:r>
              <a:rPr lang="ko-KR" altLang="en-US" dirty="0" smtClean="0"/>
              <a:t> 주파수</a:t>
            </a:r>
            <a:endParaRPr lang="en-US" altLang="ko-KR" dirty="0" smtClean="0"/>
          </a:p>
          <a:p>
            <a:r>
              <a:rPr lang="en-US" altLang="ko-KR" dirty="0" smtClean="0"/>
              <a:t>N : </a:t>
            </a:r>
            <a:r>
              <a:rPr lang="ko-KR" altLang="en-US" dirty="0" err="1" smtClean="0"/>
              <a:t>분주비</a:t>
            </a:r>
            <a:endParaRPr lang="en-US" altLang="ko-KR" dirty="0" smtClean="0"/>
          </a:p>
          <a:p>
            <a:r>
              <a:rPr lang="en-US" altLang="ko-KR" dirty="0" err="1" smtClean="0"/>
              <a:t>Fclk_I</a:t>
            </a:r>
            <a:r>
              <a:rPr lang="en-US" altLang="ko-KR" dirty="0" smtClean="0"/>
              <a:t>/O : </a:t>
            </a:r>
            <a:r>
              <a:rPr lang="ko-KR" altLang="en-US" dirty="0" smtClean="0"/>
              <a:t>시스템 클럭 주파수 </a:t>
            </a:r>
            <a:r>
              <a:rPr lang="en-US" altLang="ko-KR" dirty="0" smtClean="0"/>
              <a:t>(16000000HZ)</a:t>
            </a:r>
          </a:p>
          <a:p>
            <a:r>
              <a:rPr lang="en-US" altLang="ko-KR" dirty="0" err="1" smtClean="0"/>
              <a:t>OCRnA</a:t>
            </a:r>
            <a:r>
              <a:rPr lang="en-US" altLang="ko-KR" dirty="0" smtClean="0"/>
              <a:t> : </a:t>
            </a:r>
            <a:r>
              <a:rPr lang="ko-KR" altLang="en-US" dirty="0" smtClean="0"/>
              <a:t>원하는 주파수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0733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/>
        </p:nvSpPr>
        <p:spPr>
          <a:xfrm>
            <a:off x="11438792" y="-2"/>
            <a:ext cx="753207" cy="753207"/>
          </a:xfrm>
          <a:prstGeom prst="rtTriangle">
            <a:avLst/>
          </a:prstGeom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379" y="222713"/>
            <a:ext cx="34444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en-US" altLang="ko-KR" sz="2800" b="1" dirty="0"/>
              <a:t>Piezo</a:t>
            </a:r>
            <a:r>
              <a:rPr lang="en-US" altLang="ko-KR" sz="2800" b="1" dirty="0" smtClean="0"/>
              <a:t> </a:t>
            </a:r>
            <a:r>
              <a:rPr lang="en-US" altLang="ko-KR" sz="2800" b="1" dirty="0"/>
              <a:t>Buzzer(AVR)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694" y="234340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8274" y="858713"/>
            <a:ext cx="266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057742"/>
            <a:ext cx="15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altLang="ko-KR" sz="1400" dirty="0" smtClean="0"/>
              <a:t>.</a:t>
            </a:r>
            <a:endParaRPr lang="ko-KR" altLang="en-US" dirty="0"/>
          </a:p>
          <a:p>
            <a:r>
              <a:rPr lang="en-US" altLang="ko-KR" dirty="0" smtClean="0"/>
              <a:t>                 </a:t>
            </a:r>
          </a:p>
          <a:p>
            <a:r>
              <a:rPr lang="en-US" altLang="ko-KR" dirty="0" smtClean="0"/>
              <a:t>     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128572"/>
            <a:ext cx="9297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ea typeface="Pretendard Variable"/>
              </a:rPr>
              <a:t>.</a:t>
            </a: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retendard Variable"/>
              </a:rPr>
              <a:t> 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3239" y="759971"/>
            <a:ext cx="113054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altLang="ko-KR" dirty="0" smtClean="0"/>
          </a:p>
          <a:p>
            <a:pPr fontAlgn="base"/>
            <a:endParaRPr lang="ko-KR" altLang="en-US" dirty="0"/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4455338"/>
              </p:ext>
            </p:extLst>
          </p:nvPr>
        </p:nvGraphicFramePr>
        <p:xfrm>
          <a:off x="704694" y="742567"/>
          <a:ext cx="10050999" cy="32016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1244">
                  <a:extLst>
                    <a:ext uri="{9D8B030D-6E8A-4147-A177-3AD203B41FA5}">
                      <a16:colId xmlns:a16="http://schemas.microsoft.com/office/drawing/2014/main" val="1187839029"/>
                    </a:ext>
                  </a:extLst>
                </a:gridCol>
                <a:gridCol w="856363">
                  <a:extLst>
                    <a:ext uri="{9D8B030D-6E8A-4147-A177-3AD203B41FA5}">
                      <a16:colId xmlns:a16="http://schemas.microsoft.com/office/drawing/2014/main" val="3494460133"/>
                    </a:ext>
                  </a:extLst>
                </a:gridCol>
                <a:gridCol w="856363">
                  <a:extLst>
                    <a:ext uri="{9D8B030D-6E8A-4147-A177-3AD203B41FA5}">
                      <a16:colId xmlns:a16="http://schemas.microsoft.com/office/drawing/2014/main" val="3167622465"/>
                    </a:ext>
                  </a:extLst>
                </a:gridCol>
                <a:gridCol w="856363">
                  <a:extLst>
                    <a:ext uri="{9D8B030D-6E8A-4147-A177-3AD203B41FA5}">
                      <a16:colId xmlns:a16="http://schemas.microsoft.com/office/drawing/2014/main" val="3325852176"/>
                    </a:ext>
                  </a:extLst>
                </a:gridCol>
                <a:gridCol w="856363">
                  <a:extLst>
                    <a:ext uri="{9D8B030D-6E8A-4147-A177-3AD203B41FA5}">
                      <a16:colId xmlns:a16="http://schemas.microsoft.com/office/drawing/2014/main" val="826704041"/>
                    </a:ext>
                  </a:extLst>
                </a:gridCol>
                <a:gridCol w="856363">
                  <a:extLst>
                    <a:ext uri="{9D8B030D-6E8A-4147-A177-3AD203B41FA5}">
                      <a16:colId xmlns:a16="http://schemas.microsoft.com/office/drawing/2014/main" val="3389412852"/>
                    </a:ext>
                  </a:extLst>
                </a:gridCol>
                <a:gridCol w="856363">
                  <a:extLst>
                    <a:ext uri="{9D8B030D-6E8A-4147-A177-3AD203B41FA5}">
                      <a16:colId xmlns:a16="http://schemas.microsoft.com/office/drawing/2014/main" val="3284141092"/>
                    </a:ext>
                  </a:extLst>
                </a:gridCol>
                <a:gridCol w="856363">
                  <a:extLst>
                    <a:ext uri="{9D8B030D-6E8A-4147-A177-3AD203B41FA5}">
                      <a16:colId xmlns:a16="http://schemas.microsoft.com/office/drawing/2014/main" val="3505581719"/>
                    </a:ext>
                  </a:extLst>
                </a:gridCol>
                <a:gridCol w="856363">
                  <a:extLst>
                    <a:ext uri="{9D8B030D-6E8A-4147-A177-3AD203B41FA5}">
                      <a16:colId xmlns:a16="http://schemas.microsoft.com/office/drawing/2014/main" val="440447330"/>
                    </a:ext>
                  </a:extLst>
                </a:gridCol>
                <a:gridCol w="856363">
                  <a:extLst>
                    <a:ext uri="{9D8B030D-6E8A-4147-A177-3AD203B41FA5}">
                      <a16:colId xmlns:a16="http://schemas.microsoft.com/office/drawing/2014/main" val="4225807367"/>
                    </a:ext>
                  </a:extLst>
                </a:gridCol>
                <a:gridCol w="781244">
                  <a:extLst>
                    <a:ext uri="{9D8B030D-6E8A-4147-A177-3AD203B41FA5}">
                      <a16:colId xmlns:a16="http://schemas.microsoft.com/office/drawing/2014/main" val="4204989335"/>
                    </a:ext>
                  </a:extLst>
                </a:gridCol>
                <a:gridCol w="781244">
                  <a:extLst>
                    <a:ext uri="{9D8B030D-6E8A-4147-A177-3AD203B41FA5}">
                      <a16:colId xmlns:a16="http://schemas.microsoft.com/office/drawing/2014/main" val="970316243"/>
                    </a:ext>
                  </a:extLst>
                </a:gridCol>
              </a:tblGrid>
              <a:tr h="167643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1200" u="sng" strike="noStrike">
                          <a:effectLst/>
                        </a:rPr>
                        <a:t>옥타브 및 음계별 주파수표</a:t>
                      </a:r>
                      <a:endParaRPr lang="ko-KR" altLang="en-US" sz="1200" b="1" i="0" u="sng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4869563"/>
                  </a:ext>
                </a:extLst>
              </a:tr>
              <a:tr h="154141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91793562"/>
                  </a:ext>
                </a:extLst>
              </a:tr>
              <a:tr h="167643"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>
                          <a:effectLst/>
                        </a:rPr>
                        <a:t>단위</a:t>
                      </a:r>
                      <a:r>
                        <a:rPr lang="en-US" altLang="ko-KR" sz="1200" u="none" strike="noStrike">
                          <a:effectLst/>
                        </a:rPr>
                        <a:t>:</a:t>
                      </a:r>
                      <a:r>
                        <a:rPr lang="en-US" sz="1200" u="none" strike="noStrike">
                          <a:effectLst/>
                        </a:rPr>
                        <a:t>Hz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94178607"/>
                  </a:ext>
                </a:extLst>
              </a:tr>
              <a:tr h="1676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Oct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0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1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2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3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</a:rPr>
                        <a:t>4</a:t>
                      </a:r>
                      <a:endParaRPr lang="en-US" altLang="ko-KR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5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6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7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8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9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49411196"/>
                  </a:ext>
                </a:extLst>
              </a:tr>
              <a:tr h="1676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C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16.3516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32.7032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65.4064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130.8128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</a:rPr>
                        <a:t>261.6256</a:t>
                      </a:r>
                      <a:endParaRPr lang="en-US" altLang="ko-KR" sz="1200" b="0" i="0" u="none" strike="noStrike" dirty="0">
                        <a:solidFill>
                          <a:srgbClr val="FF0000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523.2511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1046.502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2093.005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4186.009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8372.02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91409004"/>
                  </a:ext>
                </a:extLst>
              </a:tr>
              <a:tr h="1676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C#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17.3239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34.6478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69.2957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138.5913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</a:rPr>
                        <a:t>277.1826</a:t>
                      </a:r>
                      <a:endParaRPr lang="en-US" altLang="ko-KR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554.3653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1108.731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2217.461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4434.922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44729650"/>
                  </a:ext>
                </a:extLst>
              </a:tr>
              <a:tr h="1676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D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18.3541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36.7081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73.4162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146.8324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</a:rPr>
                        <a:t>293.6648</a:t>
                      </a:r>
                      <a:endParaRPr lang="en-US" altLang="ko-KR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587.3295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1174.659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2349.318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4698.636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95129547"/>
                  </a:ext>
                </a:extLst>
              </a:tr>
              <a:tr h="1676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D#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19.4454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38.8909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77.7817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155.5635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</a:rPr>
                        <a:t>311.127</a:t>
                      </a:r>
                      <a:endParaRPr lang="en-US" altLang="ko-KR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622.254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1244.508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2489.016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4978.032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06716696"/>
                  </a:ext>
                </a:extLst>
              </a:tr>
              <a:tr h="1676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E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20.6017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</a:rPr>
                        <a:t>41.2034</a:t>
                      </a:r>
                      <a:endParaRPr lang="en-US" altLang="ko-KR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82.4069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164.8138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</a:rPr>
                        <a:t>329.6276</a:t>
                      </a:r>
                      <a:endParaRPr lang="en-US" altLang="ko-KR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659.2551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1318.51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2637.02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5274.041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87441459"/>
                  </a:ext>
                </a:extLst>
              </a:tr>
              <a:tr h="1676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F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21.8268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43.6535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87.3071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174.6141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</a:rPr>
                        <a:t>349.2282</a:t>
                      </a:r>
                      <a:endParaRPr lang="en-US" altLang="ko-KR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698.4565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1396.913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2793.826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5587.652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60491498"/>
                  </a:ext>
                </a:extLst>
              </a:tr>
              <a:tr h="1676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F#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</a:rPr>
                        <a:t>23.1247</a:t>
                      </a:r>
                      <a:endParaRPr lang="en-US" altLang="ko-KR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46.2493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92.4986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184.9972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369.9944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739.9888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1479.978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2959.955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5919.911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25635030"/>
                  </a:ext>
                </a:extLst>
              </a:tr>
              <a:tr h="1676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G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24.4997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48.9994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97.9989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195.9977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391.9954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783.9909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1567.982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3135.963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6271.927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973209"/>
                  </a:ext>
                </a:extLst>
              </a:tr>
              <a:tr h="1676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G#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25.9565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51.913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103.8262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207.6523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415.3047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830.6094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1661.219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3322.438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6644.875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35669332"/>
                  </a:ext>
                </a:extLst>
              </a:tr>
              <a:tr h="1676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A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27.5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55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110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220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</a:rPr>
                        <a:t>440</a:t>
                      </a:r>
                      <a:endParaRPr lang="en-US" altLang="ko-KR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880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1760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3520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7040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38332080"/>
                  </a:ext>
                </a:extLst>
              </a:tr>
              <a:tr h="1676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A#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29.1352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58.2705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</a:rPr>
                        <a:t>116.5409</a:t>
                      </a:r>
                      <a:endParaRPr lang="en-US" altLang="ko-KR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</a:rPr>
                        <a:t>233.0819</a:t>
                      </a:r>
                      <a:endParaRPr lang="en-US" altLang="ko-KR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466.1638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932.3275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1864.655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3729.31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7458.62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77702025"/>
                  </a:ext>
                </a:extLst>
              </a:tr>
              <a:tr h="1676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B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30.8677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61.7354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123.4708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</a:rPr>
                        <a:t>246.9417</a:t>
                      </a:r>
                      <a:endParaRPr lang="en-US" altLang="ko-KR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</a:rPr>
                        <a:t>493.8833</a:t>
                      </a:r>
                      <a:endParaRPr lang="en-US" altLang="ko-KR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987.7666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1975.533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3951.066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7902.113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22329538"/>
                  </a:ext>
                </a:extLst>
              </a:tr>
              <a:tr h="167643"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altLang="ko-KR" sz="1200" u="none" strike="noStrike" dirty="0">
                          <a:effectLst/>
                        </a:rPr>
                        <a:t>※</a:t>
                      </a:r>
                      <a:r>
                        <a:rPr lang="ko-KR" altLang="en-US" sz="1200" u="none" strike="noStrike" dirty="0">
                          <a:effectLst/>
                        </a:rPr>
                        <a:t>참고</a:t>
                      </a:r>
                      <a:r>
                        <a:rPr lang="en-US" altLang="ko-KR" sz="1200" u="none" strike="noStrike" dirty="0">
                          <a:effectLst/>
                        </a:rPr>
                        <a:t>: C=</a:t>
                      </a:r>
                      <a:r>
                        <a:rPr lang="ko-KR" altLang="en-US" sz="1200" u="none" strike="noStrike" dirty="0">
                          <a:effectLst/>
                        </a:rPr>
                        <a:t>도</a:t>
                      </a:r>
                      <a:r>
                        <a:rPr lang="en-US" altLang="ko-KR" sz="1200" u="none" strike="noStrike" dirty="0">
                          <a:effectLst/>
                        </a:rPr>
                        <a:t>, D=</a:t>
                      </a:r>
                      <a:r>
                        <a:rPr lang="ko-KR" altLang="en-US" sz="1200" u="none" strike="noStrike" dirty="0">
                          <a:effectLst/>
                        </a:rPr>
                        <a:t>레</a:t>
                      </a:r>
                      <a:r>
                        <a:rPr lang="en-US" altLang="ko-KR" sz="1200" u="none" strike="noStrike" dirty="0">
                          <a:effectLst/>
                        </a:rPr>
                        <a:t>, E=</a:t>
                      </a:r>
                      <a:r>
                        <a:rPr lang="ko-KR" altLang="en-US" sz="1200" u="none" strike="noStrike" dirty="0">
                          <a:effectLst/>
                        </a:rPr>
                        <a:t>미</a:t>
                      </a:r>
                      <a:r>
                        <a:rPr lang="en-US" altLang="ko-KR" sz="1200" u="none" strike="noStrike" dirty="0">
                          <a:effectLst/>
                        </a:rPr>
                        <a:t>, F=</a:t>
                      </a:r>
                      <a:r>
                        <a:rPr lang="ko-KR" altLang="en-US" sz="1200" u="none" strike="noStrike" dirty="0">
                          <a:effectLst/>
                        </a:rPr>
                        <a:t>파</a:t>
                      </a:r>
                      <a:r>
                        <a:rPr lang="en-US" altLang="ko-KR" sz="1200" u="none" strike="noStrike" dirty="0">
                          <a:effectLst/>
                        </a:rPr>
                        <a:t>, G=</a:t>
                      </a:r>
                      <a:r>
                        <a:rPr lang="ko-KR" altLang="en-US" sz="1200" u="none" strike="noStrike" dirty="0">
                          <a:effectLst/>
                        </a:rPr>
                        <a:t>솔</a:t>
                      </a:r>
                      <a:r>
                        <a:rPr lang="en-US" altLang="ko-KR" sz="1200" u="none" strike="noStrike" dirty="0">
                          <a:effectLst/>
                        </a:rPr>
                        <a:t>, A=</a:t>
                      </a:r>
                      <a:r>
                        <a:rPr lang="ko-KR" altLang="en-US" sz="1200" u="none" strike="noStrike" dirty="0">
                          <a:effectLst/>
                        </a:rPr>
                        <a:t>라</a:t>
                      </a:r>
                      <a:r>
                        <a:rPr lang="en-US" altLang="ko-KR" sz="1200" u="none" strike="noStrike" dirty="0">
                          <a:effectLst/>
                        </a:rPr>
                        <a:t>, B=</a:t>
                      </a:r>
                      <a:r>
                        <a:rPr lang="ko-KR" altLang="en-US" sz="1200" u="none" strike="noStrike" dirty="0">
                          <a:effectLst/>
                        </a:rPr>
                        <a:t>시</a:t>
                      </a:r>
                      <a:endParaRPr lang="ko-KR" altLang="en-US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93265820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366690"/>
              </p:ext>
            </p:extLst>
          </p:nvPr>
        </p:nvGraphicFramePr>
        <p:xfrm>
          <a:off x="928312" y="3944237"/>
          <a:ext cx="8790615" cy="302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3277">
                  <a:extLst>
                    <a:ext uri="{9D8B030D-6E8A-4147-A177-3AD203B41FA5}">
                      <a16:colId xmlns:a16="http://schemas.microsoft.com/office/drawing/2014/main" val="26815787"/>
                    </a:ext>
                  </a:extLst>
                </a:gridCol>
                <a:gridCol w="748976">
                  <a:extLst>
                    <a:ext uri="{9D8B030D-6E8A-4147-A177-3AD203B41FA5}">
                      <a16:colId xmlns:a16="http://schemas.microsoft.com/office/drawing/2014/main" val="804823140"/>
                    </a:ext>
                  </a:extLst>
                </a:gridCol>
                <a:gridCol w="748976">
                  <a:extLst>
                    <a:ext uri="{9D8B030D-6E8A-4147-A177-3AD203B41FA5}">
                      <a16:colId xmlns:a16="http://schemas.microsoft.com/office/drawing/2014/main" val="3895596370"/>
                    </a:ext>
                  </a:extLst>
                </a:gridCol>
                <a:gridCol w="748976">
                  <a:extLst>
                    <a:ext uri="{9D8B030D-6E8A-4147-A177-3AD203B41FA5}">
                      <a16:colId xmlns:a16="http://schemas.microsoft.com/office/drawing/2014/main" val="3273035007"/>
                    </a:ext>
                  </a:extLst>
                </a:gridCol>
                <a:gridCol w="748976">
                  <a:extLst>
                    <a:ext uri="{9D8B030D-6E8A-4147-A177-3AD203B41FA5}">
                      <a16:colId xmlns:a16="http://schemas.microsoft.com/office/drawing/2014/main" val="2166639638"/>
                    </a:ext>
                  </a:extLst>
                </a:gridCol>
                <a:gridCol w="702718">
                  <a:extLst>
                    <a:ext uri="{9D8B030D-6E8A-4147-A177-3AD203B41FA5}">
                      <a16:colId xmlns:a16="http://schemas.microsoft.com/office/drawing/2014/main" val="3477949473"/>
                    </a:ext>
                  </a:extLst>
                </a:gridCol>
                <a:gridCol w="795234">
                  <a:extLst>
                    <a:ext uri="{9D8B030D-6E8A-4147-A177-3AD203B41FA5}">
                      <a16:colId xmlns:a16="http://schemas.microsoft.com/office/drawing/2014/main" val="304390066"/>
                    </a:ext>
                  </a:extLst>
                </a:gridCol>
                <a:gridCol w="748976">
                  <a:extLst>
                    <a:ext uri="{9D8B030D-6E8A-4147-A177-3AD203B41FA5}">
                      <a16:colId xmlns:a16="http://schemas.microsoft.com/office/drawing/2014/main" val="269565348"/>
                    </a:ext>
                  </a:extLst>
                </a:gridCol>
                <a:gridCol w="748976">
                  <a:extLst>
                    <a:ext uri="{9D8B030D-6E8A-4147-A177-3AD203B41FA5}">
                      <a16:colId xmlns:a16="http://schemas.microsoft.com/office/drawing/2014/main" val="402751476"/>
                    </a:ext>
                  </a:extLst>
                </a:gridCol>
                <a:gridCol w="748976">
                  <a:extLst>
                    <a:ext uri="{9D8B030D-6E8A-4147-A177-3AD203B41FA5}">
                      <a16:colId xmlns:a16="http://schemas.microsoft.com/office/drawing/2014/main" val="3879158989"/>
                    </a:ext>
                  </a:extLst>
                </a:gridCol>
                <a:gridCol w="683277">
                  <a:extLst>
                    <a:ext uri="{9D8B030D-6E8A-4147-A177-3AD203B41FA5}">
                      <a16:colId xmlns:a16="http://schemas.microsoft.com/office/drawing/2014/main" val="3804354922"/>
                    </a:ext>
                  </a:extLst>
                </a:gridCol>
                <a:gridCol w="683277">
                  <a:extLst>
                    <a:ext uri="{9D8B030D-6E8A-4147-A177-3AD203B41FA5}">
                      <a16:colId xmlns:a16="http://schemas.microsoft.com/office/drawing/2014/main" val="1658441945"/>
                    </a:ext>
                  </a:extLst>
                </a:gridCol>
              </a:tblGrid>
              <a:tr h="157773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1200" u="sng" strike="noStrike">
                          <a:effectLst/>
                        </a:rPr>
                        <a:t>옥타브 및 음계별 펄스폭표</a:t>
                      </a:r>
                      <a:endParaRPr lang="ko-KR" altLang="en-US" sz="1200" b="1" i="0" u="sng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07270238"/>
                  </a:ext>
                </a:extLst>
              </a:tr>
              <a:tr h="157773"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67323472"/>
                  </a:ext>
                </a:extLst>
              </a:tr>
              <a:tr h="157773"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>
                          <a:effectLst/>
                        </a:rPr>
                        <a:t>단위</a:t>
                      </a:r>
                      <a:r>
                        <a:rPr lang="en-US" altLang="ko-KR" sz="1200" u="none" strike="noStrike">
                          <a:effectLst/>
                        </a:rPr>
                        <a:t>:</a:t>
                      </a:r>
                      <a:r>
                        <a:rPr lang="en-US" sz="1200" u="none" strike="noStrike">
                          <a:effectLst/>
                        </a:rPr>
                        <a:t>us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262173"/>
                  </a:ext>
                </a:extLst>
              </a:tr>
              <a:tr h="1577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Oct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0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1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2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3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</a:rPr>
                        <a:t>4</a:t>
                      </a:r>
                      <a:endParaRPr lang="en-US" altLang="ko-KR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5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6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7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8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9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44671307"/>
                  </a:ext>
                </a:extLst>
              </a:tr>
              <a:tr h="1577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C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61156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30578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15289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7645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3822 </a:t>
                      </a:r>
                      <a:endParaRPr lang="en-US" altLang="ko-KR" sz="1200" b="0" i="0" u="none" strike="noStrike">
                        <a:solidFill>
                          <a:srgbClr val="FF0000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1911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 dirty="0">
                          <a:effectLst/>
                        </a:rPr>
                        <a:t>956 </a:t>
                      </a:r>
                      <a:endParaRPr lang="en-US" altLang="ko-KR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478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239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119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10754259"/>
                  </a:ext>
                </a:extLst>
              </a:tr>
              <a:tr h="1577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C#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57724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28862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14431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7215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3608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1804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902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451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225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74762755"/>
                  </a:ext>
                </a:extLst>
              </a:tr>
              <a:tr h="1577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D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54484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27242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13621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6810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3405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1703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851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426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213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85050934"/>
                  </a:ext>
                </a:extLst>
              </a:tr>
              <a:tr h="1577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D#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51426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25713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12856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6428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3214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1607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804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402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201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20355758"/>
                  </a:ext>
                </a:extLst>
              </a:tr>
              <a:tr h="1577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E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48540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24270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12135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6067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3034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1517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758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379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190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68207966"/>
                  </a:ext>
                </a:extLst>
              </a:tr>
              <a:tr h="1577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F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45815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22908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11454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5727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2863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1432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716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358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179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2178814"/>
                  </a:ext>
                </a:extLst>
              </a:tr>
              <a:tr h="1577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F#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43244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21622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10811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 dirty="0">
                          <a:effectLst/>
                        </a:rPr>
                        <a:t>5405 </a:t>
                      </a:r>
                      <a:endParaRPr lang="en-US" altLang="ko-KR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2703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 dirty="0">
                          <a:effectLst/>
                        </a:rPr>
                        <a:t>1351 </a:t>
                      </a:r>
                      <a:endParaRPr lang="en-US" altLang="ko-KR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676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338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169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92859325"/>
                  </a:ext>
                </a:extLst>
              </a:tr>
              <a:tr h="1577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G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40817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20408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10204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5102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2551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1276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638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319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159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90362358"/>
                  </a:ext>
                </a:extLst>
              </a:tr>
              <a:tr h="1577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G#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38526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19263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9631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4816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2408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1204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602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301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150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43050418"/>
                  </a:ext>
                </a:extLst>
              </a:tr>
              <a:tr h="1577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A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36364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18182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9091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4545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2273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1136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568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284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142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946775386"/>
                  </a:ext>
                </a:extLst>
              </a:tr>
              <a:tr h="1577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A#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34323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17161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8581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4290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2145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1073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536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268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134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25359216"/>
                  </a:ext>
                </a:extLst>
              </a:tr>
              <a:tr h="1577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B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32396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16198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8099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4050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2025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1012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506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253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127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93424739"/>
                  </a:ext>
                </a:extLst>
              </a:tr>
            </a:tbl>
          </a:graphicData>
        </a:graphic>
      </p:graphicFrame>
      <p:sp>
        <p:nvSpPr>
          <p:cNvPr id="17" name="직사각형 16"/>
          <p:cNvSpPr/>
          <p:nvPr/>
        </p:nvSpPr>
        <p:spPr>
          <a:xfrm>
            <a:off x="9718927" y="4249376"/>
            <a:ext cx="18213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/>
              <a:t>=1/C6*1000000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2214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/>
        </p:nvSpPr>
        <p:spPr>
          <a:xfrm>
            <a:off x="11438792" y="-2"/>
            <a:ext cx="753207" cy="753207"/>
          </a:xfrm>
          <a:prstGeom prst="rtTriangle">
            <a:avLst/>
          </a:prstGeom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379" y="222713"/>
            <a:ext cx="344446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en-US" altLang="ko-KR" sz="2800" b="1" dirty="0"/>
              <a:t>Piezo</a:t>
            </a:r>
            <a:r>
              <a:rPr lang="en-US" altLang="ko-KR" sz="2800" b="1" dirty="0" smtClean="0"/>
              <a:t> </a:t>
            </a:r>
            <a:r>
              <a:rPr lang="en-US" altLang="ko-KR" sz="2800" b="1" dirty="0"/>
              <a:t>Buzzer(AVR)</a:t>
            </a:r>
          </a:p>
          <a:p>
            <a:endParaRPr lang="en-US" altLang="ko-KR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04694" y="234340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8274" y="858713"/>
            <a:ext cx="266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057742"/>
            <a:ext cx="15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altLang="ko-KR" sz="1400" dirty="0" smtClean="0"/>
              <a:t>.</a:t>
            </a:r>
            <a:endParaRPr lang="ko-KR" altLang="en-US" dirty="0"/>
          </a:p>
          <a:p>
            <a:r>
              <a:rPr lang="en-US" altLang="ko-KR" dirty="0" smtClean="0"/>
              <a:t>                 </a:t>
            </a:r>
          </a:p>
          <a:p>
            <a:r>
              <a:rPr lang="en-US" altLang="ko-KR" dirty="0" smtClean="0"/>
              <a:t>     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128572"/>
            <a:ext cx="9297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ea typeface="Pretendard Variable"/>
              </a:rPr>
              <a:t>.</a:t>
            </a: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retendard Variable"/>
              </a:rPr>
              <a:t> 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3239" y="759971"/>
            <a:ext cx="113054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altLang="ko-KR" dirty="0" smtClean="0"/>
          </a:p>
          <a:p>
            <a:pPr fontAlgn="base"/>
            <a:endParaRPr lang="ko-KR" altLang="en-US" dirty="0"/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476733"/>
              </p:ext>
            </p:extLst>
          </p:nvPr>
        </p:nvGraphicFramePr>
        <p:xfrm>
          <a:off x="986813" y="1057742"/>
          <a:ext cx="8496300" cy="3238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0400">
                  <a:extLst>
                    <a:ext uri="{9D8B030D-6E8A-4147-A177-3AD203B41FA5}">
                      <a16:colId xmlns:a16="http://schemas.microsoft.com/office/drawing/2014/main" val="2286498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385235287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24115163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330062057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394994186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308344432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62723248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415077685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17914717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392599028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1949010636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329065110"/>
                    </a:ext>
                  </a:extLst>
                </a:gridCol>
              </a:tblGrid>
              <a:tr h="190500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1200" u="sng" strike="noStrike">
                          <a:effectLst/>
                        </a:rPr>
                        <a:t>옥타브 및 음계별 </a:t>
                      </a:r>
                      <a:r>
                        <a:rPr lang="en-US" altLang="ko-KR" sz="1200" u="sng" strike="noStrike">
                          <a:effectLst/>
                        </a:rPr>
                        <a:t>CTC</a:t>
                      </a:r>
                      <a:r>
                        <a:rPr lang="ko-KR" altLang="en-US" sz="1200" u="sng" strike="noStrike">
                          <a:effectLst/>
                        </a:rPr>
                        <a:t>모드 타이머값</a:t>
                      </a:r>
                      <a:endParaRPr lang="ko-KR" altLang="en-US" sz="1200" b="1" i="0" u="sng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034969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endParaRPr lang="ko-KR" altLang="en-US" sz="1200" b="1" i="0" u="sng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585685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altLang="ko-KR" sz="1200" u="none" strike="noStrike">
                          <a:effectLst/>
                        </a:rPr>
                        <a:t>[1,8,64,256,1024, 32,128]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05099328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>
                          <a:effectLst/>
                        </a:rPr>
                        <a:t>타이머값 </a:t>
                      </a:r>
                      <a:r>
                        <a:rPr lang="en-US" altLang="ko-KR" sz="1200" u="none" strike="noStrike">
                          <a:effectLst/>
                        </a:rPr>
                        <a:t>= </a:t>
                      </a:r>
                      <a:r>
                        <a:rPr lang="ko-KR" altLang="en-US" sz="1200" u="none" strike="noStrike">
                          <a:effectLst/>
                        </a:rPr>
                        <a:t>클럭</a:t>
                      </a:r>
                      <a:r>
                        <a:rPr lang="en-US" altLang="ko-KR" sz="1200" u="none" strike="noStrike">
                          <a:effectLst/>
                        </a:rPr>
                        <a:t>/(2*</a:t>
                      </a:r>
                      <a:r>
                        <a:rPr lang="ko-KR" altLang="en-US" sz="1200" u="none" strike="noStrike">
                          <a:effectLst/>
                        </a:rPr>
                        <a:t>주파수*프리스케일러</a:t>
                      </a:r>
                      <a:r>
                        <a:rPr lang="en-US" altLang="ko-KR" sz="1200" u="none" strike="noStrike">
                          <a:effectLst/>
                        </a:rPr>
                        <a:t>)-1   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>
                          <a:effectLst/>
                        </a:rPr>
                        <a:t>클럭</a:t>
                      </a:r>
                      <a:r>
                        <a:rPr lang="en-US" altLang="ko-KR" sz="1200" u="none" strike="noStrike">
                          <a:effectLst/>
                        </a:rPr>
                        <a:t>: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16000000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>
                          <a:effectLst/>
                        </a:rPr>
                        <a:t>프리스케일러</a:t>
                      </a:r>
                      <a:r>
                        <a:rPr lang="en-US" altLang="ko-KR" sz="1200" u="none" strike="noStrike">
                          <a:effectLst/>
                        </a:rPr>
                        <a:t>: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8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502578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Oct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0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1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2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3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4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</a:rPr>
                        <a:t>5</a:t>
                      </a:r>
                      <a:endParaRPr lang="en-US" altLang="ko-KR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6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7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8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</a:rPr>
                        <a:t>9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693440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C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61155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30577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15288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7644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3821 </a:t>
                      </a:r>
                      <a:endParaRPr lang="en-US" altLang="ko-KR" sz="1200" b="0" i="0" u="none" strike="noStrike">
                        <a:solidFill>
                          <a:srgbClr val="FF0000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1910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955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477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238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118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559091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C#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57723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28861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14430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7214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3607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1803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901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450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224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901494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D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54483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27241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 dirty="0">
                          <a:effectLst/>
                        </a:rPr>
                        <a:t>13620 </a:t>
                      </a:r>
                      <a:endParaRPr lang="en-US" altLang="ko-KR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6809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3404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1702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850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425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212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696632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D#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51425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25712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 dirty="0">
                          <a:effectLst/>
                        </a:rPr>
                        <a:t>12855 </a:t>
                      </a:r>
                      <a:endParaRPr lang="en-US" altLang="ko-KR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6427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3213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1606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803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401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200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901532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E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48539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24269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12134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6066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3033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1516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757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378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189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144984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F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45814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22907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 dirty="0">
                          <a:effectLst/>
                        </a:rPr>
                        <a:t>11453 </a:t>
                      </a:r>
                      <a:endParaRPr lang="en-US" altLang="ko-KR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5726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2862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1431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715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357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178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758437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F#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43243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 dirty="0">
                          <a:effectLst/>
                        </a:rPr>
                        <a:t>21621 </a:t>
                      </a:r>
                      <a:endParaRPr lang="en-US" altLang="ko-KR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 dirty="0">
                          <a:effectLst/>
                        </a:rPr>
                        <a:t>10810 </a:t>
                      </a:r>
                      <a:endParaRPr lang="en-US" altLang="ko-KR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5404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2702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 dirty="0">
                          <a:effectLst/>
                        </a:rPr>
                        <a:t>1350 </a:t>
                      </a:r>
                      <a:endParaRPr lang="en-US" altLang="ko-KR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675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337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168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642128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G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40816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20407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10203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5101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2550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1275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637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318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158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714209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G#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38525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19262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9630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4815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2407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1203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601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300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149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3534036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A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36363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18181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9090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4544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2272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1135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567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283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141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7376594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A#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34322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17160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8580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4289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2144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1072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535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267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133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865214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B</a:t>
                      </a:r>
                      <a:endParaRPr 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32395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16197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8098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4049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2024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1011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505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252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126 </a:t>
                      </a:r>
                      <a:endParaRPr lang="en-US" altLang="ko-KR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53869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022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/>
        </p:nvSpPr>
        <p:spPr>
          <a:xfrm>
            <a:off x="11438792" y="-2"/>
            <a:ext cx="753207" cy="753207"/>
          </a:xfrm>
          <a:prstGeom prst="rtTriangle">
            <a:avLst/>
          </a:prstGeom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379" y="222713"/>
            <a:ext cx="34444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en-US" altLang="ko-KR" sz="2800" b="1" dirty="0"/>
              <a:t>Piezo</a:t>
            </a:r>
            <a:r>
              <a:rPr lang="en-US" altLang="ko-KR" sz="2800" b="1" dirty="0" smtClean="0"/>
              <a:t> </a:t>
            </a:r>
            <a:r>
              <a:rPr lang="en-US" altLang="ko-KR" sz="2800" b="1" dirty="0"/>
              <a:t>Buzzer(AVR)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694" y="234340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8274" y="858713"/>
            <a:ext cx="266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057742"/>
            <a:ext cx="15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altLang="ko-KR" sz="1400" dirty="0" smtClean="0"/>
              <a:t>.</a:t>
            </a:r>
            <a:endParaRPr lang="ko-KR" altLang="en-US" dirty="0"/>
          </a:p>
          <a:p>
            <a:r>
              <a:rPr lang="en-US" altLang="ko-KR" dirty="0" smtClean="0"/>
              <a:t>                 </a:t>
            </a:r>
          </a:p>
          <a:p>
            <a:r>
              <a:rPr lang="en-US" altLang="ko-KR" dirty="0" smtClean="0"/>
              <a:t>     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128572"/>
            <a:ext cx="9297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ea typeface="Pretendard Variable"/>
              </a:rPr>
              <a:t>.</a:t>
            </a: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retendard Variable"/>
              </a:rPr>
              <a:t> 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3239" y="759971"/>
            <a:ext cx="113054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altLang="ko-KR" dirty="0" smtClean="0"/>
          </a:p>
          <a:p>
            <a:pPr fontAlgn="base"/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648" y="1057742"/>
            <a:ext cx="5226319" cy="5334274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7237" y="2296055"/>
            <a:ext cx="3384724" cy="2857647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379" y="977598"/>
            <a:ext cx="5321573" cy="5880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962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/>
        </p:nvSpPr>
        <p:spPr>
          <a:xfrm>
            <a:off x="11438792" y="-2"/>
            <a:ext cx="753207" cy="753207"/>
          </a:xfrm>
          <a:prstGeom prst="rtTriangle">
            <a:avLst/>
          </a:prstGeom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379" y="222713"/>
            <a:ext cx="34444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en-US" altLang="ko-KR" sz="2800" b="1" dirty="0"/>
              <a:t>Piezo</a:t>
            </a:r>
            <a:r>
              <a:rPr lang="en-US" altLang="ko-KR" sz="2800" b="1" dirty="0" smtClean="0"/>
              <a:t> </a:t>
            </a:r>
            <a:r>
              <a:rPr lang="en-US" altLang="ko-KR" sz="2800" b="1" dirty="0"/>
              <a:t>Buzzer(AVR)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694" y="234340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8274" y="858713"/>
            <a:ext cx="266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057742"/>
            <a:ext cx="15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altLang="ko-KR" sz="1400" dirty="0" smtClean="0"/>
              <a:t>.</a:t>
            </a:r>
            <a:endParaRPr lang="ko-KR" altLang="en-US" dirty="0"/>
          </a:p>
          <a:p>
            <a:r>
              <a:rPr lang="en-US" altLang="ko-KR" dirty="0" smtClean="0"/>
              <a:t>                 </a:t>
            </a:r>
          </a:p>
          <a:p>
            <a:r>
              <a:rPr lang="en-US" altLang="ko-KR" dirty="0" smtClean="0"/>
              <a:t>     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128572"/>
            <a:ext cx="9297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ea typeface="Pretendard Variable"/>
              </a:rPr>
              <a:t>.</a:t>
            </a: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retendard Variable"/>
              </a:rPr>
              <a:t> 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3239" y="759971"/>
            <a:ext cx="113054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altLang="ko-KR" dirty="0" smtClean="0"/>
          </a:p>
          <a:p>
            <a:pPr fontAlgn="base"/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19" y="883584"/>
            <a:ext cx="4813547" cy="5658141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343" y="870884"/>
            <a:ext cx="4261069" cy="5670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637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/>
        </p:nvSpPr>
        <p:spPr>
          <a:xfrm>
            <a:off x="11438792" y="-2"/>
            <a:ext cx="753207" cy="753207"/>
          </a:xfrm>
          <a:prstGeom prst="rtTriangle">
            <a:avLst/>
          </a:prstGeom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379" y="222713"/>
            <a:ext cx="344446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en-US" altLang="ko-KR" sz="2800" b="1" dirty="0" err="1"/>
              <a:t>Pizeo</a:t>
            </a:r>
            <a:r>
              <a:rPr lang="en-US" altLang="ko-KR" sz="2800" b="1" dirty="0"/>
              <a:t> Buzzer(AVR)</a:t>
            </a:r>
          </a:p>
          <a:p>
            <a:endParaRPr lang="en-US" altLang="ko-KR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04694" y="234340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8274" y="858713"/>
            <a:ext cx="266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057742"/>
            <a:ext cx="15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altLang="ko-KR" sz="1400" dirty="0" smtClean="0"/>
              <a:t>.</a:t>
            </a:r>
            <a:endParaRPr lang="ko-KR" altLang="en-US" dirty="0"/>
          </a:p>
          <a:p>
            <a:r>
              <a:rPr lang="en-US" altLang="ko-KR" dirty="0" smtClean="0"/>
              <a:t>                 </a:t>
            </a:r>
          </a:p>
          <a:p>
            <a:r>
              <a:rPr lang="en-US" altLang="ko-KR" dirty="0" smtClean="0"/>
              <a:t>     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128572"/>
            <a:ext cx="9297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ea typeface="Pretendard Variable"/>
              </a:rPr>
              <a:t>.</a:t>
            </a: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retendard Variable"/>
              </a:rPr>
              <a:t> 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3239" y="759971"/>
            <a:ext cx="113054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altLang="ko-KR" dirty="0" smtClean="0"/>
          </a:p>
          <a:p>
            <a:pPr fontAlgn="base"/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1" y="858713"/>
            <a:ext cx="7273730" cy="4788146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1" y="2532336"/>
            <a:ext cx="10992415" cy="363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059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/>
        </p:nvSpPr>
        <p:spPr>
          <a:xfrm>
            <a:off x="11438792" y="-2"/>
            <a:ext cx="753207" cy="753207"/>
          </a:xfrm>
          <a:prstGeom prst="rtTriangle">
            <a:avLst/>
          </a:prstGeom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379" y="222713"/>
            <a:ext cx="344446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en-US" altLang="ko-KR" sz="2800" b="1" dirty="0"/>
              <a:t>Piezo</a:t>
            </a:r>
            <a:r>
              <a:rPr lang="en-US" altLang="ko-KR" sz="2800" b="1" dirty="0" smtClean="0"/>
              <a:t> </a:t>
            </a:r>
            <a:r>
              <a:rPr lang="en-US" altLang="ko-KR" sz="2800" b="1" dirty="0"/>
              <a:t>Buzzer(AVR)</a:t>
            </a:r>
          </a:p>
          <a:p>
            <a:endParaRPr lang="en-US" altLang="ko-KR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04694" y="234340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8274" y="858713"/>
            <a:ext cx="266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057742"/>
            <a:ext cx="15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altLang="ko-KR" sz="1400" dirty="0" smtClean="0"/>
              <a:t>.</a:t>
            </a:r>
            <a:endParaRPr lang="ko-KR" altLang="en-US" dirty="0"/>
          </a:p>
          <a:p>
            <a:r>
              <a:rPr lang="en-US" altLang="ko-KR" dirty="0" smtClean="0"/>
              <a:t>                 </a:t>
            </a:r>
          </a:p>
          <a:p>
            <a:r>
              <a:rPr lang="en-US" altLang="ko-KR" dirty="0" smtClean="0"/>
              <a:t>     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128572"/>
            <a:ext cx="9297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ea typeface="Pretendard Variable"/>
              </a:rPr>
              <a:t>.</a:t>
            </a: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retendard Variable"/>
              </a:rPr>
              <a:t> 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3239" y="759971"/>
            <a:ext cx="113054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altLang="ko-KR" dirty="0" smtClean="0"/>
          </a:p>
          <a:p>
            <a:pPr fontAlgn="base"/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102" y="910654"/>
            <a:ext cx="10992415" cy="363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431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/>
        </p:nvSpPr>
        <p:spPr>
          <a:xfrm>
            <a:off x="11438792" y="-2"/>
            <a:ext cx="753207" cy="753207"/>
          </a:xfrm>
          <a:prstGeom prst="rtTriangle">
            <a:avLst/>
          </a:prstGeom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379" y="222713"/>
            <a:ext cx="34444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en-US" altLang="ko-KR" sz="2800" b="1" dirty="0"/>
              <a:t>Piezo</a:t>
            </a:r>
            <a:r>
              <a:rPr lang="en-US" altLang="ko-KR" sz="2800" b="1" dirty="0" smtClean="0"/>
              <a:t> </a:t>
            </a:r>
            <a:r>
              <a:rPr lang="en-US" altLang="ko-KR" sz="2800" b="1" dirty="0"/>
              <a:t>Buzzer(AVR)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694" y="234340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8274" y="858713"/>
            <a:ext cx="266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057742"/>
            <a:ext cx="15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altLang="ko-KR" sz="1400" dirty="0" smtClean="0"/>
              <a:t>.</a:t>
            </a:r>
            <a:endParaRPr lang="ko-KR" altLang="en-US" dirty="0"/>
          </a:p>
          <a:p>
            <a:r>
              <a:rPr lang="en-US" altLang="ko-KR" dirty="0" smtClean="0"/>
              <a:t>                 </a:t>
            </a:r>
          </a:p>
          <a:p>
            <a:r>
              <a:rPr lang="en-US" altLang="ko-KR" dirty="0" smtClean="0"/>
              <a:t>     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128572"/>
            <a:ext cx="9297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ea typeface="Pretendard Variable"/>
              </a:rPr>
              <a:t>.</a:t>
            </a: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retendard Variable"/>
              </a:rPr>
              <a:t> 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3239" y="759971"/>
            <a:ext cx="113054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altLang="ko-KR" dirty="0" smtClean="0"/>
          </a:p>
          <a:p>
            <a:pPr fontAlgn="base"/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39" y="957108"/>
            <a:ext cx="11868760" cy="544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501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/>
        </p:nvSpPr>
        <p:spPr>
          <a:xfrm>
            <a:off x="11438792" y="-2"/>
            <a:ext cx="753207" cy="753207"/>
          </a:xfrm>
          <a:prstGeom prst="rtTriangle">
            <a:avLst/>
          </a:prstGeom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379" y="222713"/>
            <a:ext cx="4725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en-US" altLang="ko-KR" sz="2800" b="1" dirty="0"/>
              <a:t>Piezo </a:t>
            </a:r>
            <a:r>
              <a:rPr lang="en-US" altLang="ko-KR" sz="2800" b="1" dirty="0" smtClean="0"/>
              <a:t>Buzzer(STM32F411)</a:t>
            </a:r>
            <a:endParaRPr lang="en-US" altLang="ko-KR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04694" y="234340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8274" y="858713"/>
            <a:ext cx="266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057742"/>
            <a:ext cx="15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altLang="ko-KR" sz="1400" dirty="0" smtClean="0"/>
              <a:t>.</a:t>
            </a:r>
            <a:endParaRPr lang="ko-KR" altLang="en-US" dirty="0"/>
          </a:p>
          <a:p>
            <a:r>
              <a:rPr lang="en-US" altLang="ko-KR" dirty="0" smtClean="0"/>
              <a:t>                 </a:t>
            </a:r>
          </a:p>
          <a:p>
            <a:r>
              <a:rPr lang="en-US" altLang="ko-KR" dirty="0" smtClean="0"/>
              <a:t>     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128572"/>
            <a:ext cx="9297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ea typeface="Pretendard Variable"/>
              </a:rPr>
              <a:t>.</a:t>
            </a: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retendard Variable"/>
              </a:rPr>
              <a:t> 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3239" y="759971"/>
            <a:ext cx="113054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altLang="ko-KR" dirty="0" smtClean="0"/>
          </a:p>
          <a:p>
            <a:pPr fontAlgn="base"/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277091" y="1057742"/>
            <a:ext cx="11404019" cy="5170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=== </a:t>
            </a:r>
            <a:r>
              <a:rPr lang="ko-KR" altLang="en-US" dirty="0" err="1"/>
              <a:t>피에조</a:t>
            </a:r>
            <a:r>
              <a:rPr lang="ko-KR" altLang="en-US" dirty="0"/>
              <a:t> </a:t>
            </a:r>
            <a:r>
              <a:rPr lang="ko-KR" altLang="en-US" dirty="0" err="1"/>
              <a:t>부저</a:t>
            </a:r>
            <a:r>
              <a:rPr lang="ko-KR" altLang="en-US" dirty="0"/>
              <a:t> 제어 방법 </a:t>
            </a:r>
            <a:r>
              <a:rPr lang="en-US" altLang="ko-KR" dirty="0"/>
              <a:t>====</a:t>
            </a:r>
            <a:endParaRPr lang="ko-KR" altLang="en-US" dirty="0"/>
          </a:p>
          <a:p>
            <a:r>
              <a:rPr lang="ko-KR" altLang="en-US" sz="1400" dirty="0" err="1"/>
              <a:t>피에조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부저</a:t>
            </a:r>
            <a:r>
              <a:rPr lang="ko-KR" altLang="en-US" sz="1400" dirty="0"/>
              <a:t> </a:t>
            </a:r>
            <a:r>
              <a:rPr lang="en-US" altLang="ko-KR" sz="1400" dirty="0"/>
              <a:t>Resonant Frequency(</a:t>
            </a:r>
            <a:r>
              <a:rPr lang="ko-KR" altLang="en-US" sz="1400" dirty="0"/>
              <a:t>공진 주파수</a:t>
            </a:r>
            <a:r>
              <a:rPr lang="en-US" altLang="ko-KR" sz="1400" dirty="0"/>
              <a:t>): 4kHz</a:t>
            </a:r>
            <a:endParaRPr lang="ko-KR" altLang="en-US" sz="1400" dirty="0"/>
          </a:p>
          <a:p>
            <a:r>
              <a:rPr lang="en-US" altLang="ko-KR" sz="1400" dirty="0"/>
              <a:t>STM32</a:t>
            </a:r>
            <a:r>
              <a:rPr lang="ko-KR" altLang="en-US" sz="1400" dirty="0"/>
              <a:t>에서 주파수를 만들 때 </a:t>
            </a:r>
            <a:r>
              <a:rPr lang="en-US" altLang="ko-KR" sz="1400" dirty="0"/>
              <a:t>3</a:t>
            </a:r>
            <a:r>
              <a:rPr lang="ko-KR" altLang="en-US" sz="1400" dirty="0"/>
              <a:t>개의 레지스터를 설정한다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r>
              <a:rPr lang="en-US" altLang="ko-KR" sz="1400" dirty="0"/>
              <a:t>PSC(</a:t>
            </a:r>
            <a:r>
              <a:rPr lang="en-US" altLang="ko-KR" sz="1400" u="sng" dirty="0" err="1"/>
              <a:t>Prescaler</a:t>
            </a:r>
            <a:r>
              <a:rPr lang="en-US" altLang="ko-KR" sz="1400" dirty="0"/>
              <a:t>), ARR(</a:t>
            </a:r>
            <a:r>
              <a:rPr lang="en-US" altLang="ko-KR" sz="1400" u="sng" dirty="0" err="1"/>
              <a:t>Peroid</a:t>
            </a:r>
            <a:r>
              <a:rPr lang="en-US" altLang="ko-KR" sz="1400" dirty="0"/>
              <a:t>), </a:t>
            </a:r>
            <a:r>
              <a:rPr lang="en-US" altLang="ko-KR" sz="1400" dirty="0" err="1"/>
              <a:t>CCRx</a:t>
            </a:r>
            <a:r>
              <a:rPr lang="en-US" altLang="ko-KR" sz="1400" dirty="0"/>
              <a:t>(Duty)</a:t>
            </a:r>
            <a:endParaRPr lang="ko-KR" altLang="en-US" sz="1400" dirty="0"/>
          </a:p>
          <a:p>
            <a:r>
              <a:rPr lang="en-US" altLang="ko-KR" sz="1400" dirty="0"/>
              <a:t>- </a:t>
            </a:r>
            <a:r>
              <a:rPr lang="en-US" altLang="ko-KR" sz="1400" u="sng" dirty="0" err="1"/>
              <a:t>Prescaler</a:t>
            </a:r>
            <a:r>
              <a:rPr lang="ko-KR" altLang="en-US" sz="1400" dirty="0"/>
              <a:t> </a:t>
            </a:r>
            <a:r>
              <a:rPr lang="en-US" altLang="ko-KR" sz="1400" dirty="0"/>
              <a:t>register(</a:t>
            </a:r>
            <a:r>
              <a:rPr lang="en-US" altLang="ko-KR" sz="1400" dirty="0" err="1"/>
              <a:t>TIMx_PSC</a:t>
            </a:r>
            <a:r>
              <a:rPr lang="en-US" altLang="ko-KR" sz="1400" dirty="0"/>
              <a:t>) : APB</a:t>
            </a:r>
            <a:r>
              <a:rPr lang="ko-KR" altLang="en-US" sz="1400" dirty="0"/>
              <a:t>를 통해 </a:t>
            </a:r>
            <a:r>
              <a:rPr lang="ko-KR" altLang="en-US" sz="1400" dirty="0" err="1"/>
              <a:t>공급되느</a:t>
            </a:r>
            <a:r>
              <a:rPr lang="ko-KR" altLang="en-US" sz="1400" dirty="0"/>
              <a:t> 클럭이 빠를 경우 이 레지스터의 값만큼 분주하여 사용할 수 있다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r>
              <a:rPr lang="en-US" altLang="ko-KR" sz="1400" dirty="0"/>
              <a:t>- Auto reload register(</a:t>
            </a:r>
            <a:r>
              <a:rPr lang="en-US" altLang="ko-KR" sz="1400" dirty="0" err="1"/>
              <a:t>TIMx_ARR</a:t>
            </a:r>
            <a:r>
              <a:rPr lang="en-US" altLang="ko-KR" sz="1400" dirty="0"/>
              <a:t>) : </a:t>
            </a:r>
            <a:r>
              <a:rPr lang="en-US" altLang="ko-KR" sz="1400" dirty="0" err="1"/>
              <a:t>TIMx_CNT</a:t>
            </a:r>
            <a:r>
              <a:rPr lang="en-US" altLang="ko-KR" sz="1400" dirty="0"/>
              <a:t> </a:t>
            </a:r>
            <a:r>
              <a:rPr lang="ko-KR" altLang="en-US" sz="1400" dirty="0"/>
              <a:t>레지스터를 초기화 시켜주기 위한 레지스터이다</a:t>
            </a:r>
            <a:r>
              <a:rPr lang="en-US" altLang="ko-KR" sz="1400" dirty="0"/>
              <a:t>. </a:t>
            </a:r>
            <a:endParaRPr lang="ko-KR" altLang="en-US" sz="1400" dirty="0"/>
          </a:p>
          <a:p>
            <a:r>
              <a:rPr lang="en-US" altLang="ko-KR" sz="1400" dirty="0"/>
              <a:t>Up </a:t>
            </a:r>
            <a:r>
              <a:rPr lang="en-US" altLang="ko-KR" sz="1400" u="sng" dirty="0"/>
              <a:t>Counting</a:t>
            </a:r>
            <a:r>
              <a:rPr lang="ko-KR" altLang="en-US" sz="1400" u="sng" dirty="0"/>
              <a:t>에서</a:t>
            </a:r>
            <a:r>
              <a:rPr lang="ko-KR" altLang="en-US" sz="1400" dirty="0"/>
              <a:t> </a:t>
            </a:r>
            <a:r>
              <a:rPr lang="en-US" altLang="ko-KR" sz="1400" dirty="0" err="1"/>
              <a:t>TIMx_CNT</a:t>
            </a:r>
            <a:r>
              <a:rPr lang="ko-KR" altLang="en-US" sz="1400" dirty="0"/>
              <a:t>가 이 값에 도달하면 </a:t>
            </a:r>
            <a:r>
              <a:rPr lang="en-US" altLang="ko-KR" sz="1400" dirty="0"/>
              <a:t>0</a:t>
            </a:r>
            <a:r>
              <a:rPr lang="ko-KR" altLang="en-US" sz="1400" dirty="0"/>
              <a:t>으로 초기화되어 다시 </a:t>
            </a:r>
            <a:r>
              <a:rPr lang="ko-KR" altLang="en-US" sz="1400" dirty="0" err="1"/>
              <a:t>카운팅한다</a:t>
            </a:r>
            <a:r>
              <a:rPr lang="en-US" altLang="ko-KR" sz="1400" dirty="0"/>
              <a:t>. </a:t>
            </a:r>
            <a:endParaRPr lang="ko-KR" altLang="en-US" sz="1400" dirty="0"/>
          </a:p>
          <a:p>
            <a:r>
              <a:rPr lang="en-US" altLang="ko-KR" sz="1400" dirty="0"/>
              <a:t>- Capture/Compare register(</a:t>
            </a:r>
            <a:r>
              <a:rPr lang="en-US" altLang="ko-KR" sz="1400" dirty="0" err="1"/>
              <a:t>TIMx_CCR</a:t>
            </a:r>
            <a:r>
              <a:rPr lang="en-US" altLang="ko-KR" sz="1400" dirty="0"/>
              <a:t>) : Capture/Compare </a:t>
            </a:r>
            <a:r>
              <a:rPr lang="ko-KR" altLang="en-US" sz="1400" dirty="0"/>
              <a:t>두 개의 모드로 외부 입력 신호에 따라 </a:t>
            </a:r>
          </a:p>
          <a:p>
            <a:r>
              <a:rPr lang="en-US" altLang="ko-KR" sz="1400" dirty="0" err="1"/>
              <a:t>TIMx_CNT</a:t>
            </a:r>
            <a:r>
              <a:rPr lang="ko-KR" altLang="en-US" sz="1400" dirty="0"/>
              <a:t>의 값을 기록</a:t>
            </a:r>
            <a:r>
              <a:rPr lang="en-US" altLang="ko-KR" sz="1400" dirty="0"/>
              <a:t>(Capture)</a:t>
            </a:r>
            <a:r>
              <a:rPr lang="ko-KR" altLang="en-US" sz="1400" dirty="0"/>
              <a:t>하거나 </a:t>
            </a:r>
            <a:r>
              <a:rPr lang="en-US" altLang="ko-KR" sz="1400" dirty="0" err="1"/>
              <a:t>TIMx_CNT</a:t>
            </a:r>
            <a:r>
              <a:rPr lang="ko-KR" altLang="en-US" sz="1400" dirty="0"/>
              <a:t>와 </a:t>
            </a:r>
            <a:r>
              <a:rPr lang="en-US" altLang="ko-KR" sz="1400" dirty="0" err="1"/>
              <a:t>TIMx_CCR</a:t>
            </a:r>
            <a:r>
              <a:rPr lang="ko-KR" altLang="en-US" sz="1400" dirty="0"/>
              <a:t>를 비교하여</a:t>
            </a:r>
            <a:r>
              <a:rPr lang="en-US" altLang="ko-KR" sz="1400" dirty="0"/>
              <a:t>(Compare) </a:t>
            </a:r>
            <a:r>
              <a:rPr lang="ko-KR" altLang="en-US" sz="1400" dirty="0"/>
              <a:t>같아지면 인터럽트나 출력 등의 이벤트를 발생시킨다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r>
              <a:rPr lang="ko-KR" altLang="en-US" sz="1400" dirty="0"/>
              <a:t/>
            </a:r>
            <a:br>
              <a:rPr lang="ko-KR" altLang="en-US" sz="1400" dirty="0"/>
            </a:br>
            <a:endParaRPr lang="ko-KR" altLang="en-US" sz="1400" dirty="0"/>
          </a:p>
          <a:p>
            <a:r>
              <a:rPr lang="ko-KR" altLang="en-US" sz="1400" dirty="0"/>
              <a:t>다음과 같이 적용 하면 된다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r>
              <a:rPr lang="en-US" altLang="ko-KR" sz="1400" dirty="0"/>
              <a:t>- PSC : Timer Clock / </a:t>
            </a:r>
            <a:r>
              <a:rPr lang="ko-KR" altLang="en-US" sz="1400" dirty="0"/>
              <a:t>기준으로 사용할 주파수 </a:t>
            </a:r>
            <a:r>
              <a:rPr lang="en-US" altLang="ko-KR" sz="1400" dirty="0"/>
              <a:t>- 1</a:t>
            </a:r>
            <a:endParaRPr lang="ko-KR" altLang="en-US" sz="1400" dirty="0"/>
          </a:p>
          <a:p>
            <a:r>
              <a:rPr lang="en-US" altLang="ko-KR" sz="1400" dirty="0"/>
              <a:t>- ARR : </a:t>
            </a:r>
            <a:r>
              <a:rPr lang="ko-KR" altLang="en-US" sz="1400" dirty="0"/>
              <a:t>기준 주파수 </a:t>
            </a:r>
            <a:r>
              <a:rPr lang="en-US" altLang="ko-KR" sz="1400" dirty="0"/>
              <a:t>/ </a:t>
            </a:r>
            <a:r>
              <a:rPr lang="ko-KR" altLang="en-US" sz="1400" dirty="0"/>
              <a:t>실제 주파수 </a:t>
            </a:r>
            <a:r>
              <a:rPr lang="en-US" altLang="ko-KR" sz="1400" dirty="0"/>
              <a:t>- 1</a:t>
            </a:r>
            <a:endParaRPr lang="ko-KR" altLang="en-US" sz="1400" dirty="0"/>
          </a:p>
          <a:p>
            <a:r>
              <a:rPr lang="en-US" altLang="ko-KR" sz="1400" dirty="0"/>
              <a:t>- </a:t>
            </a:r>
            <a:r>
              <a:rPr lang="en-US" altLang="ko-KR" sz="1400" dirty="0" err="1"/>
              <a:t>CCRx</a:t>
            </a:r>
            <a:r>
              <a:rPr lang="en-US" altLang="ko-KR" sz="1400" dirty="0"/>
              <a:t> : ARR</a:t>
            </a:r>
            <a:r>
              <a:rPr lang="ko-KR" altLang="en-US" sz="1400" dirty="0"/>
              <a:t>값 * </a:t>
            </a:r>
            <a:r>
              <a:rPr lang="en-US" altLang="ko-KR" sz="1400" dirty="0"/>
              <a:t>(</a:t>
            </a:r>
            <a:r>
              <a:rPr lang="ko-KR" altLang="en-US" sz="1400" dirty="0"/>
              <a:t>적용할 백분율 값 </a:t>
            </a:r>
            <a:r>
              <a:rPr lang="en-US" altLang="ko-KR" sz="1400" dirty="0"/>
              <a:t>0 ~ 100) / 100 CCR(Counter Capture Register)</a:t>
            </a:r>
            <a:endParaRPr lang="ko-KR" altLang="en-US" sz="1400" dirty="0"/>
          </a:p>
          <a:p>
            <a:r>
              <a:rPr lang="ko-KR" altLang="en-US" sz="1400" dirty="0"/>
              <a:t>예를 들어 동작 클럭이 </a:t>
            </a:r>
            <a:r>
              <a:rPr lang="en-US" altLang="ko-KR" sz="1400" dirty="0"/>
              <a:t>84Mhz</a:t>
            </a:r>
            <a:r>
              <a:rPr lang="ko-KR" altLang="en-US" sz="1400" dirty="0"/>
              <a:t>이고 </a:t>
            </a:r>
            <a:r>
              <a:rPr lang="en-US" altLang="ko-KR" sz="1400" dirty="0"/>
              <a:t>4Khz</a:t>
            </a:r>
            <a:r>
              <a:rPr lang="ko-KR" altLang="en-US" sz="1400" dirty="0"/>
              <a:t>에 </a:t>
            </a:r>
            <a:r>
              <a:rPr lang="en-US" altLang="ko-KR" sz="1400" dirty="0"/>
              <a:t>50%</a:t>
            </a:r>
            <a:r>
              <a:rPr lang="ko-KR" altLang="en-US" sz="1400" dirty="0"/>
              <a:t>비율로 동작하는 </a:t>
            </a:r>
            <a:r>
              <a:rPr lang="en-US" altLang="ko-KR" sz="1400" dirty="0"/>
              <a:t>PWM</a:t>
            </a:r>
            <a:r>
              <a:rPr lang="ko-KR" altLang="en-US" sz="1400" dirty="0"/>
              <a:t>을 만들고 싶다면 식은 다음과 같다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r>
              <a:rPr lang="en-US" altLang="ko-KR" sz="1400" u="sng" dirty="0" err="1"/>
              <a:t>Prescaler</a:t>
            </a:r>
            <a:r>
              <a:rPr lang="en-US" altLang="ko-KR" sz="1400" dirty="0"/>
              <a:t>(</a:t>
            </a:r>
            <a:r>
              <a:rPr lang="ko-KR" altLang="en-US" sz="1400" dirty="0"/>
              <a:t>기준 클럭</a:t>
            </a:r>
            <a:r>
              <a:rPr lang="en-US" altLang="ko-KR" sz="1400" dirty="0"/>
              <a:t>) : 1.6Mhz</a:t>
            </a:r>
            <a:r>
              <a:rPr lang="ko-KR" altLang="en-US" sz="1400" dirty="0"/>
              <a:t>을 만든다면 </a:t>
            </a:r>
            <a:r>
              <a:rPr lang="en-US" altLang="ko-KR" sz="1400" dirty="0"/>
              <a:t>- 84,000,000(</a:t>
            </a:r>
            <a:r>
              <a:rPr lang="ko-KR" altLang="en-US" sz="1400" dirty="0"/>
              <a:t>타이머 클럭</a:t>
            </a:r>
            <a:r>
              <a:rPr lang="en-US" altLang="ko-KR" sz="1400" dirty="0"/>
              <a:t>) / 1,600,000(</a:t>
            </a:r>
            <a:r>
              <a:rPr lang="ko-KR" altLang="en-US" sz="1400" dirty="0"/>
              <a:t>만들 클럭</a:t>
            </a:r>
            <a:r>
              <a:rPr lang="en-US" altLang="ko-KR" sz="1400" dirty="0"/>
              <a:t>) = 52.5</a:t>
            </a:r>
            <a:endParaRPr lang="ko-KR" altLang="en-US" sz="1400" dirty="0"/>
          </a:p>
          <a:p>
            <a:r>
              <a:rPr lang="ko-KR" altLang="en-US" sz="1400" dirty="0"/>
              <a:t>실제 레지스터 </a:t>
            </a:r>
            <a:r>
              <a:rPr lang="en-US" altLang="ko-KR" sz="1400" dirty="0"/>
              <a:t>PSC</a:t>
            </a:r>
            <a:r>
              <a:rPr lang="ko-KR" altLang="en-US" sz="1400" dirty="0"/>
              <a:t>에 </a:t>
            </a:r>
            <a:r>
              <a:rPr lang="ko-KR" altLang="en-US" sz="1400" dirty="0" err="1"/>
              <a:t>적용시</a:t>
            </a:r>
            <a:r>
              <a:rPr lang="ko-KR" altLang="en-US" sz="1400" dirty="0"/>
              <a:t> </a:t>
            </a:r>
            <a:r>
              <a:rPr lang="en-US" altLang="ko-KR" sz="1400" dirty="0"/>
              <a:t>1</a:t>
            </a:r>
            <a:r>
              <a:rPr lang="ko-KR" altLang="en-US" sz="1400" dirty="0"/>
              <a:t>을 뺀 </a:t>
            </a:r>
            <a:r>
              <a:rPr lang="en-US" altLang="ko-KR" sz="1400" dirty="0"/>
              <a:t>51.5</a:t>
            </a:r>
            <a:r>
              <a:rPr lang="ko-KR" altLang="en-US" sz="1400" dirty="0"/>
              <a:t>값을 적용한다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r>
              <a:rPr lang="en-US" altLang="ko-KR" sz="1400" dirty="0"/>
              <a:t>PSC = 52.5-1</a:t>
            </a:r>
            <a:endParaRPr lang="ko-KR" altLang="en-US" sz="1400" dirty="0"/>
          </a:p>
          <a:p>
            <a:r>
              <a:rPr lang="en-US" altLang="ko-KR" sz="1400" dirty="0"/>
              <a:t>Period : 4khz (</a:t>
            </a:r>
            <a:r>
              <a:rPr lang="ko-KR" altLang="en-US" sz="1400" dirty="0"/>
              <a:t>실제 주파수</a:t>
            </a:r>
            <a:r>
              <a:rPr lang="en-US" altLang="ko-KR" sz="1400" dirty="0"/>
              <a:t>) - 1,600,000(</a:t>
            </a:r>
            <a:r>
              <a:rPr lang="ko-KR" altLang="en-US" sz="1400" dirty="0"/>
              <a:t>기준 클럭</a:t>
            </a:r>
            <a:r>
              <a:rPr lang="en-US" altLang="ko-KR" sz="1400" dirty="0"/>
              <a:t>) / 4000(</a:t>
            </a:r>
            <a:r>
              <a:rPr lang="ko-KR" altLang="en-US" sz="1400" dirty="0"/>
              <a:t>실제 주파수</a:t>
            </a:r>
            <a:r>
              <a:rPr lang="en-US" altLang="ko-KR" sz="1400" dirty="0"/>
              <a:t>) = 400 </a:t>
            </a:r>
            <a:r>
              <a:rPr lang="ko-KR" altLang="en-US" sz="1400" dirty="0"/>
              <a:t>실제 레지스터 </a:t>
            </a:r>
            <a:r>
              <a:rPr lang="en-US" altLang="ko-KR" sz="1400" dirty="0"/>
              <a:t>ARR</a:t>
            </a:r>
            <a:r>
              <a:rPr lang="ko-KR" altLang="en-US" sz="1400" dirty="0"/>
              <a:t>에 </a:t>
            </a:r>
            <a:r>
              <a:rPr lang="ko-KR" altLang="en-US" sz="1400" dirty="0" err="1"/>
              <a:t>적용할땐</a:t>
            </a:r>
            <a:r>
              <a:rPr lang="ko-KR" altLang="en-US" sz="1400" dirty="0"/>
              <a:t> </a:t>
            </a:r>
            <a:r>
              <a:rPr lang="en-US" altLang="ko-KR" sz="1400" dirty="0"/>
              <a:t>1</a:t>
            </a:r>
            <a:r>
              <a:rPr lang="ko-KR" altLang="en-US" sz="1400" dirty="0"/>
              <a:t>을 뺀 </a:t>
            </a:r>
            <a:r>
              <a:rPr lang="en-US" altLang="ko-KR" sz="1400" dirty="0"/>
              <a:t>399</a:t>
            </a:r>
            <a:r>
              <a:rPr lang="ko-KR" altLang="en-US" sz="1400" dirty="0"/>
              <a:t>값을 적용한다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r>
              <a:rPr lang="en-US" altLang="ko-KR" sz="1400" dirty="0"/>
              <a:t>ARR = 399; Duty : 50% - 399(ARR) * 50(</a:t>
            </a:r>
            <a:r>
              <a:rPr lang="ko-KR" altLang="en-US" sz="1400" dirty="0"/>
              <a:t>퍼센트</a:t>
            </a:r>
            <a:r>
              <a:rPr lang="en-US" altLang="ko-KR" sz="1400" dirty="0"/>
              <a:t>) / 100 = 199</a:t>
            </a:r>
            <a:endParaRPr lang="ko-KR" altLang="en-US" sz="1400" dirty="0"/>
          </a:p>
          <a:p>
            <a:r>
              <a:rPr lang="en-US" altLang="ko-KR" sz="1400" dirty="0" err="1"/>
              <a:t>CCRx</a:t>
            </a:r>
            <a:r>
              <a:rPr lang="en-US" altLang="ko-KR" sz="1400" dirty="0"/>
              <a:t> = 199</a:t>
            </a:r>
            <a:endParaRPr lang="ko-KR" altLang="en-US" sz="1400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979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/>
        </p:nvSpPr>
        <p:spPr>
          <a:xfrm>
            <a:off x="11438792" y="-2"/>
            <a:ext cx="753207" cy="753207"/>
          </a:xfrm>
          <a:prstGeom prst="rtTriangle">
            <a:avLst/>
          </a:prstGeom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379" y="222713"/>
            <a:ext cx="4725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en-US" altLang="ko-KR" sz="2800" b="1" dirty="0"/>
              <a:t>Piezo </a:t>
            </a:r>
            <a:r>
              <a:rPr lang="en-US" altLang="ko-KR" sz="2800" b="1" dirty="0" smtClean="0"/>
              <a:t>Buzzer(STM32F411)</a:t>
            </a:r>
            <a:endParaRPr lang="en-US" altLang="ko-KR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04694" y="234340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8274" y="858713"/>
            <a:ext cx="266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057742"/>
            <a:ext cx="15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altLang="ko-KR" sz="1400" dirty="0" smtClean="0"/>
              <a:t>.</a:t>
            </a:r>
            <a:endParaRPr lang="ko-KR" altLang="en-US" dirty="0"/>
          </a:p>
          <a:p>
            <a:r>
              <a:rPr lang="en-US" altLang="ko-KR" dirty="0" smtClean="0"/>
              <a:t>                 </a:t>
            </a:r>
          </a:p>
          <a:p>
            <a:r>
              <a:rPr lang="en-US" altLang="ko-KR" dirty="0" smtClean="0"/>
              <a:t>     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128572"/>
            <a:ext cx="9297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ea typeface="Pretendard Variable"/>
              </a:rPr>
              <a:t>.</a:t>
            </a: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retendard Variable"/>
              </a:rPr>
              <a:t> 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3239" y="759971"/>
            <a:ext cx="113054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altLang="ko-KR" dirty="0" smtClean="0"/>
          </a:p>
          <a:p>
            <a:pPr fontAlgn="base"/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277091" y="1057742"/>
            <a:ext cx="1059153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b="1" dirty="0" smtClean="0"/>
              <a:t>STM32F411 </a:t>
            </a:r>
            <a:r>
              <a:rPr lang="ko-KR" altLang="en-US" b="1" dirty="0" smtClean="0"/>
              <a:t>동작 </a:t>
            </a:r>
            <a:r>
              <a:rPr lang="ko-KR" altLang="en-US" b="1" dirty="0"/>
              <a:t>클럭이 </a:t>
            </a:r>
            <a:r>
              <a:rPr lang="en-US" altLang="ko-KR" b="1" dirty="0"/>
              <a:t>84Mhz</a:t>
            </a:r>
            <a:r>
              <a:rPr lang="ko-KR" altLang="en-US" b="1" dirty="0"/>
              <a:t>이고 </a:t>
            </a:r>
            <a:r>
              <a:rPr lang="ko-KR" altLang="en-US" b="1" dirty="0" err="1"/>
              <a:t>부저</a:t>
            </a:r>
            <a:r>
              <a:rPr lang="ko-KR" altLang="en-US" b="1" dirty="0"/>
              <a:t> </a:t>
            </a:r>
            <a:r>
              <a:rPr lang="en-US" altLang="ko-KR" b="1" dirty="0"/>
              <a:t>4Khz</a:t>
            </a:r>
            <a:r>
              <a:rPr lang="ko-KR" altLang="en-US" b="1" dirty="0"/>
              <a:t>가 동작하는 </a:t>
            </a:r>
            <a:r>
              <a:rPr lang="en-US" altLang="ko-KR" b="1" dirty="0"/>
              <a:t>PWM </a:t>
            </a:r>
            <a:r>
              <a:rPr lang="ko-KR" altLang="en-US" b="1" dirty="0"/>
              <a:t>환경 설정을 한다</a:t>
            </a:r>
            <a:r>
              <a:rPr lang="en-US" altLang="ko-KR" b="1" dirty="0"/>
              <a:t>. </a:t>
            </a:r>
            <a:endParaRPr lang="ko-KR" altLang="en-US" dirty="0"/>
          </a:p>
          <a:p>
            <a:pPr fontAlgn="base"/>
            <a:r>
              <a:rPr lang="ko-KR" altLang="en-US" b="1" dirty="0" err="1"/>
              <a:t>압전</a:t>
            </a:r>
            <a:r>
              <a:rPr lang="ko-KR" altLang="en-US" b="1" dirty="0"/>
              <a:t> </a:t>
            </a:r>
            <a:r>
              <a:rPr lang="ko-KR" altLang="en-US" b="1" dirty="0" err="1"/>
              <a:t>부저</a:t>
            </a:r>
            <a:endParaRPr lang="ko-KR" altLang="en-US" dirty="0"/>
          </a:p>
          <a:p>
            <a:pPr fontAlgn="base"/>
            <a:r>
              <a:rPr lang="en-US" altLang="ko-KR" b="1" dirty="0" smtClean="0"/>
              <a:t>- </a:t>
            </a:r>
            <a:r>
              <a:rPr lang="ko-KR" altLang="en-US" b="1" dirty="0"/>
              <a:t>도 음계의 진동수는 </a:t>
            </a:r>
            <a:r>
              <a:rPr lang="en-US" altLang="ko-KR" b="1" dirty="0"/>
              <a:t>250HZ</a:t>
            </a:r>
            <a:r>
              <a:rPr lang="ko-KR" altLang="en-US" b="1" dirty="0"/>
              <a:t>정도이다</a:t>
            </a:r>
            <a:r>
              <a:rPr lang="en-US" altLang="ko-KR" b="1" dirty="0"/>
              <a:t>.</a:t>
            </a:r>
            <a:endParaRPr lang="ko-KR" altLang="en-US" dirty="0"/>
          </a:p>
          <a:p>
            <a:pPr fontAlgn="base"/>
            <a:r>
              <a:rPr lang="en-US" altLang="ko-KR" b="1" dirty="0"/>
              <a:t>T=1/f = 1/250 = 0.004sec (4ms)</a:t>
            </a:r>
            <a:endParaRPr lang="ko-KR" altLang="en-US" dirty="0"/>
          </a:p>
          <a:p>
            <a:pPr fontAlgn="base"/>
            <a:r>
              <a:rPr lang="en-US" altLang="ko-KR" b="1" dirty="0"/>
              <a:t>HIGH/LOW </a:t>
            </a:r>
            <a:r>
              <a:rPr lang="ko-KR" altLang="en-US" b="1" dirty="0"/>
              <a:t>주기를 </a:t>
            </a:r>
            <a:r>
              <a:rPr lang="en-US" altLang="ko-KR" b="1" dirty="0"/>
              <a:t>4ms</a:t>
            </a:r>
            <a:r>
              <a:rPr lang="ko-KR" altLang="en-US" b="1" dirty="0"/>
              <a:t>로 설정하면 도의 소리를 들을 수 있다</a:t>
            </a:r>
            <a:r>
              <a:rPr lang="en-US" altLang="ko-KR" b="1" dirty="0"/>
              <a:t>.</a:t>
            </a:r>
            <a:endParaRPr lang="ko-KR" altLang="en-US" dirty="0"/>
          </a:p>
          <a:p>
            <a:pPr fontAlgn="base"/>
            <a:r>
              <a:rPr lang="en-US" altLang="ko-KR" b="1" dirty="0"/>
              <a:t>PWM</a:t>
            </a:r>
            <a:r>
              <a:rPr lang="ko-KR" altLang="en-US" b="1" dirty="0"/>
              <a:t>은 타이머를 이용하여 </a:t>
            </a:r>
            <a:r>
              <a:rPr lang="en-US" altLang="ko-KR" b="1" dirty="0"/>
              <a:t>4kHz</a:t>
            </a:r>
            <a:r>
              <a:rPr lang="ko-KR" altLang="en-US" b="1" dirty="0"/>
              <a:t>의 주기의 </a:t>
            </a:r>
            <a:r>
              <a:rPr lang="en-US" altLang="ko-KR" b="1" dirty="0"/>
              <a:t>PWM</a:t>
            </a:r>
            <a:r>
              <a:rPr lang="ko-KR" altLang="en-US" b="1" dirty="0"/>
              <a:t>을 생성한다</a:t>
            </a:r>
            <a:r>
              <a:rPr lang="en-US" altLang="ko-KR" b="1" dirty="0"/>
              <a:t>. </a:t>
            </a:r>
            <a:endParaRPr lang="ko-KR" altLang="en-US" dirty="0"/>
          </a:p>
          <a:p>
            <a:pPr fontAlgn="base"/>
            <a:r>
              <a:rPr lang="ko-KR" altLang="en-US" b="1" dirty="0" err="1"/>
              <a:t>부저의</a:t>
            </a:r>
            <a:r>
              <a:rPr lang="ko-KR" altLang="en-US" b="1" dirty="0"/>
              <a:t> 공명주파수가 </a:t>
            </a:r>
            <a:r>
              <a:rPr lang="en-US" altLang="ko-KR" b="1" dirty="0"/>
              <a:t>4kHz</a:t>
            </a:r>
            <a:r>
              <a:rPr lang="ko-KR" altLang="en-US" b="1" dirty="0"/>
              <a:t>이기 때문에 가장 높은 소리를 내는 주기로 만든다</a:t>
            </a:r>
            <a:endParaRPr lang="ko-KR" altLang="en-US" dirty="0"/>
          </a:p>
          <a:p>
            <a:pPr fontAlgn="base"/>
            <a:r>
              <a:rPr lang="en-US" altLang="ko-KR" b="1" dirty="0"/>
              <a:t>4kHz</a:t>
            </a:r>
            <a:r>
              <a:rPr lang="ko-KR" altLang="en-US" b="1" dirty="0"/>
              <a:t>의 </a:t>
            </a:r>
            <a:r>
              <a:rPr lang="en-US" altLang="ko-KR" b="1" dirty="0"/>
              <a:t>PWM</a:t>
            </a:r>
            <a:r>
              <a:rPr lang="ko-KR" altLang="en-US" b="1" dirty="0"/>
              <a:t>은 </a:t>
            </a:r>
            <a:r>
              <a:rPr lang="en-US" altLang="ko-KR" b="1" dirty="0"/>
              <a:t>250us</a:t>
            </a:r>
            <a:r>
              <a:rPr lang="ko-KR" altLang="en-US" b="1" dirty="0"/>
              <a:t>의 주기를 가져야 한다</a:t>
            </a:r>
            <a:r>
              <a:rPr lang="en-US" altLang="ko-KR" b="1" dirty="0" smtClean="0"/>
              <a:t>.</a:t>
            </a:r>
          </a:p>
          <a:p>
            <a:pPr fontAlgn="base"/>
            <a:endParaRPr lang="en-US" altLang="ko-KR" b="1" u="sng" dirty="0"/>
          </a:p>
          <a:p>
            <a:r>
              <a:rPr lang="ko-KR" altLang="en-US" dirty="0"/>
              <a:t>가청주파수 </a:t>
            </a:r>
            <a:r>
              <a:rPr lang="ko-KR" altLang="en-US" dirty="0" smtClean="0"/>
              <a:t>대역폭</a:t>
            </a:r>
            <a:r>
              <a:rPr lang="en-US" altLang="ko-KR" dirty="0" smtClean="0"/>
              <a:t>:</a:t>
            </a:r>
            <a:r>
              <a:rPr lang="ko-KR" altLang="en-US" dirty="0" smtClean="0"/>
              <a:t> </a:t>
            </a:r>
            <a:r>
              <a:rPr lang="en-US" altLang="ko-KR" dirty="0"/>
              <a:t>300~3400 </a:t>
            </a:r>
            <a:r>
              <a:rPr lang="en-US" altLang="ko-KR" dirty="0" smtClean="0"/>
              <a:t>Hz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소방차 사이렌 소리 </a:t>
            </a:r>
          </a:p>
          <a:p>
            <a:r>
              <a:rPr lang="ko-KR" altLang="en-US" dirty="0"/>
              <a:t>주파수를 </a:t>
            </a:r>
            <a:r>
              <a:rPr lang="en-US" altLang="ko-KR" dirty="0"/>
              <a:t>700Hz</a:t>
            </a:r>
            <a:r>
              <a:rPr lang="ko-KR" altLang="en-US" dirty="0"/>
              <a:t>에서 </a:t>
            </a:r>
            <a:r>
              <a:rPr lang="en-US" altLang="ko-KR" dirty="0"/>
              <a:t>1,500Hz</a:t>
            </a:r>
            <a:r>
              <a:rPr lang="ko-KR" altLang="en-US" dirty="0"/>
              <a:t>가 될 때까지 </a:t>
            </a:r>
            <a:r>
              <a:rPr lang="en-US" altLang="ko-KR" dirty="0"/>
              <a:t>35</a:t>
            </a:r>
            <a:r>
              <a:rPr lang="ko-KR" altLang="en-US" dirty="0"/>
              <a:t>만큼 반복하여 </a:t>
            </a:r>
            <a:endParaRPr lang="en-US" altLang="ko-KR" dirty="0" smtClean="0"/>
          </a:p>
          <a:p>
            <a:r>
              <a:rPr lang="ko-KR" altLang="en-US" dirty="0" smtClean="0"/>
              <a:t>증가시켰다가 </a:t>
            </a:r>
            <a:r>
              <a:rPr lang="ko-KR" altLang="en-US" dirty="0"/>
              <a:t>다시 </a:t>
            </a:r>
            <a:r>
              <a:rPr lang="en-US" altLang="ko-KR" dirty="0"/>
              <a:t>700Hz</a:t>
            </a:r>
            <a:r>
              <a:rPr lang="ko-KR" altLang="en-US" dirty="0"/>
              <a:t>가 될 때까지 </a:t>
            </a:r>
            <a:r>
              <a:rPr lang="en-US" altLang="ko-KR" dirty="0"/>
              <a:t>15Hz</a:t>
            </a:r>
            <a:r>
              <a:rPr lang="ko-KR" altLang="en-US" dirty="0"/>
              <a:t>만큼 감소시키며 </a:t>
            </a:r>
            <a:endParaRPr lang="en-US" altLang="ko-KR" dirty="0" smtClean="0"/>
          </a:p>
          <a:p>
            <a:r>
              <a:rPr lang="ko-KR" altLang="en-US" dirty="0" smtClean="0"/>
              <a:t>소리를 </a:t>
            </a:r>
            <a:r>
              <a:rPr lang="ko-KR" altLang="en-US" dirty="0"/>
              <a:t>내어주는 프로그램을 코딩</a:t>
            </a:r>
            <a:r>
              <a:rPr lang="en-US" altLang="ko-KR" dirty="0" smtClean="0"/>
              <a:t>.</a:t>
            </a:r>
          </a:p>
          <a:p>
            <a:r>
              <a:rPr lang="ko-KR" altLang="en-US" dirty="0"/>
              <a:t/>
            </a:r>
            <a:br>
              <a:rPr lang="ko-KR" altLang="en-US" dirty="0"/>
            </a:br>
            <a:endParaRPr lang="ko-KR" altLang="en-US" dirty="0"/>
          </a:p>
          <a:p>
            <a:endParaRPr lang="ko-KR" alt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091741"/>
              </p:ext>
            </p:extLst>
          </p:nvPr>
        </p:nvGraphicFramePr>
        <p:xfrm>
          <a:off x="6886535" y="3249657"/>
          <a:ext cx="6483350" cy="2766060"/>
        </p:xfrm>
        <a:graphic>
          <a:graphicData uri="http://schemas.openxmlformats.org/drawingml/2006/table">
            <a:tbl>
              <a:tblPr/>
              <a:tblGrid>
                <a:gridCol w="6483350">
                  <a:extLst>
                    <a:ext uri="{9D8B030D-6E8A-4147-A177-3AD203B41FA5}">
                      <a16:colId xmlns:a16="http://schemas.microsoft.com/office/drawing/2014/main" val="14449451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116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effectLst/>
                          <a:latin typeface="Noto Sans KR"/>
                        </a:rPr>
                        <a:t>음이 끊기 반복되게 제작</a:t>
                      </a: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1" dirty="0">
                          <a:effectLst/>
                          <a:latin typeface="Noto Sans KR"/>
                        </a:rPr>
                        <a:t>주파수 범위 </a:t>
                      </a:r>
                      <a:r>
                        <a:rPr lang="en-US" altLang="ko-KR" sz="1200" b="1" dirty="0">
                          <a:effectLst/>
                          <a:latin typeface="Noto Sans KR"/>
                        </a:rPr>
                        <a:t>: </a:t>
                      </a:r>
                      <a:r>
                        <a:rPr lang="ko-KR" altLang="en-US" sz="1200" dirty="0">
                          <a:effectLst/>
                          <a:latin typeface="Noto Sans KR"/>
                        </a:rPr>
                        <a:t>약 </a:t>
                      </a:r>
                      <a:r>
                        <a:rPr lang="en-US" altLang="ko-KR" sz="1200" dirty="0">
                          <a:effectLst/>
                          <a:latin typeface="Noto Sans KR"/>
                        </a:rPr>
                        <a:t>300~750Hz</a:t>
                      </a: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1" dirty="0" err="1">
                          <a:effectLst/>
                          <a:latin typeface="Noto Sans KR"/>
                        </a:rPr>
                        <a:t>반복횟수</a:t>
                      </a:r>
                      <a:r>
                        <a:rPr lang="ko-KR" altLang="en-US" sz="1200" b="1" dirty="0">
                          <a:effectLst/>
                          <a:latin typeface="Noto Sans KR"/>
                        </a:rPr>
                        <a:t> </a:t>
                      </a:r>
                      <a:r>
                        <a:rPr lang="en-US" altLang="ko-KR" sz="1200" b="1" dirty="0">
                          <a:effectLst/>
                          <a:latin typeface="Noto Sans KR"/>
                        </a:rPr>
                        <a:t>: </a:t>
                      </a:r>
                      <a:r>
                        <a:rPr lang="ko-KR" altLang="en-US" sz="1200" dirty="0">
                          <a:effectLst/>
                          <a:latin typeface="Noto Sans KR"/>
                        </a:rPr>
                        <a:t>약 </a:t>
                      </a:r>
                      <a:r>
                        <a:rPr lang="en-US" altLang="ko-KR" sz="1200" dirty="0">
                          <a:effectLst/>
                          <a:latin typeface="Noto Sans KR"/>
                        </a:rPr>
                        <a:t>140</a:t>
                      </a:r>
                      <a:r>
                        <a:rPr lang="ko-KR" altLang="en-US" sz="1200" dirty="0" err="1">
                          <a:effectLst/>
                          <a:latin typeface="Noto Sans KR"/>
                        </a:rPr>
                        <a:t>싸이클</a:t>
                      </a:r>
                      <a:endParaRPr lang="ko-KR" altLang="en-US" sz="1200" dirty="0">
                        <a:effectLst/>
                        <a:latin typeface="Noto Sans KR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492106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t"/>
                      <a:r>
                        <a:rPr lang="ko-KR" altLang="en-US" sz="1200">
                          <a:effectLst/>
                          <a:latin typeface="Noto Sans KR"/>
                        </a:rPr>
                        <a:t> 소방차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987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>
                          <a:effectLst/>
                          <a:latin typeface="Noto Sans KR"/>
                        </a:rPr>
                        <a:t>저음에서 고음으로 반복되게 제작</a:t>
                      </a: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1">
                          <a:effectLst/>
                          <a:latin typeface="Noto Sans KR"/>
                        </a:rPr>
                        <a:t>주파수 범위 </a:t>
                      </a:r>
                      <a:r>
                        <a:rPr lang="en-US" altLang="ko-KR" sz="1200" b="1">
                          <a:effectLst/>
                          <a:latin typeface="Noto Sans KR"/>
                        </a:rPr>
                        <a:t>: </a:t>
                      </a:r>
                      <a:r>
                        <a:rPr lang="ko-KR" altLang="en-US" sz="1200">
                          <a:effectLst/>
                          <a:latin typeface="Noto Sans KR"/>
                        </a:rPr>
                        <a:t>약 </a:t>
                      </a:r>
                      <a:r>
                        <a:rPr lang="en-US" altLang="ko-KR" sz="1200">
                          <a:effectLst/>
                          <a:latin typeface="Noto Sans KR"/>
                        </a:rPr>
                        <a:t>300~750Hz</a:t>
                      </a: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1">
                          <a:effectLst/>
                          <a:latin typeface="Noto Sans KR"/>
                        </a:rPr>
                        <a:t>반복횟수 </a:t>
                      </a:r>
                      <a:r>
                        <a:rPr lang="en-US" altLang="ko-KR" sz="1200" b="1">
                          <a:effectLst/>
                          <a:latin typeface="Noto Sans KR"/>
                        </a:rPr>
                        <a:t>: </a:t>
                      </a:r>
                      <a:r>
                        <a:rPr lang="ko-KR" altLang="en-US" sz="1200">
                          <a:effectLst/>
                          <a:latin typeface="Noto Sans KR"/>
                        </a:rPr>
                        <a:t>약 </a:t>
                      </a:r>
                      <a:r>
                        <a:rPr lang="en-US" altLang="ko-KR" sz="1200">
                          <a:effectLst/>
                          <a:latin typeface="Noto Sans KR"/>
                        </a:rPr>
                        <a:t>14</a:t>
                      </a:r>
                      <a:r>
                        <a:rPr lang="ko-KR" altLang="en-US" sz="1200">
                          <a:effectLst/>
                          <a:latin typeface="Noto Sans KR"/>
                        </a:rPr>
                        <a:t>싸이클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3193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t"/>
                      <a:r>
                        <a:rPr lang="ko-KR" altLang="en-US" sz="1200">
                          <a:effectLst/>
                          <a:latin typeface="Noto Sans KR"/>
                        </a:rPr>
                        <a:t> 병원차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043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>
                          <a:effectLst/>
                          <a:latin typeface="Noto Sans KR"/>
                        </a:rPr>
                        <a:t>저음</a:t>
                      </a:r>
                      <a:r>
                        <a:rPr lang="en-US" altLang="ko-KR" sz="1200">
                          <a:effectLst/>
                          <a:latin typeface="Noto Sans KR"/>
                        </a:rPr>
                        <a:t>, </a:t>
                      </a:r>
                      <a:r>
                        <a:rPr lang="ko-KR" altLang="en-US" sz="1200">
                          <a:effectLst/>
                          <a:latin typeface="Noto Sans KR"/>
                        </a:rPr>
                        <a:t>고음이 짧게 반복되게 제작</a:t>
                      </a: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1">
                          <a:effectLst/>
                          <a:latin typeface="Noto Sans KR"/>
                        </a:rPr>
                        <a:t>주파수 범위 </a:t>
                      </a:r>
                      <a:r>
                        <a:rPr lang="en-US" altLang="ko-KR" sz="1200" b="1">
                          <a:effectLst/>
                          <a:latin typeface="Noto Sans KR"/>
                        </a:rPr>
                        <a:t>: </a:t>
                      </a:r>
                      <a:r>
                        <a:rPr lang="ko-KR" altLang="en-US" sz="1200">
                          <a:effectLst/>
                          <a:latin typeface="Noto Sans KR"/>
                        </a:rPr>
                        <a:t>약 </a:t>
                      </a:r>
                      <a:r>
                        <a:rPr lang="en-US" altLang="ko-KR" sz="1200">
                          <a:effectLst/>
                          <a:latin typeface="Noto Sans KR"/>
                        </a:rPr>
                        <a:t>610~690Hz</a:t>
                      </a: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1">
                          <a:effectLst/>
                          <a:latin typeface="Noto Sans KR"/>
                        </a:rPr>
                        <a:t>반복횟수 </a:t>
                      </a:r>
                      <a:r>
                        <a:rPr lang="en-US" altLang="ko-KR" sz="1200" b="1">
                          <a:effectLst/>
                          <a:latin typeface="Noto Sans KR"/>
                        </a:rPr>
                        <a:t>: </a:t>
                      </a:r>
                      <a:r>
                        <a:rPr lang="ko-KR" altLang="en-US" sz="1200">
                          <a:effectLst/>
                          <a:latin typeface="Noto Sans KR"/>
                        </a:rPr>
                        <a:t>약 </a:t>
                      </a:r>
                      <a:r>
                        <a:rPr lang="en-US" altLang="ko-KR" sz="1200">
                          <a:effectLst/>
                          <a:latin typeface="Noto Sans KR"/>
                        </a:rPr>
                        <a:t>50</a:t>
                      </a:r>
                      <a:r>
                        <a:rPr lang="ko-KR" altLang="en-US" sz="1200">
                          <a:effectLst/>
                          <a:latin typeface="Noto Sans KR"/>
                        </a:rPr>
                        <a:t>싸이클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0413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  <a:latin typeface="Noto Sans KR"/>
                        </a:rPr>
                        <a:t> HI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311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effectLst/>
                          <a:latin typeface="Noto Sans KR"/>
                        </a:rPr>
                        <a:t>스위치 누름 시간에 따라 고음이길 게 제작</a:t>
                      </a: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1" dirty="0">
                          <a:effectLst/>
                          <a:latin typeface="Noto Sans KR"/>
                        </a:rPr>
                        <a:t>주파수 범위 </a:t>
                      </a:r>
                      <a:r>
                        <a:rPr lang="en-US" altLang="ko-KR" sz="1200" b="1" dirty="0">
                          <a:effectLst/>
                          <a:latin typeface="Noto Sans KR"/>
                        </a:rPr>
                        <a:t>: </a:t>
                      </a:r>
                      <a:r>
                        <a:rPr lang="ko-KR" altLang="en-US" sz="1200" dirty="0">
                          <a:effectLst/>
                          <a:latin typeface="Noto Sans KR"/>
                        </a:rPr>
                        <a:t>약 </a:t>
                      </a:r>
                      <a:r>
                        <a:rPr lang="en-US" altLang="ko-KR" sz="1200" dirty="0">
                          <a:effectLst/>
                          <a:latin typeface="Noto Sans KR"/>
                        </a:rPr>
                        <a:t>450~800Hz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73372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06467"/>
              </p:ext>
            </p:extLst>
          </p:nvPr>
        </p:nvGraphicFramePr>
        <p:xfrm>
          <a:off x="6886535" y="3051880"/>
          <a:ext cx="5016500" cy="274320"/>
        </p:xfrm>
        <a:graphic>
          <a:graphicData uri="http://schemas.openxmlformats.org/drawingml/2006/table">
            <a:tbl>
              <a:tblPr/>
              <a:tblGrid>
                <a:gridCol w="5016500">
                  <a:extLst>
                    <a:ext uri="{9D8B030D-6E8A-4147-A177-3AD203B41FA5}">
                      <a16:colId xmlns:a16="http://schemas.microsoft.com/office/drawing/2014/main" val="116088999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fontAlgn="t"/>
                      <a:r>
                        <a:rPr lang="ko-KR" altLang="en-US" b="1" dirty="0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* 사이렌</a:t>
                      </a:r>
                      <a:r>
                        <a:rPr lang="en-US" altLang="ko-KR" b="1" dirty="0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AMP </a:t>
                      </a:r>
                      <a:r>
                        <a:rPr lang="ko-KR" altLang="en-US" b="1" dirty="0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제원 및 특성</a:t>
                      </a:r>
                      <a:endParaRPr lang="ko-KR" altLang="en-US" dirty="0">
                        <a:effectLst/>
                        <a:latin typeface="Noto Sans KR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296298"/>
                  </a:ext>
                </a:extLst>
              </a:tr>
            </a:tbl>
          </a:graphicData>
        </a:graphic>
      </p:graphicFrame>
      <p:sp>
        <p:nvSpPr>
          <p:cNvPr id="12" name="AutoShape 1" descr="D:\ginno_home\%EC%9E%91%EC%97%85%ED%8F%B4%EB%8D%94\%EC%9E%91%EC%97%85%ED%8F%B4%EB%8D%94_01\__%EC%9E%91%EC%97%85%ED%8F%B4%EB%8D%94_01_01\bu_n001901.gif"/>
          <p:cNvSpPr>
            <a:spLocks noChangeAspect="1" noChangeArrowheads="1"/>
          </p:cNvSpPr>
          <p:nvPr/>
        </p:nvSpPr>
        <p:spPr bwMode="auto">
          <a:xfrm>
            <a:off x="3587750" y="3863975"/>
            <a:ext cx="857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" name="AutoShape 2" descr="D:\ginno_home\%EC%9E%91%EC%97%85%ED%8F%B4%EB%8D%94\%EC%9E%91%EC%97%85%ED%8F%B4%EB%8D%94_01\__%EC%9E%91%EC%97%85%ED%8F%B4%EB%8D%94_01_01\bu_n001902.gif"/>
          <p:cNvSpPr>
            <a:spLocks noChangeAspect="1" noChangeArrowheads="1"/>
          </p:cNvSpPr>
          <p:nvPr/>
        </p:nvSpPr>
        <p:spPr bwMode="auto">
          <a:xfrm>
            <a:off x="3587750" y="3863975"/>
            <a:ext cx="857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" name="AutoShape 3" descr="D:\ginno_home\%EC%9E%91%EC%97%85%ED%8F%B4%EB%8D%94\%EC%9E%91%EC%97%85%ED%8F%B4%EB%8D%94_01\__%EC%9E%91%EC%97%85%ED%8F%B4%EB%8D%94_01_01\bu_n001903.gif"/>
          <p:cNvSpPr>
            <a:spLocks noChangeAspect="1" noChangeArrowheads="1"/>
          </p:cNvSpPr>
          <p:nvPr/>
        </p:nvSpPr>
        <p:spPr bwMode="auto">
          <a:xfrm>
            <a:off x="3587750" y="3863975"/>
            <a:ext cx="85725" cy="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3587750" y="38639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643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/>
        </p:nvSpPr>
        <p:spPr>
          <a:xfrm>
            <a:off x="11438792" y="-2"/>
            <a:ext cx="753207" cy="753207"/>
          </a:xfrm>
          <a:prstGeom prst="rtTriangle">
            <a:avLst/>
          </a:prstGeom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379" y="222713"/>
            <a:ext cx="4725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en-US" altLang="ko-KR" sz="2800" b="1" dirty="0"/>
              <a:t>Piezo </a:t>
            </a:r>
            <a:r>
              <a:rPr lang="en-US" altLang="ko-KR" sz="2800" b="1" dirty="0" smtClean="0"/>
              <a:t>Buzzer(STM32F411)</a:t>
            </a:r>
            <a:endParaRPr lang="en-US" altLang="ko-KR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04694" y="234340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8274" y="858713"/>
            <a:ext cx="266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057742"/>
            <a:ext cx="15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altLang="ko-KR" sz="1400" dirty="0" smtClean="0"/>
              <a:t>.</a:t>
            </a:r>
            <a:endParaRPr lang="ko-KR" altLang="en-US" dirty="0"/>
          </a:p>
          <a:p>
            <a:r>
              <a:rPr lang="en-US" altLang="ko-KR" dirty="0" smtClean="0"/>
              <a:t>                 </a:t>
            </a:r>
          </a:p>
          <a:p>
            <a:r>
              <a:rPr lang="en-US" altLang="ko-KR" dirty="0" smtClean="0"/>
              <a:t>     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128572"/>
            <a:ext cx="9297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ea typeface="Pretendard Variable"/>
              </a:rPr>
              <a:t>.</a:t>
            </a: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retendard Variable"/>
              </a:rPr>
              <a:t> 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3239" y="759971"/>
            <a:ext cx="113054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altLang="ko-KR" dirty="0" smtClean="0"/>
          </a:p>
          <a:p>
            <a:pPr fontAlgn="base"/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04" y="1115200"/>
            <a:ext cx="7174596" cy="535634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484" y="1200925"/>
            <a:ext cx="5175516" cy="442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446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/>
        </p:nvSpPr>
        <p:spPr>
          <a:xfrm>
            <a:off x="11438792" y="-2"/>
            <a:ext cx="753207" cy="753207"/>
          </a:xfrm>
          <a:prstGeom prst="rtTriangle">
            <a:avLst/>
          </a:prstGeom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379" y="222713"/>
            <a:ext cx="4725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en-US" altLang="ko-KR" sz="2800" b="1" dirty="0"/>
              <a:t>Piezo </a:t>
            </a:r>
            <a:r>
              <a:rPr lang="en-US" altLang="ko-KR" sz="2800" b="1" dirty="0" smtClean="0"/>
              <a:t>Buzzer(STM32F411)</a:t>
            </a:r>
            <a:endParaRPr lang="en-US" altLang="ko-KR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04694" y="234340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8274" y="858713"/>
            <a:ext cx="266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057742"/>
            <a:ext cx="15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altLang="ko-KR" sz="1400" dirty="0" smtClean="0"/>
              <a:t>.</a:t>
            </a:r>
            <a:endParaRPr lang="ko-KR" altLang="en-US" dirty="0"/>
          </a:p>
          <a:p>
            <a:r>
              <a:rPr lang="en-US" altLang="ko-KR" dirty="0" smtClean="0"/>
              <a:t>                 </a:t>
            </a:r>
          </a:p>
          <a:p>
            <a:r>
              <a:rPr lang="en-US" altLang="ko-KR" dirty="0" smtClean="0"/>
              <a:t>     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128572"/>
            <a:ext cx="9297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ea typeface="Pretendard Variable"/>
              </a:rPr>
              <a:t>.</a:t>
            </a: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retendard Variable"/>
              </a:rPr>
              <a:t> 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3239" y="759971"/>
            <a:ext cx="113054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altLang="ko-KR" dirty="0" smtClean="0"/>
          </a:p>
          <a:p>
            <a:pPr fontAlgn="base"/>
            <a:endParaRPr lang="ko-KR" altLang="en-US" dirty="0"/>
          </a:p>
        </p:txBody>
      </p:sp>
      <p:pic>
        <p:nvPicPr>
          <p:cNvPr id="1026" name="Picture 2" descr="https://postfiles.pstatic.net/MjAyMTEwMjhfMjQ3/MDAxNjM1Mzg2MDU3MTI5.Jx86MQ6gpQValsM9fMk_pPZBOQv8EnWtSf9Stk04mwIg.aATleaAUq6A4qUXYZOScRdJk-40mxGxRgneAow9ZBZMg.PNG.sikwon1/image.png?type=w77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350" y="1007218"/>
            <a:ext cx="6152628" cy="6029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7401328" y="2993198"/>
            <a:ext cx="4037463" cy="1677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sz="1400" dirty="0" err="1"/>
              <a:t>int</a:t>
            </a:r>
            <a:r>
              <a:rPr lang="en-US" altLang="ko-KR" sz="1400" dirty="0"/>
              <a:t> main(void) </a:t>
            </a:r>
            <a:endParaRPr lang="en-US" altLang="ko-KR" sz="1400" dirty="0" smtClean="0"/>
          </a:p>
          <a:p>
            <a:pPr fontAlgn="base"/>
            <a:r>
              <a:rPr lang="en-US" altLang="ko-KR" sz="1400" dirty="0" smtClean="0"/>
              <a:t>{</a:t>
            </a:r>
            <a:endParaRPr lang="en-US" altLang="ko-KR" sz="1400" dirty="0" smtClean="0">
              <a:solidFill>
                <a:srgbClr val="DF4A68"/>
              </a:solidFill>
              <a:latin typeface="Source Code Pro"/>
            </a:endParaRPr>
          </a:p>
          <a:p>
            <a:pPr fontAlgn="base"/>
            <a:r>
              <a:rPr lang="en-US" altLang="ko-KR" sz="1100" dirty="0" smtClean="0">
                <a:solidFill>
                  <a:srgbClr val="DF4A68"/>
                </a:solidFill>
                <a:latin typeface="Source Code Pro"/>
              </a:rPr>
              <a:t>   </a:t>
            </a:r>
            <a:r>
              <a:rPr lang="en-US" altLang="ko-KR" sz="1100" dirty="0" err="1"/>
              <a:t>HAL_TIM_PWM_Start</a:t>
            </a:r>
            <a:r>
              <a:rPr lang="en-US" altLang="ko-KR" sz="1100" dirty="0"/>
              <a:t>(&amp;htim1, TIM_CHANNEL_1) ;</a:t>
            </a:r>
            <a:r>
              <a:rPr lang="en-US" altLang="ko-KR" sz="1100" dirty="0" smtClean="0"/>
              <a:t>          </a:t>
            </a:r>
            <a:r>
              <a:rPr lang="en-US" altLang="ko-KR" sz="1400" dirty="0" err="1" smtClean="0"/>
              <a:t>buzzer_main</a:t>
            </a:r>
            <a:r>
              <a:rPr lang="en-US" altLang="ko-KR" sz="1400" dirty="0" smtClean="0"/>
              <a:t>();</a:t>
            </a:r>
          </a:p>
          <a:p>
            <a:pPr fontAlgn="base"/>
            <a:r>
              <a:rPr lang="en-US" altLang="ko-KR" sz="1400" dirty="0" smtClean="0">
                <a:solidFill>
                  <a:srgbClr val="666666"/>
                </a:solidFill>
                <a:latin typeface="Source Code Pro"/>
              </a:rPr>
              <a:t>}</a:t>
            </a:r>
            <a:endParaRPr lang="en-US" altLang="ko-KR" sz="1400" dirty="0">
              <a:solidFill>
                <a:srgbClr val="666666"/>
              </a:solidFill>
              <a:latin typeface="Source Code Pro"/>
            </a:endParaRPr>
          </a:p>
          <a:p>
            <a:r>
              <a:rPr lang="en-US" altLang="ko-KR" dirty="0"/>
              <a:t/>
            </a:r>
            <a:br>
              <a:rPr lang="en-US" altLang="ko-KR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5044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/>
        </p:nvSpPr>
        <p:spPr>
          <a:xfrm>
            <a:off x="11438792" y="-2"/>
            <a:ext cx="753207" cy="753207"/>
          </a:xfrm>
          <a:prstGeom prst="rtTriangle">
            <a:avLst/>
          </a:prstGeom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379" y="222713"/>
            <a:ext cx="4725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en-US" altLang="ko-KR" sz="2800" b="1" dirty="0"/>
              <a:t>Piezo </a:t>
            </a:r>
            <a:r>
              <a:rPr lang="en-US" altLang="ko-KR" sz="2800" b="1" dirty="0" smtClean="0"/>
              <a:t>Buzzer(STM32F411)</a:t>
            </a:r>
            <a:endParaRPr lang="en-US" altLang="ko-KR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04694" y="234340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8274" y="858713"/>
            <a:ext cx="266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37281" y="858713"/>
            <a:ext cx="5115503" cy="62786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 </a:t>
            </a:r>
            <a:r>
              <a:rPr lang="en-US" altLang="ko-KR" sz="1200" b="1" dirty="0"/>
              <a:t>extern</a:t>
            </a:r>
            <a:r>
              <a:rPr lang="en-US" altLang="ko-KR" sz="1200" dirty="0"/>
              <a:t> </a:t>
            </a:r>
            <a:r>
              <a:rPr lang="en-US" altLang="ko-KR" sz="1200" dirty="0" err="1"/>
              <a:t>TIM_HandleTypeDef</a:t>
            </a:r>
            <a:r>
              <a:rPr lang="en-US" altLang="ko-KR" sz="1200" dirty="0"/>
              <a:t> htim3</a:t>
            </a:r>
            <a:r>
              <a:rPr lang="en-US" altLang="ko-KR" sz="1200" dirty="0" smtClean="0"/>
              <a:t>;</a:t>
            </a:r>
            <a:endParaRPr lang="en-US" altLang="ko-KR" sz="1200" dirty="0"/>
          </a:p>
          <a:p>
            <a:r>
              <a:rPr lang="en-US" altLang="ko-KR" sz="1200" b="1" dirty="0" err="1"/>
              <a:t>enum</a:t>
            </a:r>
            <a:r>
              <a:rPr lang="en-US" altLang="ko-KR" sz="1200" dirty="0"/>
              <a:t> notes</a:t>
            </a:r>
          </a:p>
          <a:p>
            <a:r>
              <a:rPr lang="en-US" altLang="ko-KR" sz="1200" dirty="0"/>
              <a:t>{</a:t>
            </a:r>
          </a:p>
          <a:p>
            <a:r>
              <a:rPr lang="en-US" altLang="ko-KR" sz="1200" i="1" dirty="0"/>
              <a:t>C4</a:t>
            </a:r>
            <a:r>
              <a:rPr lang="en-US" altLang="ko-KR" sz="1200" dirty="0"/>
              <a:t> = 262, // </a:t>
            </a:r>
            <a:r>
              <a:rPr lang="ko-KR" altLang="en-US" sz="1200" dirty="0"/>
              <a:t>도 </a:t>
            </a:r>
            <a:r>
              <a:rPr lang="en-US" altLang="ko-KR" sz="1200" dirty="0"/>
              <a:t>261.63Hz</a:t>
            </a:r>
          </a:p>
          <a:p>
            <a:r>
              <a:rPr lang="en-US" altLang="ko-KR" sz="1200" i="1" dirty="0"/>
              <a:t>D4</a:t>
            </a:r>
            <a:r>
              <a:rPr lang="en-US" altLang="ko-KR" sz="1200" dirty="0"/>
              <a:t> = 294, // </a:t>
            </a:r>
            <a:r>
              <a:rPr lang="ko-KR" altLang="en-US" sz="1200" dirty="0"/>
              <a:t>래 </a:t>
            </a:r>
            <a:r>
              <a:rPr lang="en-US" altLang="ko-KR" sz="1200" dirty="0"/>
              <a:t>293.66Hz</a:t>
            </a:r>
          </a:p>
          <a:p>
            <a:r>
              <a:rPr lang="en-US" altLang="ko-KR" sz="1200" i="1" dirty="0"/>
              <a:t>E4</a:t>
            </a:r>
            <a:r>
              <a:rPr lang="en-US" altLang="ko-KR" sz="1200" dirty="0"/>
              <a:t> = 330, // </a:t>
            </a:r>
            <a:r>
              <a:rPr lang="ko-KR" altLang="en-US" sz="1200" dirty="0"/>
              <a:t>미 </a:t>
            </a:r>
            <a:r>
              <a:rPr lang="en-US" altLang="ko-KR" sz="1200" dirty="0"/>
              <a:t>329.63Hz</a:t>
            </a:r>
          </a:p>
          <a:p>
            <a:r>
              <a:rPr lang="en-US" altLang="ko-KR" sz="1200" i="1" dirty="0"/>
              <a:t>F4</a:t>
            </a:r>
            <a:r>
              <a:rPr lang="en-US" altLang="ko-KR" sz="1200" dirty="0"/>
              <a:t> = 349, // </a:t>
            </a:r>
            <a:r>
              <a:rPr lang="ko-KR" altLang="en-US" sz="1200" dirty="0"/>
              <a:t>파 </a:t>
            </a:r>
            <a:r>
              <a:rPr lang="en-US" altLang="ko-KR" sz="1200" dirty="0"/>
              <a:t>349.23Hz</a:t>
            </a:r>
          </a:p>
          <a:p>
            <a:r>
              <a:rPr lang="en-US" altLang="ko-KR" sz="1200" i="1" dirty="0"/>
              <a:t>G4</a:t>
            </a:r>
            <a:r>
              <a:rPr lang="en-US" altLang="ko-KR" sz="1200" dirty="0"/>
              <a:t> = 392, // </a:t>
            </a:r>
            <a:r>
              <a:rPr lang="ko-KR" altLang="en-US" sz="1200" dirty="0"/>
              <a:t>솔 </a:t>
            </a:r>
            <a:r>
              <a:rPr lang="en-US" altLang="ko-KR" sz="1200" dirty="0"/>
              <a:t>392.00Hz</a:t>
            </a:r>
          </a:p>
          <a:p>
            <a:r>
              <a:rPr lang="en-US" altLang="ko-KR" sz="1200" i="1" dirty="0"/>
              <a:t>A4</a:t>
            </a:r>
            <a:r>
              <a:rPr lang="en-US" altLang="ko-KR" sz="1200" dirty="0"/>
              <a:t> = 440, // </a:t>
            </a:r>
            <a:r>
              <a:rPr lang="ko-KR" altLang="en-US" sz="1200" dirty="0"/>
              <a:t>라 </a:t>
            </a:r>
            <a:r>
              <a:rPr lang="en-US" altLang="ko-KR" sz="1200" dirty="0"/>
              <a:t>440.00Hz</a:t>
            </a:r>
          </a:p>
          <a:p>
            <a:r>
              <a:rPr lang="en-US" altLang="ko-KR" sz="1200" i="1" dirty="0"/>
              <a:t>B4</a:t>
            </a:r>
            <a:r>
              <a:rPr lang="en-US" altLang="ko-KR" sz="1200" dirty="0"/>
              <a:t> = 494, // </a:t>
            </a:r>
            <a:r>
              <a:rPr lang="ko-KR" altLang="en-US" sz="1200" dirty="0"/>
              <a:t>시 </a:t>
            </a:r>
            <a:r>
              <a:rPr lang="en-US" altLang="ko-KR" sz="1200" dirty="0"/>
              <a:t>493.88Hz</a:t>
            </a:r>
          </a:p>
          <a:p>
            <a:r>
              <a:rPr lang="en-US" altLang="ko-KR" sz="1200" i="1" dirty="0"/>
              <a:t>C5</a:t>
            </a:r>
            <a:r>
              <a:rPr lang="en-US" altLang="ko-KR" sz="1200" dirty="0"/>
              <a:t> = 523 // </a:t>
            </a:r>
            <a:r>
              <a:rPr lang="ko-KR" altLang="en-US" sz="1200" dirty="0"/>
              <a:t>도 </a:t>
            </a:r>
            <a:r>
              <a:rPr lang="en-US" altLang="ko-KR" sz="1200" dirty="0"/>
              <a:t>523.25Hz</a:t>
            </a:r>
          </a:p>
          <a:p>
            <a:r>
              <a:rPr lang="en-US" altLang="ko-KR" sz="1200" dirty="0"/>
              <a:t>};</a:t>
            </a:r>
          </a:p>
          <a:p>
            <a:endParaRPr lang="en-US" altLang="ko-KR" sz="1200" dirty="0"/>
          </a:p>
          <a:p>
            <a:r>
              <a:rPr lang="en-US" altLang="ko-KR" sz="1200" dirty="0"/>
              <a:t>// </a:t>
            </a:r>
            <a:r>
              <a:rPr lang="ko-KR" altLang="en-US" sz="1200" dirty="0" err="1"/>
              <a:t>학교종이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떙떙땡</a:t>
            </a:r>
            <a:endParaRPr lang="ko-KR" altLang="en-US" sz="1200" dirty="0"/>
          </a:p>
          <a:p>
            <a:r>
              <a:rPr lang="en-US" altLang="ko-KR" sz="1200" b="1" dirty="0"/>
              <a:t>unsigned</a:t>
            </a:r>
            <a:r>
              <a:rPr lang="en-US" altLang="ko-KR" sz="1200" dirty="0"/>
              <a:t> </a:t>
            </a:r>
            <a:r>
              <a:rPr lang="en-US" altLang="ko-KR" sz="1200" b="1" dirty="0" err="1"/>
              <a:t>int</a:t>
            </a:r>
            <a:r>
              <a:rPr lang="en-US" altLang="ko-KR" sz="1200" dirty="0"/>
              <a:t> </a:t>
            </a:r>
            <a:r>
              <a:rPr lang="en-US" altLang="ko-KR" sz="1200" dirty="0" err="1"/>
              <a:t>school_bell</a:t>
            </a:r>
            <a:r>
              <a:rPr lang="en-US" altLang="ko-KR" sz="1200" dirty="0"/>
              <a:t>[] =</a:t>
            </a:r>
          </a:p>
          <a:p>
            <a:r>
              <a:rPr lang="en-US" altLang="ko-KR" sz="1200" dirty="0"/>
              <a:t>{</a:t>
            </a:r>
          </a:p>
          <a:p>
            <a:r>
              <a:rPr lang="en-US" altLang="ko-KR" sz="1200" i="1" dirty="0"/>
              <a:t>G4</a:t>
            </a:r>
            <a:r>
              <a:rPr lang="en-US" altLang="ko-KR" sz="1200" dirty="0"/>
              <a:t>,</a:t>
            </a:r>
            <a:r>
              <a:rPr lang="en-US" altLang="ko-KR" sz="1200" i="1" dirty="0"/>
              <a:t>G4</a:t>
            </a:r>
            <a:r>
              <a:rPr lang="en-US" altLang="ko-KR" sz="1200" dirty="0"/>
              <a:t>,</a:t>
            </a:r>
            <a:r>
              <a:rPr lang="en-US" altLang="ko-KR" sz="1200" i="1" dirty="0"/>
              <a:t>A4</a:t>
            </a:r>
            <a:r>
              <a:rPr lang="en-US" altLang="ko-KR" sz="1200" dirty="0"/>
              <a:t>,</a:t>
            </a:r>
            <a:r>
              <a:rPr lang="en-US" altLang="ko-KR" sz="1200" i="1" dirty="0"/>
              <a:t>A4</a:t>
            </a:r>
            <a:r>
              <a:rPr lang="en-US" altLang="ko-KR" sz="1200" dirty="0"/>
              <a:t>,</a:t>
            </a:r>
            <a:r>
              <a:rPr lang="en-US" altLang="ko-KR" sz="1200" i="1" dirty="0"/>
              <a:t>G4</a:t>
            </a:r>
            <a:r>
              <a:rPr lang="en-US" altLang="ko-KR" sz="1200" dirty="0"/>
              <a:t>,</a:t>
            </a:r>
            <a:r>
              <a:rPr lang="en-US" altLang="ko-KR" sz="1200" i="1" dirty="0"/>
              <a:t>G4</a:t>
            </a:r>
            <a:r>
              <a:rPr lang="en-US" altLang="ko-KR" sz="1200" dirty="0"/>
              <a:t>,</a:t>
            </a:r>
            <a:r>
              <a:rPr lang="en-US" altLang="ko-KR" sz="1200" i="1" dirty="0"/>
              <a:t>E4</a:t>
            </a:r>
            <a:r>
              <a:rPr lang="en-US" altLang="ko-KR" sz="1200" dirty="0"/>
              <a:t>,</a:t>
            </a:r>
            <a:r>
              <a:rPr lang="en-US" altLang="ko-KR" sz="1200" i="1" dirty="0"/>
              <a:t>G4</a:t>
            </a:r>
            <a:r>
              <a:rPr lang="en-US" altLang="ko-KR" sz="1200" dirty="0"/>
              <a:t>,</a:t>
            </a:r>
            <a:r>
              <a:rPr lang="en-US" altLang="ko-KR" sz="1200" i="1" dirty="0"/>
              <a:t>G4</a:t>
            </a:r>
            <a:r>
              <a:rPr lang="en-US" altLang="ko-KR" sz="1200" dirty="0"/>
              <a:t>,</a:t>
            </a:r>
            <a:r>
              <a:rPr lang="en-US" altLang="ko-KR" sz="1200" i="1" dirty="0"/>
              <a:t>E4</a:t>
            </a:r>
            <a:r>
              <a:rPr lang="en-US" altLang="ko-KR" sz="1200" dirty="0"/>
              <a:t>,</a:t>
            </a:r>
            <a:r>
              <a:rPr lang="en-US" altLang="ko-KR" sz="1200" i="1" dirty="0"/>
              <a:t>E4</a:t>
            </a:r>
            <a:r>
              <a:rPr lang="en-US" altLang="ko-KR" sz="1200" dirty="0"/>
              <a:t>,</a:t>
            </a:r>
            <a:r>
              <a:rPr lang="en-US" altLang="ko-KR" sz="1200" i="1" dirty="0"/>
              <a:t>D4</a:t>
            </a:r>
            <a:r>
              <a:rPr lang="en-US" altLang="ko-KR" sz="1200" dirty="0"/>
              <a:t>,</a:t>
            </a:r>
          </a:p>
          <a:p>
            <a:r>
              <a:rPr lang="en-US" altLang="ko-KR" sz="1200" i="1" dirty="0"/>
              <a:t>G4</a:t>
            </a:r>
            <a:r>
              <a:rPr lang="en-US" altLang="ko-KR" sz="1200" dirty="0"/>
              <a:t>,</a:t>
            </a:r>
            <a:r>
              <a:rPr lang="en-US" altLang="ko-KR" sz="1200" i="1" dirty="0"/>
              <a:t>G4</a:t>
            </a:r>
            <a:r>
              <a:rPr lang="en-US" altLang="ko-KR" sz="1200" dirty="0"/>
              <a:t>,</a:t>
            </a:r>
            <a:r>
              <a:rPr lang="en-US" altLang="ko-KR" sz="1200" i="1" dirty="0"/>
              <a:t>A4</a:t>
            </a:r>
            <a:r>
              <a:rPr lang="en-US" altLang="ko-KR" sz="1200" dirty="0"/>
              <a:t>,</a:t>
            </a:r>
            <a:r>
              <a:rPr lang="en-US" altLang="ko-KR" sz="1200" i="1" dirty="0"/>
              <a:t>A4</a:t>
            </a:r>
            <a:r>
              <a:rPr lang="en-US" altLang="ko-KR" sz="1200" dirty="0"/>
              <a:t>,</a:t>
            </a:r>
            <a:r>
              <a:rPr lang="en-US" altLang="ko-KR" sz="1200" i="1" dirty="0"/>
              <a:t>G4</a:t>
            </a:r>
            <a:r>
              <a:rPr lang="en-US" altLang="ko-KR" sz="1200" dirty="0"/>
              <a:t>,</a:t>
            </a:r>
            <a:r>
              <a:rPr lang="en-US" altLang="ko-KR" sz="1200" i="1" dirty="0"/>
              <a:t>G4</a:t>
            </a:r>
            <a:r>
              <a:rPr lang="en-US" altLang="ko-KR" sz="1200" dirty="0"/>
              <a:t>,</a:t>
            </a:r>
            <a:r>
              <a:rPr lang="en-US" altLang="ko-KR" sz="1200" i="1" dirty="0"/>
              <a:t>E4</a:t>
            </a:r>
            <a:r>
              <a:rPr lang="en-US" altLang="ko-KR" sz="1200" dirty="0"/>
              <a:t>,</a:t>
            </a:r>
            <a:r>
              <a:rPr lang="en-US" altLang="ko-KR" sz="1200" i="1" dirty="0"/>
              <a:t>G4</a:t>
            </a:r>
            <a:r>
              <a:rPr lang="en-US" altLang="ko-KR" sz="1200" dirty="0"/>
              <a:t>,</a:t>
            </a:r>
            <a:r>
              <a:rPr lang="en-US" altLang="ko-KR" sz="1200" i="1" dirty="0"/>
              <a:t>E4</a:t>
            </a:r>
            <a:r>
              <a:rPr lang="en-US" altLang="ko-KR" sz="1200" dirty="0"/>
              <a:t>,</a:t>
            </a:r>
            <a:r>
              <a:rPr lang="en-US" altLang="ko-KR" sz="1200" i="1" dirty="0"/>
              <a:t>D4</a:t>
            </a:r>
            <a:r>
              <a:rPr lang="en-US" altLang="ko-KR" sz="1200" dirty="0"/>
              <a:t>,</a:t>
            </a:r>
            <a:r>
              <a:rPr lang="en-US" altLang="ko-KR" sz="1200" i="1" dirty="0"/>
              <a:t>E4</a:t>
            </a:r>
            <a:r>
              <a:rPr lang="en-US" altLang="ko-KR" sz="1200" dirty="0"/>
              <a:t>,</a:t>
            </a:r>
            <a:r>
              <a:rPr lang="en-US" altLang="ko-KR" sz="1200" i="1" dirty="0"/>
              <a:t>C4</a:t>
            </a:r>
            <a:endParaRPr lang="en-US" altLang="ko-KR" sz="1200" dirty="0"/>
          </a:p>
          <a:p>
            <a:r>
              <a:rPr lang="en-US" altLang="ko-KR" sz="1200" dirty="0" smtClean="0"/>
              <a:t>};</a:t>
            </a:r>
            <a:endParaRPr lang="en-US" altLang="ko-KR" sz="1200" dirty="0"/>
          </a:p>
          <a:p>
            <a:r>
              <a:rPr lang="en-US" altLang="ko-KR" sz="1200" dirty="0"/>
              <a:t>// </a:t>
            </a:r>
            <a:r>
              <a:rPr lang="en-US" altLang="ko-KR" sz="1200" u="sng" dirty="0" err="1"/>
              <a:t>happybirthday</a:t>
            </a:r>
            <a:r>
              <a:rPr lang="en-US" altLang="ko-KR" sz="1200" dirty="0"/>
              <a:t> to you</a:t>
            </a:r>
          </a:p>
          <a:p>
            <a:r>
              <a:rPr lang="en-US" altLang="ko-KR" sz="1200" b="1" dirty="0"/>
              <a:t>unsigned</a:t>
            </a:r>
            <a:r>
              <a:rPr lang="en-US" altLang="ko-KR" sz="1200" dirty="0"/>
              <a:t> </a:t>
            </a:r>
            <a:r>
              <a:rPr lang="en-US" altLang="ko-KR" sz="1200" b="1" dirty="0" err="1"/>
              <a:t>int</a:t>
            </a:r>
            <a:r>
              <a:rPr lang="en-US" altLang="ko-KR" sz="1200" dirty="0"/>
              <a:t> </a:t>
            </a:r>
            <a:r>
              <a:rPr lang="en-US" altLang="ko-KR" sz="1200" dirty="0" err="1"/>
              <a:t>happy_birthday</a:t>
            </a:r>
            <a:r>
              <a:rPr lang="en-US" altLang="ko-KR" sz="1200" dirty="0"/>
              <a:t>[] =</a:t>
            </a:r>
          </a:p>
          <a:p>
            <a:r>
              <a:rPr lang="en-US" altLang="ko-KR" sz="1200" dirty="0"/>
              <a:t>{</a:t>
            </a:r>
          </a:p>
          <a:p>
            <a:r>
              <a:rPr lang="en-US" altLang="ko-KR" sz="1200" i="1" dirty="0"/>
              <a:t>C4</a:t>
            </a:r>
            <a:r>
              <a:rPr lang="en-US" altLang="ko-KR" sz="1200" dirty="0"/>
              <a:t>,</a:t>
            </a:r>
            <a:r>
              <a:rPr lang="en-US" altLang="ko-KR" sz="1200" i="1" dirty="0"/>
              <a:t>C4</a:t>
            </a:r>
            <a:r>
              <a:rPr lang="en-US" altLang="ko-KR" sz="1200" dirty="0"/>
              <a:t>,</a:t>
            </a:r>
            <a:r>
              <a:rPr lang="en-US" altLang="ko-KR" sz="1200" i="1" dirty="0"/>
              <a:t>D4</a:t>
            </a:r>
            <a:r>
              <a:rPr lang="en-US" altLang="ko-KR" sz="1200" dirty="0"/>
              <a:t>,</a:t>
            </a:r>
            <a:r>
              <a:rPr lang="en-US" altLang="ko-KR" sz="1200" i="1" dirty="0"/>
              <a:t>C4</a:t>
            </a:r>
            <a:r>
              <a:rPr lang="en-US" altLang="ko-KR" sz="1200" dirty="0"/>
              <a:t>,</a:t>
            </a:r>
            <a:r>
              <a:rPr lang="en-US" altLang="ko-KR" sz="1200" i="1" dirty="0"/>
              <a:t>F4</a:t>
            </a:r>
            <a:r>
              <a:rPr lang="en-US" altLang="ko-KR" sz="1200" dirty="0"/>
              <a:t>,</a:t>
            </a:r>
            <a:r>
              <a:rPr lang="en-US" altLang="ko-KR" sz="1200" i="1" dirty="0"/>
              <a:t>E4</a:t>
            </a:r>
            <a:r>
              <a:rPr lang="en-US" altLang="ko-KR" sz="1200" dirty="0"/>
              <a:t>,</a:t>
            </a:r>
            <a:r>
              <a:rPr lang="en-US" altLang="ko-KR" sz="1200" i="1" dirty="0"/>
              <a:t>C4</a:t>
            </a:r>
            <a:r>
              <a:rPr lang="en-US" altLang="ko-KR" sz="1200" dirty="0"/>
              <a:t>,</a:t>
            </a:r>
            <a:r>
              <a:rPr lang="en-US" altLang="ko-KR" sz="1200" i="1" dirty="0"/>
              <a:t>C4</a:t>
            </a:r>
            <a:r>
              <a:rPr lang="en-US" altLang="ko-KR" sz="1200" dirty="0"/>
              <a:t>,</a:t>
            </a:r>
            <a:r>
              <a:rPr lang="en-US" altLang="ko-KR" sz="1200" i="1" dirty="0"/>
              <a:t>D4</a:t>
            </a:r>
            <a:r>
              <a:rPr lang="en-US" altLang="ko-KR" sz="1200" dirty="0"/>
              <a:t>,</a:t>
            </a:r>
            <a:r>
              <a:rPr lang="en-US" altLang="ko-KR" sz="1200" i="1" dirty="0"/>
              <a:t>C4</a:t>
            </a:r>
            <a:r>
              <a:rPr lang="en-US" altLang="ko-KR" sz="1200" dirty="0"/>
              <a:t>,</a:t>
            </a:r>
            <a:r>
              <a:rPr lang="en-US" altLang="ko-KR" sz="1200" i="1" dirty="0"/>
              <a:t>G4</a:t>
            </a:r>
            <a:r>
              <a:rPr lang="en-US" altLang="ko-KR" sz="1200" dirty="0"/>
              <a:t>,</a:t>
            </a:r>
          </a:p>
          <a:p>
            <a:r>
              <a:rPr lang="en-US" altLang="ko-KR" sz="1200" i="1" dirty="0"/>
              <a:t>F4</a:t>
            </a:r>
            <a:r>
              <a:rPr lang="en-US" altLang="ko-KR" sz="1200" dirty="0"/>
              <a:t>,</a:t>
            </a:r>
            <a:r>
              <a:rPr lang="en-US" altLang="ko-KR" sz="1200" i="1" dirty="0"/>
              <a:t>C4</a:t>
            </a:r>
            <a:r>
              <a:rPr lang="en-US" altLang="ko-KR" sz="1200" dirty="0"/>
              <a:t>,</a:t>
            </a:r>
            <a:r>
              <a:rPr lang="en-US" altLang="ko-KR" sz="1200" i="1" dirty="0"/>
              <a:t>C4</a:t>
            </a:r>
            <a:r>
              <a:rPr lang="en-US" altLang="ko-KR" sz="1200" dirty="0"/>
              <a:t>,</a:t>
            </a:r>
            <a:r>
              <a:rPr lang="en-US" altLang="ko-KR" sz="1200" i="1" dirty="0"/>
              <a:t>C5</a:t>
            </a:r>
            <a:r>
              <a:rPr lang="en-US" altLang="ko-KR" sz="1200" dirty="0"/>
              <a:t>,</a:t>
            </a:r>
            <a:r>
              <a:rPr lang="en-US" altLang="ko-KR" sz="1200" i="1" dirty="0"/>
              <a:t>A4</a:t>
            </a:r>
            <a:r>
              <a:rPr lang="en-US" altLang="ko-KR" sz="1200" dirty="0"/>
              <a:t>,</a:t>
            </a:r>
            <a:r>
              <a:rPr lang="en-US" altLang="ko-KR" sz="1200" i="1" dirty="0"/>
              <a:t>F4</a:t>
            </a:r>
            <a:r>
              <a:rPr lang="en-US" altLang="ko-KR" sz="1200" dirty="0"/>
              <a:t>,</a:t>
            </a:r>
            <a:r>
              <a:rPr lang="en-US" altLang="ko-KR" sz="1200" i="1" dirty="0"/>
              <a:t>E4</a:t>
            </a:r>
            <a:r>
              <a:rPr lang="en-US" altLang="ko-KR" sz="1200" dirty="0"/>
              <a:t>,</a:t>
            </a:r>
            <a:r>
              <a:rPr lang="en-US" altLang="ko-KR" sz="1200" i="1" dirty="0"/>
              <a:t>D4</a:t>
            </a:r>
            <a:r>
              <a:rPr lang="en-US" altLang="ko-KR" sz="1200" dirty="0"/>
              <a:t>,</a:t>
            </a:r>
            <a:r>
              <a:rPr lang="en-US" altLang="ko-KR" sz="1200" i="1" dirty="0"/>
              <a:t>B4</a:t>
            </a:r>
            <a:r>
              <a:rPr lang="en-US" altLang="ko-KR" sz="1200" dirty="0"/>
              <a:t>,</a:t>
            </a:r>
            <a:r>
              <a:rPr lang="en-US" altLang="ko-KR" sz="1200" i="1" dirty="0"/>
              <a:t>B4</a:t>
            </a:r>
            <a:r>
              <a:rPr lang="en-US" altLang="ko-KR" sz="1200" dirty="0"/>
              <a:t>,</a:t>
            </a:r>
            <a:r>
              <a:rPr lang="en-US" altLang="ko-KR" sz="1200" i="1" dirty="0"/>
              <a:t>A4</a:t>
            </a:r>
            <a:r>
              <a:rPr lang="en-US" altLang="ko-KR" sz="1200" dirty="0"/>
              <a:t>,</a:t>
            </a:r>
          </a:p>
          <a:p>
            <a:r>
              <a:rPr lang="en-US" altLang="ko-KR" sz="1200" i="1" dirty="0"/>
              <a:t>A4</a:t>
            </a:r>
            <a:r>
              <a:rPr lang="en-US" altLang="ko-KR" sz="1200" dirty="0"/>
              <a:t>,</a:t>
            </a:r>
            <a:r>
              <a:rPr lang="en-US" altLang="ko-KR" sz="1200" i="1" dirty="0"/>
              <a:t>G4</a:t>
            </a:r>
            <a:r>
              <a:rPr lang="en-US" altLang="ko-KR" sz="1200" dirty="0"/>
              <a:t>,</a:t>
            </a:r>
            <a:r>
              <a:rPr lang="en-US" altLang="ko-KR" sz="1200" i="1" dirty="0"/>
              <a:t>F4</a:t>
            </a:r>
            <a:endParaRPr lang="en-US" altLang="ko-KR" sz="1200" dirty="0"/>
          </a:p>
          <a:p>
            <a:r>
              <a:rPr lang="en-US" altLang="ko-KR" sz="1200" dirty="0" smtClean="0"/>
              <a:t>};</a:t>
            </a:r>
            <a:endParaRPr lang="en-US" altLang="ko-KR" sz="1200" dirty="0"/>
          </a:p>
          <a:p>
            <a:r>
              <a:rPr lang="en-US" altLang="ko-KR" sz="1200" b="1" dirty="0"/>
              <a:t>unsigned</a:t>
            </a:r>
            <a:r>
              <a:rPr lang="en-US" altLang="ko-KR" sz="1200" dirty="0"/>
              <a:t> </a:t>
            </a:r>
            <a:r>
              <a:rPr lang="en-US" altLang="ko-KR" sz="1200" b="1" dirty="0" err="1"/>
              <a:t>int</a:t>
            </a:r>
            <a:r>
              <a:rPr lang="en-US" altLang="ko-KR" sz="1200" dirty="0"/>
              <a:t> duration[] = {1,1,2,2,2,2,1,1,2,2,2,2,1,1,2,2,2,2,2,1,1,2,2,2,2</a:t>
            </a:r>
            <a:r>
              <a:rPr lang="en-US" altLang="ko-KR" sz="1200" dirty="0" smtClean="0"/>
              <a:t>};</a:t>
            </a:r>
            <a:endParaRPr lang="en-US" altLang="ko-KR" sz="1200" dirty="0"/>
          </a:p>
          <a:p>
            <a:r>
              <a:rPr lang="en-US" altLang="ko-KR" sz="1200" b="1" dirty="0"/>
              <a:t>void</a:t>
            </a:r>
            <a:r>
              <a:rPr lang="en-US" altLang="ko-KR" sz="1200" dirty="0"/>
              <a:t> </a:t>
            </a:r>
            <a:r>
              <a:rPr lang="en-US" altLang="ko-KR" sz="1200" b="1" dirty="0" err="1"/>
              <a:t>noTone</a:t>
            </a:r>
            <a:r>
              <a:rPr lang="en-US" altLang="ko-KR" sz="1200" dirty="0"/>
              <a:t>()</a:t>
            </a:r>
          </a:p>
          <a:p>
            <a:r>
              <a:rPr lang="en-US" altLang="ko-KR" sz="1200" dirty="0"/>
              <a:t>{</a:t>
            </a:r>
          </a:p>
          <a:p>
            <a:r>
              <a:rPr lang="en-US" altLang="ko-KR" sz="1200" dirty="0" smtClean="0"/>
              <a:t>   htim3.Instance-</a:t>
            </a:r>
            <a:r>
              <a:rPr lang="en-US" altLang="ko-KR" sz="1200" dirty="0"/>
              <a:t>&gt;CCR1=0;</a:t>
            </a:r>
          </a:p>
          <a:p>
            <a:r>
              <a:rPr lang="en-US" altLang="ko-KR" sz="1200" dirty="0" smtClean="0"/>
              <a:t>    </a:t>
            </a:r>
            <a:r>
              <a:rPr lang="en-US" altLang="ko-KR" sz="1200" dirty="0" err="1" smtClean="0"/>
              <a:t>HAL_Delay</a:t>
            </a:r>
            <a:r>
              <a:rPr lang="en-US" altLang="ko-KR" sz="1200" dirty="0" smtClean="0"/>
              <a:t>(50</a:t>
            </a:r>
            <a:r>
              <a:rPr lang="en-US" altLang="ko-KR" sz="1200" dirty="0"/>
              <a:t>);</a:t>
            </a:r>
          </a:p>
          <a:p>
            <a:r>
              <a:rPr lang="en-US" altLang="ko-KR" sz="1200" dirty="0" smtClean="0"/>
              <a:t>}</a:t>
            </a:r>
            <a:endParaRPr lang="en-US" altLang="ko-KR" dirty="0" smtClean="0"/>
          </a:p>
          <a:p>
            <a:r>
              <a:rPr lang="en-US" altLang="ko-KR" dirty="0" smtClean="0"/>
              <a:t>     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128572"/>
            <a:ext cx="9297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ea typeface="Pretendard Variable"/>
              </a:rPr>
              <a:t>.</a:t>
            </a: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retendard Variable"/>
              </a:rPr>
              <a:t> 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3239" y="759971"/>
            <a:ext cx="113054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altLang="ko-KR" dirty="0" smtClean="0"/>
          </a:p>
          <a:p>
            <a:pPr fontAlgn="base"/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352784" y="858713"/>
            <a:ext cx="7318029" cy="6217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void</a:t>
            </a:r>
            <a:r>
              <a:rPr lang="en-US" altLang="ko-KR" sz="1000" dirty="0"/>
              <a:t> </a:t>
            </a:r>
            <a:r>
              <a:rPr lang="en-US" altLang="ko-KR" sz="1000" b="1" dirty="0" err="1"/>
              <a:t>buzzer_main</a:t>
            </a:r>
            <a:r>
              <a:rPr lang="en-US" altLang="ko-KR" sz="1000" dirty="0"/>
              <a:t>()</a:t>
            </a:r>
          </a:p>
          <a:p>
            <a:r>
              <a:rPr lang="en-US" altLang="ko-KR" sz="1000" dirty="0"/>
              <a:t>{</a:t>
            </a:r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   </a:t>
            </a:r>
            <a:r>
              <a:rPr lang="en-US" altLang="ko-KR" sz="1000" b="1" dirty="0" err="1" smtClean="0"/>
              <a:t>int</a:t>
            </a:r>
            <a:r>
              <a:rPr lang="en-US" altLang="ko-KR" sz="1000" dirty="0" smtClean="0"/>
              <a:t> </a:t>
            </a:r>
            <a:r>
              <a:rPr lang="en-US" altLang="ko-KR" sz="1000" dirty="0" err="1"/>
              <a:t>divide_freq</a:t>
            </a:r>
            <a:r>
              <a:rPr lang="en-US" altLang="ko-KR" sz="1000" dirty="0"/>
              <a:t> = 1600000</a:t>
            </a:r>
            <a:r>
              <a:rPr lang="en-US" altLang="ko-KR" sz="1000" dirty="0" smtClean="0"/>
              <a:t>; </a:t>
            </a:r>
            <a:r>
              <a:rPr lang="en-US" altLang="ko-KR" sz="1000" dirty="0"/>
              <a:t>// 4KHZ </a:t>
            </a:r>
            <a:r>
              <a:rPr lang="ko-KR" altLang="en-US" sz="1000" dirty="0" err="1"/>
              <a:t>부저</a:t>
            </a:r>
            <a:r>
              <a:rPr lang="ko-KR" altLang="en-US" sz="1000" dirty="0"/>
              <a:t> 주파수를 내기 위해 기본 클럭을 분주해서 얻은 주파수</a:t>
            </a:r>
            <a:endParaRPr lang="en-US" altLang="ko-KR" sz="1000" dirty="0"/>
          </a:p>
          <a:p>
            <a:r>
              <a:rPr lang="en-US" altLang="ko-KR" sz="1000" dirty="0"/>
              <a:t/>
            </a:r>
            <a:br>
              <a:rPr lang="en-US" altLang="ko-KR" sz="1000" dirty="0"/>
            </a:br>
            <a:endParaRPr lang="en-US" altLang="ko-KR" sz="1000" dirty="0"/>
          </a:p>
          <a:p>
            <a:r>
              <a:rPr lang="en-US" altLang="ko-KR" sz="1000" b="1" dirty="0" smtClean="0"/>
              <a:t>    while</a:t>
            </a:r>
            <a:r>
              <a:rPr lang="en-US" altLang="ko-KR" sz="1000" dirty="0" smtClean="0"/>
              <a:t> </a:t>
            </a:r>
            <a:r>
              <a:rPr lang="en-US" altLang="ko-KR" sz="1000" dirty="0"/>
              <a:t>(1)</a:t>
            </a:r>
          </a:p>
          <a:p>
            <a:r>
              <a:rPr lang="en-US" altLang="ko-KR" sz="1000" dirty="0" smtClean="0"/>
              <a:t>    {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 smtClean="0"/>
              <a:t>     // </a:t>
            </a:r>
            <a:r>
              <a:rPr lang="ko-KR" altLang="en-US" sz="1000" dirty="0"/>
              <a:t>학교 종이 </a:t>
            </a:r>
            <a:r>
              <a:rPr lang="ko-KR" altLang="en-US" sz="1000" dirty="0" err="1"/>
              <a:t>땡땡땡</a:t>
            </a:r>
            <a:endParaRPr lang="ko-KR" altLang="en-US" sz="1000" dirty="0"/>
          </a:p>
          <a:p>
            <a:r>
              <a:rPr lang="en-US" altLang="ko-KR" sz="1000" b="1" dirty="0" smtClean="0"/>
              <a:t>        for</a:t>
            </a:r>
            <a:r>
              <a:rPr lang="en-US" altLang="ko-KR" sz="1000" dirty="0" smtClean="0"/>
              <a:t> </a:t>
            </a:r>
            <a:r>
              <a:rPr lang="en-US" altLang="ko-KR" sz="1000" dirty="0"/>
              <a:t>(</a:t>
            </a:r>
            <a:r>
              <a:rPr lang="en-US" altLang="ko-KR" sz="1000" b="1" dirty="0" err="1"/>
              <a:t>int</a:t>
            </a:r>
            <a:r>
              <a:rPr lang="en-US" altLang="ko-KR" sz="1000" dirty="0"/>
              <a:t> </a:t>
            </a:r>
            <a:r>
              <a:rPr lang="en-US" altLang="ko-KR" sz="1000" dirty="0" err="1"/>
              <a:t>i</a:t>
            </a:r>
            <a:r>
              <a:rPr lang="en-US" altLang="ko-KR" sz="1000" dirty="0"/>
              <a:t>=0; </a:t>
            </a:r>
            <a:r>
              <a:rPr lang="en-US" altLang="ko-KR" sz="1000" dirty="0" err="1"/>
              <a:t>i</a:t>
            </a:r>
            <a:r>
              <a:rPr lang="en-US" altLang="ko-KR" sz="1000" dirty="0"/>
              <a:t> &lt; 24; </a:t>
            </a:r>
            <a:r>
              <a:rPr lang="en-US" altLang="ko-KR" sz="1000" dirty="0" err="1"/>
              <a:t>i</a:t>
            </a:r>
            <a:r>
              <a:rPr lang="en-US" altLang="ko-KR" sz="1000" dirty="0"/>
              <a:t>++)</a:t>
            </a:r>
          </a:p>
          <a:p>
            <a:r>
              <a:rPr lang="en-US" altLang="ko-KR" sz="1000" dirty="0" smtClean="0"/>
              <a:t>        {</a:t>
            </a:r>
            <a:endParaRPr lang="en-US" altLang="ko-KR" sz="1000" dirty="0"/>
          </a:p>
          <a:p>
            <a:r>
              <a:rPr lang="en-US" altLang="ko-KR" sz="1000" dirty="0" smtClean="0"/>
              <a:t>           __</a:t>
            </a:r>
            <a:r>
              <a:rPr lang="en-US" altLang="ko-KR" sz="1000" dirty="0"/>
              <a:t>HAL_TIM_SET_AUTORELOAD(&amp;htim3, </a:t>
            </a:r>
            <a:r>
              <a:rPr lang="en-US" altLang="ko-KR" sz="1000" dirty="0" err="1"/>
              <a:t>divide_freq</a:t>
            </a:r>
            <a:r>
              <a:rPr lang="en-US" altLang="ko-KR" sz="1000" dirty="0"/>
              <a:t> / </a:t>
            </a:r>
            <a:r>
              <a:rPr lang="en-US" altLang="ko-KR" sz="1000" dirty="0" err="1"/>
              <a:t>school_bell</a:t>
            </a:r>
            <a:r>
              <a:rPr lang="en-US" altLang="ko-KR" sz="1000" dirty="0"/>
              <a:t>[</a:t>
            </a:r>
            <a:r>
              <a:rPr lang="en-US" altLang="ko-KR" sz="1000" dirty="0" err="1"/>
              <a:t>i</a:t>
            </a:r>
            <a:r>
              <a:rPr lang="en-US" altLang="ko-KR" sz="1000" dirty="0"/>
              <a:t>]);</a:t>
            </a:r>
          </a:p>
          <a:p>
            <a:r>
              <a:rPr lang="en-US" altLang="ko-KR" sz="1000" dirty="0" smtClean="0"/>
              <a:t>           __</a:t>
            </a:r>
            <a:r>
              <a:rPr lang="en-US" altLang="ko-KR" sz="1000" dirty="0"/>
              <a:t>HAL_TIM_SET_COMPARE(&amp;htim3, TIM_CHANNEL_1, </a:t>
            </a:r>
            <a:r>
              <a:rPr lang="en-US" altLang="ko-KR" sz="1000" dirty="0" err="1"/>
              <a:t>divide_freq</a:t>
            </a:r>
            <a:r>
              <a:rPr lang="en-US" altLang="ko-KR" sz="1000" dirty="0"/>
              <a:t> / </a:t>
            </a:r>
            <a:r>
              <a:rPr lang="en-US" altLang="ko-KR" sz="1000" dirty="0" err="1"/>
              <a:t>school_bell</a:t>
            </a:r>
            <a:r>
              <a:rPr lang="en-US" altLang="ko-KR" sz="1000" dirty="0"/>
              <a:t>[</a:t>
            </a:r>
            <a:r>
              <a:rPr lang="en-US" altLang="ko-KR" sz="1000" dirty="0" err="1"/>
              <a:t>i</a:t>
            </a:r>
            <a:r>
              <a:rPr lang="en-US" altLang="ko-KR" sz="1000" dirty="0"/>
              <a:t>] / 2); // </a:t>
            </a:r>
            <a:r>
              <a:rPr lang="en-US" altLang="ko-KR" sz="1000" u="sng" dirty="0"/>
              <a:t>Duty</a:t>
            </a:r>
            <a:r>
              <a:rPr lang="ko-KR" altLang="en-US" sz="1000" u="sng" dirty="0"/>
              <a:t>를</a:t>
            </a:r>
            <a:r>
              <a:rPr lang="ko-KR" altLang="en-US" sz="1000" dirty="0"/>
              <a:t> </a:t>
            </a:r>
            <a:r>
              <a:rPr lang="en-US" altLang="ko-KR" sz="1000" dirty="0"/>
              <a:t>50%</a:t>
            </a:r>
            <a:r>
              <a:rPr lang="ko-KR" altLang="en-US" sz="1000" dirty="0"/>
              <a:t>로 설정 한다</a:t>
            </a:r>
            <a:r>
              <a:rPr lang="en-US" altLang="ko-KR" sz="1000" dirty="0"/>
              <a:t>. </a:t>
            </a:r>
            <a:endParaRPr lang="ko-KR" altLang="en-US" sz="1000" dirty="0"/>
          </a:p>
          <a:p>
            <a:r>
              <a:rPr lang="en-US" altLang="ko-KR" sz="1000" dirty="0" smtClean="0"/>
              <a:t>           </a:t>
            </a:r>
            <a:r>
              <a:rPr lang="en-US" altLang="ko-KR" sz="1000" dirty="0" err="1" smtClean="0"/>
              <a:t>HAL_Delay</a:t>
            </a:r>
            <a:r>
              <a:rPr lang="en-US" altLang="ko-KR" sz="1000" dirty="0" smtClean="0"/>
              <a:t>(500</a:t>
            </a:r>
            <a:r>
              <a:rPr lang="en-US" altLang="ko-KR" sz="1000" dirty="0"/>
              <a:t>);</a:t>
            </a:r>
          </a:p>
          <a:p>
            <a:r>
              <a:rPr lang="en-US" altLang="ko-KR" sz="1000" dirty="0" smtClean="0"/>
              <a:t>           </a:t>
            </a:r>
            <a:r>
              <a:rPr lang="en-US" altLang="ko-KR" sz="1000" dirty="0" err="1" smtClean="0"/>
              <a:t>noTone</a:t>
            </a:r>
            <a:r>
              <a:rPr lang="en-US" altLang="ko-KR" sz="1000" dirty="0"/>
              <a:t>(); /* note </a:t>
            </a:r>
            <a:r>
              <a:rPr lang="ko-KR" altLang="en-US" sz="1000" dirty="0"/>
              <a:t>소리 내고 </a:t>
            </a:r>
            <a:r>
              <a:rPr lang="en-US" altLang="ko-KR" sz="1000" dirty="0"/>
              <a:t>50ms </a:t>
            </a:r>
            <a:r>
              <a:rPr lang="ko-KR" altLang="en-US" sz="1000" dirty="0" err="1"/>
              <a:t>끊어주기</a:t>
            </a:r>
            <a:r>
              <a:rPr lang="ko-KR" altLang="en-US" sz="1000" dirty="0"/>
              <a:t> *</a:t>
            </a:r>
            <a:r>
              <a:rPr lang="en-US" altLang="ko-KR" sz="1000" dirty="0"/>
              <a:t>/</a:t>
            </a:r>
            <a:endParaRPr lang="ko-KR" altLang="en-US" sz="1000" dirty="0"/>
          </a:p>
          <a:p>
            <a:r>
              <a:rPr lang="en-US" altLang="ko-KR" sz="1000" dirty="0" smtClean="0"/>
              <a:t>        }</a:t>
            </a:r>
            <a:endParaRPr lang="en-US" altLang="ko-KR" sz="1000" dirty="0"/>
          </a:p>
          <a:p>
            <a:r>
              <a:rPr lang="en-US" altLang="ko-KR" sz="1000" dirty="0" smtClean="0"/>
              <a:t>       /* </a:t>
            </a:r>
            <a:r>
              <a:rPr lang="ko-KR" altLang="en-US" sz="1000" dirty="0"/>
              <a:t>음악 끝나고 </a:t>
            </a:r>
            <a:r>
              <a:rPr lang="en-US" altLang="ko-KR" sz="1000" dirty="0"/>
              <a:t>3</a:t>
            </a:r>
            <a:r>
              <a:rPr lang="ko-KR" altLang="en-US" sz="1000" dirty="0"/>
              <a:t>초 후 시작*</a:t>
            </a:r>
            <a:r>
              <a:rPr lang="en-US" altLang="ko-KR" sz="1000" dirty="0"/>
              <a:t>/</a:t>
            </a:r>
            <a:endParaRPr lang="ko-KR" altLang="en-US" sz="1000" dirty="0"/>
          </a:p>
          <a:p>
            <a:r>
              <a:rPr lang="en-US" altLang="ko-KR" sz="1000" dirty="0" smtClean="0"/>
              <a:t>       </a:t>
            </a:r>
            <a:r>
              <a:rPr lang="en-US" altLang="ko-KR" sz="1000" dirty="0" err="1" smtClean="0"/>
              <a:t>HAL_TIM_PWM_Stop</a:t>
            </a:r>
            <a:r>
              <a:rPr lang="en-US" altLang="ko-KR" sz="1000" dirty="0"/>
              <a:t>(&amp;htim3, TIM_CHANNEL_1) ;</a:t>
            </a:r>
          </a:p>
          <a:p>
            <a:r>
              <a:rPr lang="en-US" altLang="ko-KR" sz="1000" dirty="0" smtClean="0"/>
              <a:t>        </a:t>
            </a:r>
            <a:r>
              <a:rPr lang="en-US" altLang="ko-KR" sz="1000" dirty="0" err="1" smtClean="0"/>
              <a:t>HAL_Delay</a:t>
            </a:r>
            <a:r>
              <a:rPr lang="en-US" altLang="ko-KR" sz="1000" dirty="0" smtClean="0"/>
              <a:t>(3000</a:t>
            </a:r>
            <a:r>
              <a:rPr lang="en-US" altLang="ko-KR" sz="1000" dirty="0"/>
              <a:t>);</a:t>
            </a:r>
          </a:p>
          <a:p>
            <a:r>
              <a:rPr lang="en-US" altLang="ko-KR" sz="1000" dirty="0" smtClean="0"/>
              <a:t>       </a:t>
            </a:r>
            <a:r>
              <a:rPr lang="en-US" altLang="ko-KR" sz="1000" dirty="0" err="1" smtClean="0"/>
              <a:t>HAL_TIM_PWM_Start</a:t>
            </a:r>
            <a:r>
              <a:rPr lang="en-US" altLang="ko-KR" sz="1000" dirty="0"/>
              <a:t>(&amp;htim3, TIM_CHANNEL_1) ;</a:t>
            </a:r>
          </a:p>
          <a:p>
            <a:endParaRPr lang="en-US" altLang="ko-KR" sz="1000" dirty="0"/>
          </a:p>
          <a:p>
            <a:r>
              <a:rPr lang="en-US" altLang="ko-KR" sz="1000" dirty="0" smtClean="0"/>
              <a:t>        // </a:t>
            </a:r>
            <a:r>
              <a:rPr lang="en-US" altLang="ko-KR" sz="1000" dirty="0"/>
              <a:t>happy birthday to you</a:t>
            </a:r>
          </a:p>
          <a:p>
            <a:r>
              <a:rPr lang="en-US" altLang="ko-KR" sz="1000" b="1" dirty="0" smtClean="0"/>
              <a:t>        for</a:t>
            </a:r>
            <a:r>
              <a:rPr lang="en-US" altLang="ko-KR" sz="1000" dirty="0" smtClean="0"/>
              <a:t> </a:t>
            </a:r>
            <a:r>
              <a:rPr lang="en-US" altLang="ko-KR" sz="1000" dirty="0"/>
              <a:t>(</a:t>
            </a:r>
            <a:r>
              <a:rPr lang="en-US" altLang="ko-KR" sz="1000" b="1" dirty="0" err="1"/>
              <a:t>int</a:t>
            </a:r>
            <a:r>
              <a:rPr lang="en-US" altLang="ko-KR" sz="1000" dirty="0"/>
              <a:t> </a:t>
            </a:r>
            <a:r>
              <a:rPr lang="en-US" altLang="ko-KR" sz="1000" dirty="0" err="1"/>
              <a:t>i</a:t>
            </a:r>
            <a:r>
              <a:rPr lang="en-US" altLang="ko-KR" sz="1000" dirty="0"/>
              <a:t>=0; </a:t>
            </a:r>
            <a:r>
              <a:rPr lang="en-US" altLang="ko-KR" sz="1000" dirty="0" err="1"/>
              <a:t>i</a:t>
            </a:r>
            <a:r>
              <a:rPr lang="en-US" altLang="ko-KR" sz="1000" dirty="0"/>
              <a:t> &lt; 25; </a:t>
            </a:r>
            <a:r>
              <a:rPr lang="en-US" altLang="ko-KR" sz="1000" dirty="0" err="1"/>
              <a:t>i</a:t>
            </a:r>
            <a:r>
              <a:rPr lang="en-US" altLang="ko-KR" sz="1000" dirty="0"/>
              <a:t>++)</a:t>
            </a:r>
          </a:p>
          <a:p>
            <a:r>
              <a:rPr lang="en-US" altLang="ko-KR" sz="1000" dirty="0" smtClean="0"/>
              <a:t>        {</a:t>
            </a:r>
            <a:endParaRPr lang="en-US" altLang="ko-KR" sz="1000" dirty="0"/>
          </a:p>
          <a:p>
            <a:r>
              <a:rPr lang="en-US" altLang="ko-KR" sz="1000" dirty="0" smtClean="0"/>
              <a:t>             __</a:t>
            </a:r>
            <a:r>
              <a:rPr lang="en-US" altLang="ko-KR" sz="1000" dirty="0"/>
              <a:t>HAL_TIM_SET_AUTORELOAD(&amp;htim3, </a:t>
            </a:r>
            <a:r>
              <a:rPr lang="en-US" altLang="ko-KR" sz="1000" dirty="0" err="1"/>
              <a:t>divide_freq</a:t>
            </a:r>
            <a:r>
              <a:rPr lang="en-US" altLang="ko-KR" sz="1000" dirty="0"/>
              <a:t> / </a:t>
            </a:r>
            <a:r>
              <a:rPr lang="en-US" altLang="ko-KR" sz="1000" dirty="0" err="1"/>
              <a:t>happy_birthday</a:t>
            </a:r>
            <a:r>
              <a:rPr lang="en-US" altLang="ko-KR" sz="1000" dirty="0"/>
              <a:t>[</a:t>
            </a:r>
            <a:r>
              <a:rPr lang="en-US" altLang="ko-KR" sz="1000" dirty="0" err="1"/>
              <a:t>i</a:t>
            </a:r>
            <a:r>
              <a:rPr lang="en-US" altLang="ko-KR" sz="1000" dirty="0"/>
              <a:t>]);</a:t>
            </a:r>
          </a:p>
          <a:p>
            <a:r>
              <a:rPr lang="en-US" altLang="ko-KR" sz="1000" dirty="0" smtClean="0"/>
              <a:t>             __</a:t>
            </a:r>
            <a:r>
              <a:rPr lang="en-US" altLang="ko-KR" sz="1000" dirty="0"/>
              <a:t>HAL_TIM_SET_COMPARE(&amp;htim3, TIM_CHANNEL_1, </a:t>
            </a:r>
            <a:r>
              <a:rPr lang="en-US" altLang="ko-KR" sz="1000" dirty="0" err="1"/>
              <a:t>divide_freq</a:t>
            </a:r>
            <a:r>
              <a:rPr lang="en-US" altLang="ko-KR" sz="1000" dirty="0"/>
              <a:t> / </a:t>
            </a:r>
            <a:r>
              <a:rPr lang="en-US" altLang="ko-KR" sz="1000" dirty="0" err="1"/>
              <a:t>happy_birthday</a:t>
            </a:r>
            <a:r>
              <a:rPr lang="en-US" altLang="ko-KR" sz="1000" dirty="0"/>
              <a:t>[</a:t>
            </a:r>
            <a:r>
              <a:rPr lang="en-US" altLang="ko-KR" sz="1000" dirty="0" err="1"/>
              <a:t>i</a:t>
            </a:r>
            <a:r>
              <a:rPr lang="en-US" altLang="ko-KR" sz="1000" dirty="0"/>
              <a:t>] / 2);</a:t>
            </a:r>
          </a:p>
          <a:p>
            <a:r>
              <a:rPr lang="en-US" altLang="ko-KR" sz="1000" dirty="0" smtClean="0"/>
              <a:t>             </a:t>
            </a:r>
            <a:r>
              <a:rPr lang="en-US" altLang="ko-KR" sz="1000" dirty="0" err="1" smtClean="0"/>
              <a:t>HAL_Delay</a:t>
            </a:r>
            <a:r>
              <a:rPr lang="en-US" altLang="ko-KR" sz="1000" dirty="0" smtClean="0"/>
              <a:t>(300*duration[</a:t>
            </a:r>
            <a:r>
              <a:rPr lang="en-US" altLang="ko-KR" sz="1000" dirty="0" err="1" smtClean="0"/>
              <a:t>i</a:t>
            </a:r>
            <a:r>
              <a:rPr lang="en-US" altLang="ko-KR" sz="1000" dirty="0"/>
              <a:t>]);</a:t>
            </a:r>
          </a:p>
          <a:p>
            <a:r>
              <a:rPr lang="en-US" altLang="ko-KR" sz="1000" dirty="0" smtClean="0"/>
              <a:t>             </a:t>
            </a:r>
            <a:r>
              <a:rPr lang="en-US" altLang="ko-KR" sz="1000" dirty="0" err="1" smtClean="0"/>
              <a:t>noTone</a:t>
            </a:r>
            <a:r>
              <a:rPr lang="en-US" altLang="ko-KR" sz="1000" dirty="0"/>
              <a:t>();</a:t>
            </a:r>
          </a:p>
          <a:p>
            <a:r>
              <a:rPr lang="en-US" altLang="ko-KR" sz="1000" dirty="0" smtClean="0"/>
              <a:t>         }</a:t>
            </a:r>
            <a:endParaRPr lang="en-US" altLang="ko-KR" sz="1000" dirty="0"/>
          </a:p>
          <a:p>
            <a:r>
              <a:rPr lang="en-US" altLang="ko-KR" sz="1000" dirty="0"/>
              <a:t/>
            </a:r>
            <a:br>
              <a:rPr lang="en-US" altLang="ko-KR" sz="1000" dirty="0"/>
            </a:br>
            <a:endParaRPr lang="en-US" altLang="ko-KR" sz="1000" dirty="0"/>
          </a:p>
          <a:p>
            <a:r>
              <a:rPr lang="en-US" altLang="ko-KR" sz="1000" dirty="0" smtClean="0"/>
              <a:t>        /* </a:t>
            </a:r>
            <a:r>
              <a:rPr lang="ko-KR" altLang="en-US" sz="1000" dirty="0"/>
              <a:t>음악 끝나고 </a:t>
            </a:r>
            <a:r>
              <a:rPr lang="en-US" altLang="ko-KR" sz="1000" dirty="0"/>
              <a:t>3</a:t>
            </a:r>
            <a:r>
              <a:rPr lang="ko-KR" altLang="en-US" sz="1000" dirty="0"/>
              <a:t>초 후 시작 *</a:t>
            </a:r>
            <a:r>
              <a:rPr lang="en-US" altLang="ko-KR" sz="1000" dirty="0"/>
              <a:t>/</a:t>
            </a:r>
            <a:endParaRPr lang="ko-KR" altLang="en-US" sz="1000" dirty="0"/>
          </a:p>
          <a:p>
            <a:r>
              <a:rPr lang="en-US" altLang="ko-KR" sz="1000" dirty="0" smtClean="0"/>
              <a:t>       </a:t>
            </a:r>
            <a:r>
              <a:rPr lang="en-US" altLang="ko-KR" sz="1000" dirty="0" err="1" smtClean="0"/>
              <a:t>HAL_TIM_PWM_Stop</a:t>
            </a:r>
            <a:r>
              <a:rPr lang="en-US" altLang="ko-KR" sz="1000" dirty="0"/>
              <a:t>(&amp;htim3, TIM_CHANNEL_1) ;</a:t>
            </a:r>
          </a:p>
          <a:p>
            <a:r>
              <a:rPr lang="en-US" altLang="ko-KR" sz="1000" dirty="0" smtClean="0"/>
              <a:t>       </a:t>
            </a:r>
            <a:r>
              <a:rPr lang="en-US" altLang="ko-KR" sz="1000" dirty="0" err="1" smtClean="0"/>
              <a:t>HAL_Delay</a:t>
            </a:r>
            <a:r>
              <a:rPr lang="en-US" altLang="ko-KR" sz="1000" dirty="0" smtClean="0"/>
              <a:t>(3000</a:t>
            </a:r>
            <a:r>
              <a:rPr lang="en-US" altLang="ko-KR" sz="1000" dirty="0"/>
              <a:t>);</a:t>
            </a:r>
          </a:p>
          <a:p>
            <a:r>
              <a:rPr lang="en-US" altLang="ko-KR" sz="1000" dirty="0" smtClean="0"/>
              <a:t>       </a:t>
            </a:r>
            <a:r>
              <a:rPr lang="en-US" altLang="ko-KR" sz="1000" dirty="0" err="1" smtClean="0"/>
              <a:t>HAL_TIM_PWM_Start</a:t>
            </a:r>
            <a:r>
              <a:rPr lang="en-US" altLang="ko-KR" sz="1000" dirty="0"/>
              <a:t>(&amp;htim3, TIM_CHANNEL_1) </a:t>
            </a:r>
            <a:r>
              <a:rPr lang="en-US" altLang="ko-KR" sz="1000" dirty="0" smtClean="0"/>
              <a:t>;</a:t>
            </a:r>
            <a:r>
              <a:rPr lang="en-US" altLang="ko-KR" sz="1000" dirty="0"/>
              <a:t/>
            </a:r>
            <a:br>
              <a:rPr lang="en-US" altLang="ko-KR" sz="1000" dirty="0"/>
            </a:br>
            <a:endParaRPr lang="en-US" altLang="ko-KR" sz="1000" dirty="0"/>
          </a:p>
          <a:p>
            <a:r>
              <a:rPr lang="en-US" altLang="ko-KR" sz="1000" dirty="0" smtClean="0"/>
              <a:t>      }</a:t>
            </a:r>
            <a:endParaRPr lang="en-US" altLang="ko-KR" sz="1000" dirty="0"/>
          </a:p>
          <a:p>
            <a:r>
              <a:rPr lang="en-US" altLang="ko-KR" sz="1000" dirty="0"/>
              <a:t>}</a:t>
            </a:r>
          </a:p>
          <a:p>
            <a:r>
              <a:rPr lang="en-US" altLang="ko-KR" sz="1200" dirty="0" smtClean="0"/>
              <a:t>   </a:t>
            </a:r>
            <a:r>
              <a:rPr lang="en-US" altLang="ko-KR" dirty="0" smtClean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6125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/>
        </p:nvSpPr>
        <p:spPr>
          <a:xfrm>
            <a:off x="11438792" y="-2"/>
            <a:ext cx="753207" cy="753207"/>
          </a:xfrm>
          <a:prstGeom prst="rtTriangle">
            <a:avLst/>
          </a:prstGeom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379" y="222713"/>
            <a:ext cx="4725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en-US" altLang="ko-KR" sz="2800" b="1" dirty="0"/>
              <a:t>Piezo </a:t>
            </a:r>
            <a:r>
              <a:rPr lang="en-US" altLang="ko-KR" sz="2800" b="1" dirty="0" smtClean="0"/>
              <a:t>Buzzer(STM32F411)</a:t>
            </a:r>
            <a:endParaRPr lang="en-US" altLang="ko-KR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04694" y="234340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8274" y="858713"/>
            <a:ext cx="266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37281" y="858713"/>
            <a:ext cx="4060727" cy="75097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 smtClean="0"/>
              <a:t>TIM_HandleTypeDef</a:t>
            </a:r>
            <a:r>
              <a:rPr lang="en-US" altLang="ko-KR" sz="1000" dirty="0" smtClean="0"/>
              <a:t> </a:t>
            </a:r>
            <a:r>
              <a:rPr lang="en-US" altLang="ko-KR" sz="1000" dirty="0"/>
              <a:t>*</a:t>
            </a:r>
            <a:r>
              <a:rPr lang="en-US" altLang="ko-KR" sz="1000" dirty="0" err="1"/>
              <a:t>htim</a:t>
            </a:r>
            <a:r>
              <a:rPr lang="en-US" altLang="ko-KR" sz="1000" dirty="0"/>
              <a:t> = &amp;htim1;</a:t>
            </a:r>
          </a:p>
          <a:p>
            <a:r>
              <a:rPr lang="en-US" altLang="ko-KR" sz="1000" dirty="0"/>
              <a:t>uint32_t TIM_CHANNEL = TIM_CHANNEL_1;</a:t>
            </a:r>
          </a:p>
          <a:p>
            <a:r>
              <a:rPr lang="en-US" altLang="ko-KR" sz="1000" dirty="0"/>
              <a:t/>
            </a:r>
            <a:br>
              <a:rPr lang="en-US" altLang="ko-KR" sz="1000" dirty="0"/>
            </a:br>
            <a:endParaRPr lang="en-US" altLang="ko-KR" sz="1000" dirty="0"/>
          </a:p>
          <a:p>
            <a:r>
              <a:rPr lang="en-US" altLang="ko-KR" sz="1000" b="1" dirty="0"/>
              <a:t>void</a:t>
            </a:r>
            <a:r>
              <a:rPr lang="en-US" altLang="ko-KR" sz="1000" dirty="0"/>
              <a:t> </a:t>
            </a:r>
            <a:r>
              <a:rPr lang="en-US" altLang="ko-KR" sz="1000" b="1" dirty="0" err="1"/>
              <a:t>setBuzzer</a:t>
            </a:r>
            <a:r>
              <a:rPr lang="en-US" altLang="ko-KR" sz="1000" dirty="0"/>
              <a:t>(</a:t>
            </a:r>
            <a:r>
              <a:rPr lang="en-US" altLang="ko-KR" sz="1000" b="1" dirty="0" err="1"/>
              <a:t>int</a:t>
            </a:r>
            <a:r>
              <a:rPr lang="en-US" altLang="ko-KR" sz="1000" dirty="0"/>
              <a:t> note) // </a:t>
            </a:r>
            <a:r>
              <a:rPr lang="ko-KR" altLang="en-US" sz="1000" dirty="0"/>
              <a:t>주파수 결정해주는 함수</a:t>
            </a:r>
          </a:p>
          <a:p>
            <a:r>
              <a:rPr lang="en-US" altLang="ko-KR" sz="1000" dirty="0"/>
              <a:t>{</a:t>
            </a:r>
          </a:p>
          <a:p>
            <a:r>
              <a:rPr lang="en-US" altLang="ko-KR" sz="1000" b="1" dirty="0" smtClean="0"/>
              <a:t>   </a:t>
            </a:r>
            <a:r>
              <a:rPr lang="en-US" altLang="ko-KR" sz="1000" b="1" dirty="0" err="1" smtClean="0"/>
              <a:t>int</a:t>
            </a:r>
            <a:r>
              <a:rPr lang="en-US" altLang="ko-KR" sz="1000" dirty="0" smtClean="0"/>
              <a:t> </a:t>
            </a:r>
            <a:r>
              <a:rPr lang="en-US" altLang="ko-KR" sz="1000" dirty="0"/>
              <a:t>value = 16000000 / note; // (90M / 90) /note = 1MHz /note</a:t>
            </a:r>
          </a:p>
          <a:p>
            <a:r>
              <a:rPr lang="en-US" altLang="ko-KR" sz="1000" dirty="0" smtClean="0"/>
              <a:t>   __</a:t>
            </a:r>
            <a:r>
              <a:rPr lang="en-US" altLang="ko-KR" sz="1000" dirty="0"/>
              <a:t>HAL_TIM_SET_AUTORELOAD(</a:t>
            </a:r>
            <a:r>
              <a:rPr lang="en-US" altLang="ko-KR" sz="1000" dirty="0" err="1"/>
              <a:t>htim</a:t>
            </a:r>
            <a:r>
              <a:rPr lang="en-US" altLang="ko-KR" sz="1000" dirty="0"/>
              <a:t>, value);</a:t>
            </a:r>
          </a:p>
          <a:p>
            <a:r>
              <a:rPr lang="en-US" altLang="ko-KR" sz="1000" dirty="0" smtClean="0"/>
              <a:t>  __</a:t>
            </a:r>
            <a:r>
              <a:rPr lang="en-US" altLang="ko-KR" sz="1000" dirty="0"/>
              <a:t>HAL_TIM_SET_COMPARE(</a:t>
            </a:r>
            <a:r>
              <a:rPr lang="en-US" altLang="ko-KR" sz="1000" dirty="0" err="1"/>
              <a:t>htim</a:t>
            </a:r>
            <a:r>
              <a:rPr lang="en-US" altLang="ko-KR" sz="1000" dirty="0"/>
              <a:t>, TIM_CHANNEL_1, value/2);</a:t>
            </a:r>
          </a:p>
          <a:p>
            <a:r>
              <a:rPr lang="en-US" altLang="ko-KR" sz="1000" dirty="0"/>
              <a:t>}</a:t>
            </a:r>
          </a:p>
          <a:p>
            <a:endParaRPr lang="en-US" altLang="ko-KR" sz="1000" dirty="0"/>
          </a:p>
          <a:p>
            <a:r>
              <a:rPr lang="en-US" altLang="ko-KR" sz="1000" b="1" dirty="0"/>
              <a:t>void</a:t>
            </a:r>
            <a:r>
              <a:rPr lang="en-US" altLang="ko-KR" sz="1000" dirty="0"/>
              <a:t> </a:t>
            </a:r>
            <a:r>
              <a:rPr lang="en-US" altLang="ko-KR" sz="1000" b="1" dirty="0" err="1"/>
              <a:t>playBuzzer</a:t>
            </a:r>
            <a:r>
              <a:rPr lang="en-US" altLang="ko-KR" sz="1000" dirty="0"/>
              <a:t>()</a:t>
            </a:r>
          </a:p>
          <a:p>
            <a:r>
              <a:rPr lang="en-US" altLang="ko-KR" sz="1000" dirty="0"/>
              <a:t>{</a:t>
            </a:r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</a:t>
            </a:r>
            <a:r>
              <a:rPr lang="en-US" altLang="ko-KR" sz="1000" dirty="0" err="1" smtClean="0"/>
              <a:t>HAL_TIM_PWM_Start</a:t>
            </a:r>
            <a:r>
              <a:rPr lang="en-US" altLang="ko-KR" sz="1000" dirty="0" smtClean="0"/>
              <a:t>(</a:t>
            </a:r>
            <a:r>
              <a:rPr lang="en-US" altLang="ko-KR" sz="1000" dirty="0" err="1" smtClean="0"/>
              <a:t>htim</a:t>
            </a:r>
            <a:r>
              <a:rPr lang="en-US" altLang="ko-KR" sz="1000" dirty="0"/>
              <a:t>, TIM_CHANNEL);</a:t>
            </a:r>
          </a:p>
          <a:p>
            <a:r>
              <a:rPr lang="en-US" altLang="ko-KR" sz="1000" dirty="0"/>
              <a:t>}</a:t>
            </a:r>
          </a:p>
          <a:p>
            <a:r>
              <a:rPr lang="en-US" altLang="ko-KR" sz="1000" dirty="0"/>
              <a:t/>
            </a:r>
            <a:br>
              <a:rPr lang="en-US" altLang="ko-KR" sz="1000" dirty="0"/>
            </a:br>
            <a:endParaRPr lang="en-US" altLang="ko-KR" sz="1000" dirty="0"/>
          </a:p>
          <a:p>
            <a:r>
              <a:rPr lang="en-US" altLang="ko-KR" sz="1000" b="1" dirty="0"/>
              <a:t>void</a:t>
            </a:r>
            <a:r>
              <a:rPr lang="en-US" altLang="ko-KR" sz="1000" dirty="0"/>
              <a:t> </a:t>
            </a:r>
            <a:r>
              <a:rPr lang="en-US" altLang="ko-KR" sz="1000" b="1" dirty="0" err="1"/>
              <a:t>noBuzzer</a:t>
            </a:r>
            <a:r>
              <a:rPr lang="en-US" altLang="ko-KR" sz="1000" dirty="0"/>
              <a:t>()</a:t>
            </a:r>
          </a:p>
          <a:p>
            <a:r>
              <a:rPr lang="en-US" altLang="ko-KR" sz="1000" dirty="0"/>
              <a:t>{</a:t>
            </a:r>
          </a:p>
          <a:p>
            <a:r>
              <a:rPr lang="en-US" altLang="ko-KR" sz="1000" dirty="0" smtClean="0"/>
              <a:t>   </a:t>
            </a:r>
            <a:r>
              <a:rPr lang="en-US" altLang="ko-KR" sz="1000" dirty="0" err="1" smtClean="0"/>
              <a:t>HAL_TIM_PWM_Stop</a:t>
            </a:r>
            <a:r>
              <a:rPr lang="en-US" altLang="ko-KR" sz="1000" dirty="0" smtClean="0"/>
              <a:t>(</a:t>
            </a:r>
            <a:r>
              <a:rPr lang="en-US" altLang="ko-KR" sz="1000" dirty="0" err="1" smtClean="0"/>
              <a:t>htim</a:t>
            </a:r>
            <a:r>
              <a:rPr lang="en-US" altLang="ko-KR" sz="1000" dirty="0"/>
              <a:t>, TIM_CHANNEL);</a:t>
            </a:r>
          </a:p>
          <a:p>
            <a:r>
              <a:rPr lang="en-US" altLang="ko-KR" sz="1000" dirty="0"/>
              <a:t>}</a:t>
            </a:r>
          </a:p>
          <a:p>
            <a:r>
              <a:rPr lang="en-US" altLang="ko-KR" sz="1000" dirty="0"/>
              <a:t/>
            </a:r>
            <a:br>
              <a:rPr lang="en-US" altLang="ko-KR" sz="1000" dirty="0"/>
            </a:br>
            <a:endParaRPr lang="en-US" altLang="ko-KR" sz="1000" dirty="0"/>
          </a:p>
          <a:p>
            <a:r>
              <a:rPr lang="en-US" altLang="ko-KR" sz="1000" b="1" dirty="0"/>
              <a:t>void</a:t>
            </a:r>
            <a:r>
              <a:rPr lang="en-US" altLang="ko-KR" sz="1000" dirty="0"/>
              <a:t> </a:t>
            </a:r>
            <a:r>
              <a:rPr lang="en-US" altLang="ko-KR" sz="1000" b="1" dirty="0" err="1"/>
              <a:t>power_on_buzzer</a:t>
            </a:r>
            <a:r>
              <a:rPr lang="en-US" altLang="ko-KR" sz="1000" dirty="0"/>
              <a:t>()</a:t>
            </a:r>
          </a:p>
          <a:p>
            <a:r>
              <a:rPr lang="en-US" altLang="ko-KR" sz="1000" dirty="0"/>
              <a:t>{</a:t>
            </a:r>
          </a:p>
          <a:p>
            <a:r>
              <a:rPr lang="en-US" altLang="ko-KR" sz="1000" dirty="0" smtClean="0"/>
              <a:t>   </a:t>
            </a:r>
            <a:r>
              <a:rPr lang="en-US" altLang="ko-KR" sz="1000" dirty="0" err="1" smtClean="0"/>
              <a:t>HAL_TIM_PWM_Start</a:t>
            </a:r>
            <a:r>
              <a:rPr lang="en-US" altLang="ko-KR" sz="1000" dirty="0"/>
              <a:t>(&amp;htim1, TIM_CHANNEL_1);</a:t>
            </a:r>
          </a:p>
          <a:p>
            <a:r>
              <a:rPr lang="en-US" altLang="ko-KR" sz="1000" dirty="0"/>
              <a:t/>
            </a:r>
            <a:br>
              <a:rPr lang="en-US" altLang="ko-KR" sz="1000" dirty="0"/>
            </a:br>
            <a:endParaRPr lang="en-US" altLang="ko-KR" sz="1000" dirty="0"/>
          </a:p>
          <a:p>
            <a:r>
              <a:rPr lang="en-US" altLang="ko-KR" sz="1000" dirty="0" smtClean="0"/>
              <a:t>  </a:t>
            </a:r>
            <a:r>
              <a:rPr lang="en-US" altLang="ko-KR" sz="1000" dirty="0" err="1" smtClean="0"/>
              <a:t>setBuzzer</a:t>
            </a:r>
            <a:r>
              <a:rPr lang="en-US" altLang="ko-KR" sz="1000" dirty="0" smtClean="0"/>
              <a:t>(1000</a:t>
            </a:r>
            <a:r>
              <a:rPr lang="en-US" altLang="ko-KR" sz="1000" dirty="0"/>
              <a:t>); // 1kHz</a:t>
            </a:r>
            <a:r>
              <a:rPr lang="ko-KR" altLang="en-US" sz="1000" dirty="0"/>
              <a:t>로 세팅</a:t>
            </a:r>
          </a:p>
          <a:p>
            <a:r>
              <a:rPr lang="en-US" altLang="ko-KR" sz="1000" dirty="0" smtClean="0"/>
              <a:t>  </a:t>
            </a:r>
            <a:r>
              <a:rPr lang="en-US" altLang="ko-KR" sz="1000" dirty="0" err="1" smtClean="0"/>
              <a:t>HAL_Delay</a:t>
            </a:r>
            <a:r>
              <a:rPr lang="en-US" altLang="ko-KR" sz="1000" dirty="0" smtClean="0"/>
              <a:t>(70</a:t>
            </a:r>
            <a:r>
              <a:rPr lang="en-US" altLang="ko-KR" sz="1000" dirty="0"/>
              <a:t>);</a:t>
            </a:r>
          </a:p>
          <a:p>
            <a:r>
              <a:rPr lang="en-US" altLang="ko-KR" sz="1000" dirty="0" smtClean="0"/>
              <a:t>  </a:t>
            </a:r>
            <a:r>
              <a:rPr lang="en-US" altLang="ko-KR" sz="1000" dirty="0" err="1" smtClean="0"/>
              <a:t>setBuzzer</a:t>
            </a:r>
            <a:r>
              <a:rPr lang="en-US" altLang="ko-KR" sz="1000" dirty="0" smtClean="0"/>
              <a:t>(2000</a:t>
            </a:r>
            <a:r>
              <a:rPr lang="en-US" altLang="ko-KR" sz="1000" dirty="0"/>
              <a:t>); // 2kHz</a:t>
            </a:r>
            <a:r>
              <a:rPr lang="ko-KR" altLang="en-US" sz="1000" dirty="0"/>
              <a:t>로 세팅</a:t>
            </a:r>
          </a:p>
          <a:p>
            <a:r>
              <a:rPr lang="en-US" altLang="ko-KR" sz="1000" dirty="0" smtClean="0"/>
              <a:t>  </a:t>
            </a:r>
            <a:r>
              <a:rPr lang="en-US" altLang="ko-KR" sz="1000" dirty="0" err="1" smtClean="0"/>
              <a:t>HAL_Delay</a:t>
            </a:r>
            <a:r>
              <a:rPr lang="en-US" altLang="ko-KR" sz="1000" dirty="0" smtClean="0"/>
              <a:t>(70</a:t>
            </a:r>
            <a:r>
              <a:rPr lang="en-US" altLang="ko-KR" sz="1000" dirty="0"/>
              <a:t>);</a:t>
            </a:r>
          </a:p>
          <a:p>
            <a:r>
              <a:rPr lang="en-US" altLang="ko-KR" sz="1000" dirty="0" smtClean="0"/>
              <a:t>  </a:t>
            </a:r>
            <a:r>
              <a:rPr lang="en-US" altLang="ko-KR" sz="1000" dirty="0" err="1" smtClean="0"/>
              <a:t>setBuzzer</a:t>
            </a:r>
            <a:r>
              <a:rPr lang="en-US" altLang="ko-KR" sz="1000" dirty="0" smtClean="0"/>
              <a:t>(3000</a:t>
            </a:r>
            <a:r>
              <a:rPr lang="en-US" altLang="ko-KR" sz="1000" dirty="0"/>
              <a:t>); // 3kHz</a:t>
            </a:r>
            <a:r>
              <a:rPr lang="ko-KR" altLang="en-US" sz="1000" dirty="0"/>
              <a:t>로 세팅</a:t>
            </a:r>
          </a:p>
          <a:p>
            <a:r>
              <a:rPr lang="en-US" altLang="ko-KR" sz="1000" dirty="0" smtClean="0"/>
              <a:t>  </a:t>
            </a:r>
            <a:r>
              <a:rPr lang="en-US" altLang="ko-KR" sz="1000" dirty="0" err="1" smtClean="0"/>
              <a:t>HAL_Delay</a:t>
            </a:r>
            <a:r>
              <a:rPr lang="en-US" altLang="ko-KR" sz="1000" dirty="0" smtClean="0"/>
              <a:t>(70</a:t>
            </a:r>
            <a:r>
              <a:rPr lang="en-US" altLang="ko-KR" sz="1000" dirty="0"/>
              <a:t>);</a:t>
            </a:r>
          </a:p>
          <a:p>
            <a:r>
              <a:rPr lang="en-US" altLang="ko-KR" sz="1000" dirty="0" smtClean="0"/>
              <a:t>  </a:t>
            </a:r>
            <a:r>
              <a:rPr lang="en-US" altLang="ko-KR" sz="1000" dirty="0" err="1" smtClean="0"/>
              <a:t>setBuzzer</a:t>
            </a:r>
            <a:r>
              <a:rPr lang="en-US" altLang="ko-KR" sz="1000" dirty="0" smtClean="0"/>
              <a:t>(4000</a:t>
            </a:r>
            <a:r>
              <a:rPr lang="en-US" altLang="ko-KR" sz="1000" dirty="0"/>
              <a:t>); // 4kHz</a:t>
            </a:r>
            <a:r>
              <a:rPr lang="ko-KR" altLang="en-US" sz="1000" dirty="0"/>
              <a:t>로 세팅</a:t>
            </a:r>
          </a:p>
          <a:p>
            <a:r>
              <a:rPr lang="en-US" altLang="ko-KR" sz="1000" dirty="0" smtClean="0"/>
              <a:t>  </a:t>
            </a:r>
            <a:r>
              <a:rPr lang="en-US" altLang="ko-KR" sz="1000" dirty="0" err="1" smtClean="0"/>
              <a:t>HAL_Delay</a:t>
            </a:r>
            <a:r>
              <a:rPr lang="en-US" altLang="ko-KR" sz="1000" dirty="0" smtClean="0"/>
              <a:t>(70</a:t>
            </a:r>
            <a:r>
              <a:rPr lang="en-US" altLang="ko-KR" sz="1000" dirty="0"/>
              <a:t>);</a:t>
            </a:r>
          </a:p>
          <a:p>
            <a:endParaRPr lang="en-US" altLang="ko-KR" sz="1000" dirty="0"/>
          </a:p>
          <a:p>
            <a:r>
              <a:rPr lang="en-US" altLang="ko-KR" sz="1000" dirty="0" smtClean="0"/>
              <a:t>  </a:t>
            </a:r>
            <a:r>
              <a:rPr lang="en-US" altLang="ko-KR" sz="1000" dirty="0" err="1" smtClean="0"/>
              <a:t>HAL_TIM_PWM_Stop</a:t>
            </a:r>
            <a:r>
              <a:rPr lang="en-US" altLang="ko-KR" sz="1000" dirty="0"/>
              <a:t>(&amp;htim1, TIM_CHANNEL_1);</a:t>
            </a:r>
          </a:p>
          <a:p>
            <a:r>
              <a:rPr lang="en-US" altLang="ko-KR" sz="1000" dirty="0"/>
              <a:t>}</a:t>
            </a:r>
          </a:p>
          <a:p>
            <a:r>
              <a:rPr lang="en-US" altLang="ko-KR" sz="1000" dirty="0"/>
              <a:t/>
            </a:r>
            <a:br>
              <a:rPr lang="en-US" altLang="ko-KR" sz="1000" dirty="0"/>
            </a:br>
            <a:endParaRPr lang="en-US" altLang="ko-KR" sz="1000" dirty="0"/>
          </a:p>
          <a:p>
            <a:r>
              <a:rPr lang="en-US" altLang="ko-KR" dirty="0"/>
              <a:t/>
            </a:r>
            <a:br>
              <a:rPr lang="en-US" altLang="ko-KR" dirty="0"/>
            </a:br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smtClean="0"/>
              <a:t>     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128572"/>
            <a:ext cx="9297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ea typeface="Pretendard Variable"/>
              </a:rPr>
              <a:t>.</a:t>
            </a: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retendard Variable"/>
              </a:rPr>
              <a:t> 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3239" y="759971"/>
            <a:ext cx="113054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altLang="ko-KR" dirty="0" smtClean="0"/>
          </a:p>
          <a:p>
            <a:pPr fontAlgn="base"/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352784" y="858713"/>
            <a:ext cx="5934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 smtClean="0"/>
              <a:t> </a:t>
            </a:r>
            <a:endParaRPr lang="en-US" altLang="ko-KR" sz="1000" dirty="0"/>
          </a:p>
          <a:p>
            <a:r>
              <a:rPr lang="en-US" altLang="ko-KR" sz="1200" dirty="0" smtClean="0"/>
              <a:t>   </a:t>
            </a:r>
            <a:r>
              <a:rPr lang="en-US" altLang="ko-KR" dirty="0" smtClean="0"/>
              <a:t> 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83575" y="858713"/>
            <a:ext cx="3171061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void</a:t>
            </a:r>
            <a:r>
              <a:rPr lang="en-US" altLang="ko-KR" sz="1000" dirty="0"/>
              <a:t> </a:t>
            </a:r>
            <a:r>
              <a:rPr lang="en-US" altLang="ko-KR" sz="1000" b="1" dirty="0"/>
              <a:t>beep</a:t>
            </a:r>
            <a:r>
              <a:rPr lang="en-US" altLang="ko-KR" sz="1000" dirty="0"/>
              <a:t>(</a:t>
            </a:r>
            <a:r>
              <a:rPr lang="en-US" altLang="ko-KR" sz="1000" b="1" dirty="0" err="1"/>
              <a:t>int</a:t>
            </a:r>
            <a:r>
              <a:rPr lang="en-US" altLang="ko-KR" sz="1000" dirty="0"/>
              <a:t> repeat)</a:t>
            </a:r>
          </a:p>
          <a:p>
            <a:r>
              <a:rPr lang="en-US" altLang="ko-KR" sz="1000" dirty="0"/>
              <a:t>{</a:t>
            </a:r>
          </a:p>
          <a:p>
            <a:r>
              <a:rPr lang="en-US" altLang="ko-KR" sz="1000" dirty="0" smtClean="0"/>
              <a:t>    </a:t>
            </a:r>
            <a:r>
              <a:rPr lang="en-US" altLang="ko-KR" sz="1000" dirty="0" err="1" smtClean="0"/>
              <a:t>HAL_TIM_PWM_Start</a:t>
            </a:r>
            <a:r>
              <a:rPr lang="en-US" altLang="ko-KR" sz="1000" dirty="0"/>
              <a:t>(&amp;htim1, TIM_CHANNEL_1);</a:t>
            </a:r>
          </a:p>
          <a:p>
            <a:r>
              <a:rPr lang="en-US" altLang="ko-KR" sz="1000" dirty="0"/>
              <a:t/>
            </a:r>
            <a:br>
              <a:rPr lang="en-US" altLang="ko-KR" sz="1000" dirty="0"/>
            </a:br>
            <a:endParaRPr lang="en-US" altLang="ko-KR" sz="1000" dirty="0"/>
          </a:p>
          <a:p>
            <a:r>
              <a:rPr lang="en-US" altLang="ko-KR" sz="1000" b="1" dirty="0" smtClean="0"/>
              <a:t>   for</a:t>
            </a:r>
            <a:r>
              <a:rPr lang="en-US" altLang="ko-KR" sz="1000" dirty="0" smtClean="0"/>
              <a:t> </a:t>
            </a:r>
            <a:r>
              <a:rPr lang="en-US" altLang="ko-KR" sz="1000" dirty="0"/>
              <a:t>(</a:t>
            </a:r>
            <a:r>
              <a:rPr lang="en-US" altLang="ko-KR" sz="1000" b="1" dirty="0" err="1"/>
              <a:t>int</a:t>
            </a:r>
            <a:r>
              <a:rPr lang="en-US" altLang="ko-KR" sz="1000" dirty="0"/>
              <a:t> </a:t>
            </a:r>
            <a:r>
              <a:rPr lang="en-US" altLang="ko-KR" sz="1000" dirty="0" err="1"/>
              <a:t>i</a:t>
            </a:r>
            <a:r>
              <a:rPr lang="en-US" altLang="ko-KR" sz="1000" dirty="0"/>
              <a:t>=0; </a:t>
            </a:r>
            <a:r>
              <a:rPr lang="en-US" altLang="ko-KR" sz="1000" dirty="0" err="1"/>
              <a:t>i</a:t>
            </a:r>
            <a:r>
              <a:rPr lang="en-US" altLang="ko-KR" sz="1000" dirty="0"/>
              <a:t> &lt; repeat; </a:t>
            </a:r>
            <a:r>
              <a:rPr lang="en-US" altLang="ko-KR" sz="1000" dirty="0" err="1"/>
              <a:t>i</a:t>
            </a:r>
            <a:r>
              <a:rPr lang="en-US" altLang="ko-KR" sz="1000" dirty="0"/>
              <a:t>++)</a:t>
            </a:r>
          </a:p>
          <a:p>
            <a:r>
              <a:rPr lang="en-US" altLang="ko-KR" sz="1000" dirty="0" smtClean="0"/>
              <a:t>   {</a:t>
            </a:r>
            <a:endParaRPr lang="en-US" altLang="ko-KR" sz="1000" dirty="0"/>
          </a:p>
          <a:p>
            <a:r>
              <a:rPr lang="en-US" altLang="ko-KR" sz="1000" dirty="0" smtClean="0"/>
              <a:t>      </a:t>
            </a:r>
            <a:r>
              <a:rPr lang="en-US" altLang="ko-KR" sz="1000" dirty="0" err="1" smtClean="0"/>
              <a:t>setBuzzer</a:t>
            </a:r>
            <a:r>
              <a:rPr lang="en-US" altLang="ko-KR" sz="1000" dirty="0" smtClean="0"/>
              <a:t>(2000</a:t>
            </a:r>
            <a:r>
              <a:rPr lang="en-US" altLang="ko-KR" sz="1000" dirty="0"/>
              <a:t>); // 2kHz</a:t>
            </a:r>
            <a:r>
              <a:rPr lang="ko-KR" altLang="en-US" sz="1000" dirty="0"/>
              <a:t>로 세팅</a:t>
            </a:r>
          </a:p>
          <a:p>
            <a:r>
              <a:rPr lang="en-US" altLang="ko-KR" sz="1000" dirty="0" smtClean="0"/>
              <a:t>      </a:t>
            </a:r>
            <a:r>
              <a:rPr lang="en-US" altLang="ko-KR" sz="1000" dirty="0" err="1" smtClean="0"/>
              <a:t>HAL_Delay</a:t>
            </a:r>
            <a:r>
              <a:rPr lang="en-US" altLang="ko-KR" sz="1000" dirty="0" smtClean="0"/>
              <a:t>(500</a:t>
            </a:r>
            <a:r>
              <a:rPr lang="en-US" altLang="ko-KR" sz="1000" dirty="0"/>
              <a:t>);</a:t>
            </a:r>
          </a:p>
          <a:p>
            <a:r>
              <a:rPr lang="en-US" altLang="ko-KR" sz="1000" dirty="0" smtClean="0"/>
              <a:t>     </a:t>
            </a:r>
            <a:r>
              <a:rPr lang="en-US" altLang="ko-KR" sz="1000" dirty="0" err="1" smtClean="0"/>
              <a:t>noTone</a:t>
            </a:r>
            <a:r>
              <a:rPr lang="en-US" altLang="ko-KR" sz="1000" dirty="0"/>
              <a:t>();</a:t>
            </a:r>
          </a:p>
          <a:p>
            <a:r>
              <a:rPr lang="en-US" altLang="ko-KR" sz="1000" dirty="0" smtClean="0"/>
              <a:t>     </a:t>
            </a:r>
            <a:r>
              <a:rPr lang="en-US" altLang="ko-KR" sz="1000" dirty="0" err="1" smtClean="0"/>
              <a:t>HAL_Delay</a:t>
            </a:r>
            <a:r>
              <a:rPr lang="en-US" altLang="ko-KR" sz="1000" dirty="0" smtClean="0"/>
              <a:t>(200);</a:t>
            </a:r>
            <a:endParaRPr lang="en-US" altLang="ko-KR" sz="1000" dirty="0"/>
          </a:p>
          <a:p>
            <a:r>
              <a:rPr lang="en-US" altLang="ko-KR" sz="1000" dirty="0" smtClean="0"/>
              <a:t>   }</a:t>
            </a:r>
            <a:endParaRPr lang="en-US" altLang="ko-KR" sz="1000" dirty="0"/>
          </a:p>
          <a:p>
            <a:r>
              <a:rPr lang="en-US" altLang="ko-KR" sz="1000" dirty="0" smtClean="0"/>
              <a:t>   </a:t>
            </a:r>
            <a:r>
              <a:rPr lang="en-US" altLang="ko-KR" sz="1000" dirty="0" err="1" smtClean="0"/>
              <a:t>HAL_TIM_PWM_Stop</a:t>
            </a:r>
            <a:r>
              <a:rPr lang="en-US" altLang="ko-KR" sz="1000" dirty="0"/>
              <a:t>(&amp;htim1, TIM_CHANNEL_1);</a:t>
            </a:r>
          </a:p>
          <a:p>
            <a:r>
              <a:rPr lang="en-US" altLang="ko-KR" sz="1000" dirty="0"/>
              <a:t>}</a:t>
            </a:r>
          </a:p>
          <a:p>
            <a:r>
              <a:rPr lang="en-US" altLang="ko-KR" sz="1000" b="1" dirty="0"/>
              <a:t>void</a:t>
            </a:r>
            <a:r>
              <a:rPr lang="en-US" altLang="ko-KR" sz="1000" dirty="0"/>
              <a:t> </a:t>
            </a:r>
            <a:r>
              <a:rPr lang="en-US" altLang="ko-KR" sz="1000" b="1" dirty="0" err="1"/>
              <a:t>rrr</a:t>
            </a:r>
            <a:r>
              <a:rPr lang="en-US" altLang="ko-KR" sz="1000" dirty="0"/>
              <a:t>(</a:t>
            </a:r>
            <a:r>
              <a:rPr lang="en-US" altLang="ko-KR" sz="1000" b="1" dirty="0"/>
              <a:t>void</a:t>
            </a:r>
            <a:r>
              <a:rPr lang="en-US" altLang="ko-KR" sz="1000" dirty="0"/>
              <a:t>)</a:t>
            </a:r>
          </a:p>
          <a:p>
            <a:r>
              <a:rPr lang="en-US" altLang="ko-KR" sz="1000" dirty="0"/>
              <a:t>{</a:t>
            </a:r>
          </a:p>
          <a:p>
            <a:r>
              <a:rPr lang="en-US" altLang="ko-KR" sz="1000" dirty="0" smtClean="0"/>
              <a:t>   </a:t>
            </a:r>
            <a:r>
              <a:rPr lang="en-US" altLang="ko-KR" sz="1000" dirty="0" err="1" smtClean="0"/>
              <a:t>HAL_TIM_PWM_Start</a:t>
            </a:r>
            <a:r>
              <a:rPr lang="en-US" altLang="ko-KR" sz="1000" dirty="0"/>
              <a:t>(&amp;htim1, TIM_CHANNEL_1);</a:t>
            </a:r>
          </a:p>
          <a:p>
            <a:endParaRPr lang="en-US" altLang="ko-KR" sz="1000" dirty="0"/>
          </a:p>
          <a:p>
            <a:r>
              <a:rPr lang="en-US" altLang="ko-KR" sz="1000" b="1" dirty="0" smtClean="0"/>
              <a:t>   for</a:t>
            </a:r>
            <a:r>
              <a:rPr lang="en-US" altLang="ko-KR" sz="1000" dirty="0" smtClean="0"/>
              <a:t> </a:t>
            </a:r>
            <a:r>
              <a:rPr lang="en-US" altLang="ko-KR" sz="1000" dirty="0"/>
              <a:t>(</a:t>
            </a:r>
            <a:r>
              <a:rPr lang="en-US" altLang="ko-KR" sz="1000" b="1" dirty="0" err="1"/>
              <a:t>int</a:t>
            </a:r>
            <a:r>
              <a:rPr lang="en-US" altLang="ko-KR" sz="1000" dirty="0"/>
              <a:t> </a:t>
            </a:r>
            <a:r>
              <a:rPr lang="en-US" altLang="ko-KR" sz="1000" dirty="0" err="1"/>
              <a:t>i</a:t>
            </a:r>
            <a:r>
              <a:rPr lang="en-US" altLang="ko-KR" sz="1000" dirty="0"/>
              <a:t>=0; </a:t>
            </a:r>
            <a:r>
              <a:rPr lang="en-US" altLang="ko-KR" sz="1000" dirty="0" err="1"/>
              <a:t>i</a:t>
            </a:r>
            <a:r>
              <a:rPr lang="en-US" altLang="ko-KR" sz="1000" dirty="0"/>
              <a:t> &lt; 20; </a:t>
            </a:r>
            <a:r>
              <a:rPr lang="en-US" altLang="ko-KR" sz="1000" dirty="0" err="1"/>
              <a:t>i</a:t>
            </a:r>
            <a:r>
              <a:rPr lang="en-US" altLang="ko-KR" sz="1000" dirty="0"/>
              <a:t>++)</a:t>
            </a:r>
          </a:p>
          <a:p>
            <a:r>
              <a:rPr lang="en-US" altLang="ko-KR" sz="1000" dirty="0" smtClean="0"/>
              <a:t>   {</a:t>
            </a:r>
            <a:endParaRPr lang="en-US" altLang="ko-KR" sz="1000" dirty="0"/>
          </a:p>
          <a:p>
            <a:r>
              <a:rPr lang="en-US" altLang="ko-KR" sz="1000" dirty="0" smtClean="0"/>
              <a:t>     </a:t>
            </a:r>
            <a:r>
              <a:rPr lang="en-US" altLang="ko-KR" sz="1000" dirty="0" err="1" smtClean="0"/>
              <a:t>setBuzzer</a:t>
            </a:r>
            <a:r>
              <a:rPr lang="en-US" altLang="ko-KR" sz="1000" dirty="0" smtClean="0"/>
              <a:t>(880</a:t>
            </a:r>
            <a:r>
              <a:rPr lang="en-US" altLang="ko-KR" sz="1000" dirty="0"/>
              <a:t>); // 880Hz</a:t>
            </a:r>
            <a:r>
              <a:rPr lang="ko-KR" altLang="en-US" sz="1000" dirty="0"/>
              <a:t>로 세팅</a:t>
            </a:r>
          </a:p>
          <a:p>
            <a:r>
              <a:rPr lang="en-US" altLang="ko-KR" sz="1000" dirty="0" smtClean="0"/>
              <a:t>     </a:t>
            </a:r>
            <a:r>
              <a:rPr lang="en-US" altLang="ko-KR" sz="1000" dirty="0" err="1" smtClean="0"/>
              <a:t>HAL_Delay</a:t>
            </a:r>
            <a:r>
              <a:rPr lang="en-US" altLang="ko-KR" sz="1000" dirty="0" smtClean="0"/>
              <a:t>(100</a:t>
            </a:r>
            <a:r>
              <a:rPr lang="en-US" altLang="ko-KR" sz="1000" dirty="0"/>
              <a:t>);</a:t>
            </a:r>
          </a:p>
          <a:p>
            <a:r>
              <a:rPr lang="en-US" altLang="ko-KR" sz="1000" dirty="0" smtClean="0"/>
              <a:t>    </a:t>
            </a:r>
            <a:r>
              <a:rPr lang="en-US" altLang="ko-KR" sz="1000" dirty="0" err="1" smtClean="0"/>
              <a:t>noTone</a:t>
            </a:r>
            <a:r>
              <a:rPr lang="en-US" altLang="ko-KR" sz="1000" dirty="0"/>
              <a:t>();</a:t>
            </a:r>
          </a:p>
          <a:p>
            <a:r>
              <a:rPr lang="en-US" altLang="ko-KR" sz="1000" dirty="0" smtClean="0"/>
              <a:t>    </a:t>
            </a:r>
            <a:r>
              <a:rPr lang="en-US" altLang="ko-KR" sz="1000" dirty="0" err="1" smtClean="0"/>
              <a:t>HAL_Delay</a:t>
            </a:r>
            <a:r>
              <a:rPr lang="en-US" altLang="ko-KR" sz="1000" dirty="0" smtClean="0"/>
              <a:t>(20);</a:t>
            </a:r>
            <a:endParaRPr lang="en-US" altLang="ko-KR" sz="1000" dirty="0"/>
          </a:p>
          <a:p>
            <a:r>
              <a:rPr lang="en-US" altLang="ko-KR" sz="1000" dirty="0" smtClean="0"/>
              <a:t>   }</a:t>
            </a:r>
            <a:endParaRPr lang="en-US" altLang="ko-KR" sz="1000" dirty="0"/>
          </a:p>
          <a:p>
            <a:r>
              <a:rPr lang="en-US" altLang="ko-KR" sz="1000" dirty="0" smtClean="0"/>
              <a:t>    </a:t>
            </a:r>
            <a:r>
              <a:rPr lang="en-US" altLang="ko-KR" sz="1000" dirty="0" err="1" smtClean="0"/>
              <a:t>HAL_TIM_PWM_Stop</a:t>
            </a:r>
            <a:r>
              <a:rPr lang="en-US" altLang="ko-KR" sz="1000" dirty="0"/>
              <a:t>(&amp;htim1, TIM_CHANNEL_1);</a:t>
            </a:r>
          </a:p>
          <a:p>
            <a:r>
              <a:rPr lang="en-US" altLang="ko-KR" sz="1000" dirty="0"/>
              <a:t>}</a:t>
            </a:r>
          </a:p>
          <a:p>
            <a:r>
              <a:rPr lang="en-US" altLang="ko-KR" sz="1000" dirty="0"/>
              <a:t/>
            </a:r>
            <a:br>
              <a:rPr lang="en-US" altLang="ko-KR" sz="1000" dirty="0"/>
            </a:br>
            <a:endParaRPr lang="en-US" altLang="ko-KR" sz="1000" dirty="0"/>
          </a:p>
          <a:p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073342" y="920187"/>
            <a:ext cx="3167855" cy="43704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void</a:t>
            </a:r>
            <a:r>
              <a:rPr lang="en-US" altLang="ko-KR" sz="1000" dirty="0"/>
              <a:t> </a:t>
            </a:r>
            <a:r>
              <a:rPr lang="en-US" altLang="ko-KR" sz="1000" b="1" dirty="0"/>
              <a:t>siren</a:t>
            </a:r>
            <a:r>
              <a:rPr lang="en-US" altLang="ko-KR" sz="1000" dirty="0"/>
              <a:t>(</a:t>
            </a:r>
            <a:r>
              <a:rPr lang="en-US" altLang="ko-KR" sz="1000" b="1" dirty="0" err="1"/>
              <a:t>int</a:t>
            </a:r>
            <a:r>
              <a:rPr lang="en-US" altLang="ko-KR" sz="1000" dirty="0"/>
              <a:t> repeat)</a:t>
            </a:r>
          </a:p>
          <a:p>
            <a:r>
              <a:rPr lang="en-US" altLang="ko-KR" sz="1000" dirty="0"/>
              <a:t>{</a:t>
            </a:r>
          </a:p>
          <a:p>
            <a:r>
              <a:rPr lang="en-US" altLang="ko-KR" sz="1000" b="1" dirty="0" smtClean="0"/>
              <a:t>   </a:t>
            </a:r>
            <a:r>
              <a:rPr lang="en-US" altLang="ko-KR" sz="1000" b="1" dirty="0" err="1" smtClean="0"/>
              <a:t>int</a:t>
            </a:r>
            <a:r>
              <a:rPr lang="en-US" altLang="ko-KR" sz="1000" dirty="0" smtClean="0"/>
              <a:t> </a:t>
            </a:r>
            <a:r>
              <a:rPr lang="en-US" altLang="ko-KR" sz="1000" dirty="0"/>
              <a:t>frequency=1111; // 1.1kHz</a:t>
            </a:r>
            <a:r>
              <a:rPr lang="ko-KR" altLang="en-US" sz="1000" dirty="0"/>
              <a:t>로 세팅</a:t>
            </a:r>
          </a:p>
          <a:p>
            <a:r>
              <a:rPr lang="ko-KR" altLang="en-US" sz="1000" dirty="0"/>
              <a:t/>
            </a:r>
            <a:br>
              <a:rPr lang="ko-KR" altLang="en-US" sz="1000" dirty="0"/>
            </a:br>
            <a:endParaRPr lang="ko-KR" altLang="en-US" sz="1000" dirty="0"/>
          </a:p>
          <a:p>
            <a:r>
              <a:rPr lang="en-US" altLang="ko-KR" sz="1000" dirty="0" smtClean="0"/>
              <a:t>   </a:t>
            </a:r>
            <a:r>
              <a:rPr lang="en-US" altLang="ko-KR" sz="1000" dirty="0" err="1" smtClean="0"/>
              <a:t>HAL_TIM_PWM_Start</a:t>
            </a:r>
            <a:r>
              <a:rPr lang="en-US" altLang="ko-KR" sz="1000" dirty="0"/>
              <a:t>(&amp;htim1, TIM_CHANNEL_1);</a:t>
            </a:r>
          </a:p>
          <a:p>
            <a:r>
              <a:rPr lang="en-US" altLang="ko-KR" sz="1000" dirty="0"/>
              <a:t/>
            </a:r>
            <a:br>
              <a:rPr lang="en-US" altLang="ko-KR" sz="1000" dirty="0"/>
            </a:br>
            <a:endParaRPr lang="en-US" altLang="ko-KR" sz="1000" dirty="0"/>
          </a:p>
          <a:p>
            <a:r>
              <a:rPr lang="en-US" altLang="ko-KR" sz="1000" b="1" dirty="0" smtClean="0"/>
              <a:t>    for</a:t>
            </a:r>
            <a:r>
              <a:rPr lang="en-US" altLang="ko-KR" sz="1000" dirty="0" smtClean="0"/>
              <a:t> </a:t>
            </a:r>
            <a:r>
              <a:rPr lang="en-US" altLang="ko-KR" sz="1000" dirty="0"/>
              <a:t>(</a:t>
            </a:r>
            <a:r>
              <a:rPr lang="en-US" altLang="ko-KR" sz="1000" b="1" dirty="0" err="1"/>
              <a:t>int</a:t>
            </a:r>
            <a:r>
              <a:rPr lang="en-US" altLang="ko-KR" sz="1000" dirty="0"/>
              <a:t> </a:t>
            </a:r>
            <a:r>
              <a:rPr lang="en-US" altLang="ko-KR" sz="1000" dirty="0" err="1"/>
              <a:t>i</a:t>
            </a:r>
            <a:r>
              <a:rPr lang="en-US" altLang="ko-KR" sz="1000" dirty="0"/>
              <a:t>=0; </a:t>
            </a:r>
            <a:r>
              <a:rPr lang="en-US" altLang="ko-KR" sz="1000" dirty="0" err="1"/>
              <a:t>i</a:t>
            </a:r>
            <a:r>
              <a:rPr lang="en-US" altLang="ko-KR" sz="1000" dirty="0"/>
              <a:t> &lt; repeat; </a:t>
            </a:r>
            <a:r>
              <a:rPr lang="en-US" altLang="ko-KR" sz="1000" dirty="0" err="1"/>
              <a:t>i</a:t>
            </a:r>
            <a:r>
              <a:rPr lang="en-US" altLang="ko-KR" sz="1000" dirty="0"/>
              <a:t>++)</a:t>
            </a:r>
          </a:p>
          <a:p>
            <a:r>
              <a:rPr lang="en-US" altLang="ko-KR" sz="1000" dirty="0" smtClean="0"/>
              <a:t>    {</a:t>
            </a:r>
            <a:endParaRPr lang="en-US" altLang="ko-KR" sz="1000" dirty="0"/>
          </a:p>
          <a:p>
            <a:r>
              <a:rPr lang="en-US" altLang="ko-KR" sz="1000" b="1" dirty="0" smtClean="0"/>
              <a:t>        for</a:t>
            </a:r>
            <a:r>
              <a:rPr lang="en-US" altLang="ko-KR" sz="1000" dirty="0" smtClean="0"/>
              <a:t> </a:t>
            </a:r>
            <a:r>
              <a:rPr lang="en-US" altLang="ko-KR" sz="1000" dirty="0"/>
              <a:t>(</a:t>
            </a:r>
            <a:r>
              <a:rPr lang="en-US" altLang="ko-KR" sz="1000" b="1" dirty="0" err="1"/>
              <a:t>int</a:t>
            </a:r>
            <a:r>
              <a:rPr lang="en-US" altLang="ko-KR" sz="1000" dirty="0"/>
              <a:t> j=0; j &lt; 100; </a:t>
            </a:r>
            <a:r>
              <a:rPr lang="en-US" altLang="ko-KR" sz="1000" dirty="0" err="1"/>
              <a:t>j++</a:t>
            </a:r>
            <a:r>
              <a:rPr lang="en-US" altLang="ko-KR" sz="1000" dirty="0"/>
              <a:t>)</a:t>
            </a:r>
          </a:p>
          <a:p>
            <a:r>
              <a:rPr lang="en-US" altLang="ko-KR" sz="1000" dirty="0" smtClean="0"/>
              <a:t>        {</a:t>
            </a:r>
            <a:endParaRPr lang="en-US" altLang="ko-KR" sz="1000" dirty="0"/>
          </a:p>
          <a:p>
            <a:r>
              <a:rPr lang="en-US" altLang="ko-KR" sz="1000" dirty="0" smtClean="0"/>
              <a:t>            frequency </a:t>
            </a:r>
            <a:r>
              <a:rPr lang="en-US" altLang="ko-KR" sz="1000" dirty="0"/>
              <a:t>+= 100; // 100kHz</a:t>
            </a:r>
            <a:r>
              <a:rPr lang="ko-KR" altLang="en-US" sz="1000" dirty="0"/>
              <a:t>로 </a:t>
            </a:r>
            <a:r>
              <a:rPr lang="en-US" altLang="ko-KR" sz="1000" dirty="0"/>
              <a:t>add</a:t>
            </a:r>
          </a:p>
          <a:p>
            <a:r>
              <a:rPr lang="en-US" altLang="ko-KR" sz="1000" dirty="0" smtClean="0"/>
              <a:t>            </a:t>
            </a:r>
            <a:r>
              <a:rPr lang="en-US" altLang="ko-KR" sz="1000" dirty="0" err="1" smtClean="0"/>
              <a:t>setBuzzer</a:t>
            </a:r>
            <a:r>
              <a:rPr lang="en-US" altLang="ko-KR" sz="1000" dirty="0" smtClean="0"/>
              <a:t>(frequency</a:t>
            </a:r>
            <a:r>
              <a:rPr lang="en-US" altLang="ko-KR" sz="1000" dirty="0"/>
              <a:t>);</a:t>
            </a:r>
          </a:p>
          <a:p>
            <a:r>
              <a:rPr lang="en-US" altLang="ko-KR" sz="1000" dirty="0" smtClean="0"/>
              <a:t>            </a:t>
            </a:r>
            <a:r>
              <a:rPr lang="en-US" altLang="ko-KR" sz="1000" dirty="0" err="1" smtClean="0"/>
              <a:t>HAL_Delay</a:t>
            </a:r>
            <a:r>
              <a:rPr lang="en-US" altLang="ko-KR" sz="1000" dirty="0" smtClean="0"/>
              <a:t>(20</a:t>
            </a:r>
            <a:r>
              <a:rPr lang="en-US" altLang="ko-KR" sz="1000" dirty="0"/>
              <a:t>);</a:t>
            </a:r>
          </a:p>
          <a:p>
            <a:r>
              <a:rPr lang="en-US" altLang="ko-KR" sz="1000" dirty="0" smtClean="0"/>
              <a:t>         }</a:t>
            </a:r>
            <a:endParaRPr lang="en-US" altLang="ko-KR" sz="1000" dirty="0"/>
          </a:p>
          <a:p>
            <a:r>
              <a:rPr lang="en-US" altLang="ko-KR" sz="1000" b="1" dirty="0" smtClean="0"/>
              <a:t>         for</a:t>
            </a:r>
            <a:r>
              <a:rPr lang="en-US" altLang="ko-KR" sz="1000" dirty="0" smtClean="0"/>
              <a:t> </a:t>
            </a:r>
            <a:r>
              <a:rPr lang="en-US" altLang="ko-KR" sz="1000" dirty="0"/>
              <a:t>(</a:t>
            </a:r>
            <a:r>
              <a:rPr lang="en-US" altLang="ko-KR" sz="1000" b="1" dirty="0" err="1"/>
              <a:t>int</a:t>
            </a:r>
            <a:r>
              <a:rPr lang="en-US" altLang="ko-KR" sz="1000" dirty="0"/>
              <a:t> j=0; j &lt; 100; </a:t>
            </a:r>
            <a:r>
              <a:rPr lang="en-US" altLang="ko-KR" sz="1000" dirty="0" err="1"/>
              <a:t>j++</a:t>
            </a:r>
            <a:r>
              <a:rPr lang="en-US" altLang="ko-KR" sz="1000" dirty="0"/>
              <a:t>)</a:t>
            </a:r>
          </a:p>
          <a:p>
            <a:r>
              <a:rPr lang="en-US" altLang="ko-KR" sz="1000" dirty="0" smtClean="0"/>
              <a:t>         {</a:t>
            </a:r>
            <a:endParaRPr lang="en-US" altLang="ko-KR" sz="1000" dirty="0"/>
          </a:p>
          <a:p>
            <a:r>
              <a:rPr lang="en-US" altLang="ko-KR" sz="1000" dirty="0" smtClean="0"/>
              <a:t>             frequency </a:t>
            </a:r>
            <a:r>
              <a:rPr lang="en-US" altLang="ko-KR" sz="1000" dirty="0"/>
              <a:t>-= 100; // sub 100kHz</a:t>
            </a:r>
          </a:p>
          <a:p>
            <a:r>
              <a:rPr lang="en-US" altLang="ko-KR" sz="1000" dirty="0" smtClean="0"/>
              <a:t>             </a:t>
            </a:r>
            <a:r>
              <a:rPr lang="en-US" altLang="ko-KR" sz="1000" dirty="0" err="1" smtClean="0"/>
              <a:t>setBuzzer</a:t>
            </a:r>
            <a:r>
              <a:rPr lang="en-US" altLang="ko-KR" sz="1000" dirty="0" smtClean="0"/>
              <a:t>(frequency</a:t>
            </a:r>
            <a:r>
              <a:rPr lang="en-US" altLang="ko-KR" sz="1000" dirty="0"/>
              <a:t>); // 100kHz</a:t>
            </a:r>
            <a:r>
              <a:rPr lang="ko-KR" altLang="en-US" sz="1000" dirty="0"/>
              <a:t>로 세팅</a:t>
            </a:r>
          </a:p>
          <a:p>
            <a:r>
              <a:rPr lang="en-US" altLang="ko-KR" sz="1000" dirty="0" smtClean="0"/>
              <a:t>             </a:t>
            </a:r>
            <a:r>
              <a:rPr lang="en-US" altLang="ko-KR" sz="1000" dirty="0" err="1" smtClean="0"/>
              <a:t>HAL_Delay</a:t>
            </a:r>
            <a:r>
              <a:rPr lang="en-US" altLang="ko-KR" sz="1000" dirty="0" smtClean="0"/>
              <a:t>(20</a:t>
            </a:r>
            <a:r>
              <a:rPr lang="en-US" altLang="ko-KR" sz="1000" dirty="0"/>
              <a:t>);</a:t>
            </a:r>
          </a:p>
          <a:p>
            <a:r>
              <a:rPr lang="en-US" altLang="ko-KR" sz="1000" dirty="0" smtClean="0"/>
              <a:t>          }</a:t>
            </a:r>
            <a:endParaRPr lang="en-US" altLang="ko-KR" sz="1000" dirty="0"/>
          </a:p>
          <a:p>
            <a:r>
              <a:rPr lang="en-US" altLang="ko-KR" sz="1000" dirty="0" smtClean="0"/>
              <a:t>          </a:t>
            </a:r>
            <a:r>
              <a:rPr lang="en-US" altLang="ko-KR" sz="1000" dirty="0" err="1" smtClean="0"/>
              <a:t>noTone</a:t>
            </a:r>
            <a:r>
              <a:rPr lang="en-US" altLang="ko-KR" sz="1000" dirty="0" smtClean="0"/>
              <a:t>();</a:t>
            </a:r>
            <a:endParaRPr lang="en-US" altLang="ko-KR" sz="1000" dirty="0"/>
          </a:p>
          <a:p>
            <a:r>
              <a:rPr lang="en-US" altLang="ko-KR" sz="1000" dirty="0" smtClean="0"/>
              <a:t>    }</a:t>
            </a:r>
            <a:endParaRPr lang="en-US" altLang="ko-KR" sz="1000" dirty="0"/>
          </a:p>
          <a:p>
            <a:r>
              <a:rPr lang="en-US" altLang="ko-KR" sz="1000" dirty="0" smtClean="0"/>
              <a:t>    </a:t>
            </a:r>
            <a:r>
              <a:rPr lang="en-US" altLang="ko-KR" sz="1000" dirty="0" err="1" smtClean="0"/>
              <a:t>HAL_TIM_PWM_Stop</a:t>
            </a:r>
            <a:r>
              <a:rPr lang="en-US" altLang="ko-KR" sz="1000" dirty="0"/>
              <a:t>(&amp;htim1, TIM_CHANNEL_1);</a:t>
            </a:r>
          </a:p>
          <a:p>
            <a:r>
              <a:rPr lang="en-US" altLang="ko-KR" sz="1000" dirty="0"/>
              <a:t>}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2148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/>
        </p:nvSpPr>
        <p:spPr>
          <a:xfrm>
            <a:off x="11438792" y="-2"/>
            <a:ext cx="753207" cy="753207"/>
          </a:xfrm>
          <a:prstGeom prst="rtTriangle">
            <a:avLst/>
          </a:prstGeom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379" y="222713"/>
            <a:ext cx="4725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en-US" altLang="ko-KR" sz="2800" b="1" dirty="0"/>
              <a:t>Piezo </a:t>
            </a:r>
            <a:r>
              <a:rPr lang="en-US" altLang="ko-KR" sz="2800" b="1" dirty="0" smtClean="0"/>
              <a:t>Buzzer(STM32F411)</a:t>
            </a:r>
            <a:endParaRPr lang="en-US" altLang="ko-KR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04694" y="234340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8274" y="858713"/>
            <a:ext cx="266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67832" y="858713"/>
            <a:ext cx="486807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void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close_buzzer</a:t>
            </a:r>
            <a:r>
              <a:rPr lang="en-US" altLang="ko-KR" sz="800" dirty="0"/>
              <a:t>()</a:t>
            </a:r>
          </a:p>
          <a:p>
            <a:r>
              <a:rPr lang="en-US" altLang="ko-KR" sz="800" dirty="0"/>
              <a:t>{</a:t>
            </a:r>
          </a:p>
          <a:p>
            <a:pPr lvl="1"/>
            <a:r>
              <a:rPr lang="en-US" altLang="ko-KR" sz="800" dirty="0" err="1"/>
              <a:t>HAL_TIM_PWM_Start</a:t>
            </a:r>
            <a:r>
              <a:rPr lang="en-US" altLang="ko-KR" sz="800" dirty="0"/>
              <a:t>(&amp;htim1, TIM_CHANNEL_1);</a:t>
            </a:r>
          </a:p>
          <a:p>
            <a:pPr lvl="1"/>
            <a:r>
              <a:rPr lang="en-US" altLang="ko-KR" sz="800" dirty="0"/>
              <a:t/>
            </a:r>
            <a:br>
              <a:rPr lang="en-US" altLang="ko-KR" sz="800" dirty="0"/>
            </a:br>
            <a:endParaRPr lang="en-US" altLang="ko-KR" sz="800" dirty="0"/>
          </a:p>
          <a:p>
            <a:pPr lvl="1"/>
            <a:r>
              <a:rPr lang="en-US" altLang="ko-KR" sz="800" dirty="0" err="1"/>
              <a:t>setBuzzer</a:t>
            </a:r>
            <a:r>
              <a:rPr lang="en-US" altLang="ko-KR" sz="800" dirty="0"/>
              <a:t>(1000); // 1kHz</a:t>
            </a:r>
            <a:r>
              <a:rPr lang="ko-KR" altLang="en-US" sz="800" dirty="0"/>
              <a:t>로 세팅</a:t>
            </a:r>
          </a:p>
          <a:p>
            <a:pPr lvl="1"/>
            <a:r>
              <a:rPr lang="en-US" altLang="ko-KR" sz="800" dirty="0" err="1"/>
              <a:t>HAL_Delay</a:t>
            </a:r>
            <a:r>
              <a:rPr lang="en-US" altLang="ko-KR" sz="800" dirty="0"/>
              <a:t>(70);</a:t>
            </a:r>
          </a:p>
          <a:p>
            <a:pPr lvl="1"/>
            <a:r>
              <a:rPr lang="en-US" altLang="ko-KR" sz="800" dirty="0" err="1"/>
              <a:t>setBuzzer</a:t>
            </a:r>
            <a:r>
              <a:rPr lang="en-US" altLang="ko-KR" sz="800" dirty="0"/>
              <a:t>(2000); // 2kHz</a:t>
            </a:r>
            <a:r>
              <a:rPr lang="ko-KR" altLang="en-US" sz="800" dirty="0"/>
              <a:t>로 세팅</a:t>
            </a:r>
          </a:p>
          <a:p>
            <a:pPr lvl="1"/>
            <a:r>
              <a:rPr lang="en-US" altLang="ko-KR" sz="800" dirty="0" err="1"/>
              <a:t>HAL_Delay</a:t>
            </a:r>
            <a:r>
              <a:rPr lang="en-US" altLang="ko-KR" sz="800" dirty="0"/>
              <a:t>(70);</a:t>
            </a:r>
          </a:p>
          <a:p>
            <a:pPr lvl="1"/>
            <a:r>
              <a:rPr lang="en-US" altLang="ko-KR" sz="800" dirty="0" err="1"/>
              <a:t>setBuzzer</a:t>
            </a:r>
            <a:r>
              <a:rPr lang="en-US" altLang="ko-KR" sz="800" dirty="0"/>
              <a:t>(3000); // 3kHz</a:t>
            </a:r>
            <a:r>
              <a:rPr lang="ko-KR" altLang="en-US" sz="800" dirty="0"/>
              <a:t>로 세팅</a:t>
            </a:r>
          </a:p>
          <a:p>
            <a:pPr lvl="1"/>
            <a:r>
              <a:rPr lang="en-US" altLang="ko-KR" sz="800" dirty="0" err="1"/>
              <a:t>HAL_Delay</a:t>
            </a:r>
            <a:r>
              <a:rPr lang="en-US" altLang="ko-KR" sz="800" dirty="0"/>
              <a:t>(70);</a:t>
            </a:r>
          </a:p>
          <a:p>
            <a:pPr lvl="1"/>
            <a:r>
              <a:rPr lang="en-US" altLang="ko-KR" sz="800" dirty="0" err="1"/>
              <a:t>setBuzzer</a:t>
            </a:r>
            <a:r>
              <a:rPr lang="en-US" altLang="ko-KR" sz="800" dirty="0"/>
              <a:t>(4000); // 4kHz</a:t>
            </a:r>
            <a:r>
              <a:rPr lang="ko-KR" altLang="en-US" sz="800" dirty="0"/>
              <a:t>로 세팅</a:t>
            </a:r>
          </a:p>
          <a:p>
            <a:pPr lvl="1"/>
            <a:r>
              <a:rPr lang="en-US" altLang="ko-KR" sz="800" dirty="0" err="1"/>
              <a:t>HAL_Delay</a:t>
            </a:r>
            <a:r>
              <a:rPr lang="en-US" altLang="ko-KR" sz="800" dirty="0"/>
              <a:t>(70);</a:t>
            </a:r>
          </a:p>
          <a:p>
            <a:pPr lvl="1"/>
            <a:r>
              <a:rPr lang="en-US" altLang="ko-KR" sz="800" dirty="0"/>
              <a:t/>
            </a:r>
            <a:br>
              <a:rPr lang="en-US" altLang="ko-KR" sz="800" dirty="0"/>
            </a:br>
            <a:endParaRPr lang="en-US" altLang="ko-KR" sz="800" dirty="0"/>
          </a:p>
          <a:p>
            <a:pPr lvl="1"/>
            <a:r>
              <a:rPr lang="en-US" altLang="ko-KR" sz="800" dirty="0" err="1"/>
              <a:t>HAL_TIM_PWM_Stop</a:t>
            </a:r>
            <a:r>
              <a:rPr lang="en-US" altLang="ko-KR" sz="800" dirty="0"/>
              <a:t>(&amp;htim1, TIM_CHANNEL_1);</a:t>
            </a:r>
          </a:p>
          <a:p>
            <a:r>
              <a:rPr lang="en-US" altLang="ko-KR" sz="800" dirty="0"/>
              <a:t>}</a:t>
            </a:r>
          </a:p>
          <a:p>
            <a:r>
              <a:rPr lang="en-US" altLang="ko-KR" sz="800" dirty="0"/>
              <a:t/>
            </a:r>
            <a:br>
              <a:rPr lang="en-US" altLang="ko-KR" sz="800" dirty="0"/>
            </a:br>
            <a:endParaRPr lang="en-US" altLang="ko-KR" sz="800" dirty="0"/>
          </a:p>
          <a:p>
            <a:r>
              <a:rPr lang="en-US" altLang="ko-KR" sz="800" b="1" dirty="0"/>
              <a:t>void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open_Buzzer</a:t>
            </a:r>
            <a:r>
              <a:rPr lang="en-US" altLang="ko-KR" sz="800" dirty="0"/>
              <a:t>()</a:t>
            </a:r>
          </a:p>
          <a:p>
            <a:r>
              <a:rPr lang="en-US" altLang="ko-KR" sz="800" dirty="0" smtClean="0"/>
              <a:t>{</a:t>
            </a:r>
            <a:endParaRPr lang="en-US" altLang="ko-KR" sz="800" dirty="0"/>
          </a:p>
          <a:p>
            <a:pPr lvl="1"/>
            <a:r>
              <a:rPr lang="en-US" altLang="ko-KR" sz="800" dirty="0" err="1"/>
              <a:t>HAL_TIM_PWM_Start</a:t>
            </a:r>
            <a:r>
              <a:rPr lang="en-US" altLang="ko-KR" sz="800" dirty="0"/>
              <a:t>(&amp;htim1, TIM_CHANNEL_1);</a:t>
            </a:r>
          </a:p>
          <a:p>
            <a:pPr lvl="1"/>
            <a:r>
              <a:rPr lang="en-US" altLang="ko-KR" sz="800" dirty="0"/>
              <a:t/>
            </a:r>
            <a:br>
              <a:rPr lang="en-US" altLang="ko-KR" sz="800" dirty="0"/>
            </a:br>
            <a:endParaRPr lang="en-US" altLang="ko-KR" sz="800" dirty="0"/>
          </a:p>
          <a:p>
            <a:pPr lvl="1"/>
            <a:r>
              <a:rPr lang="en-US" altLang="ko-KR" sz="800" dirty="0" err="1"/>
              <a:t>setBuzzer</a:t>
            </a:r>
            <a:r>
              <a:rPr lang="en-US" altLang="ko-KR" sz="800" dirty="0"/>
              <a:t>(261); // 261Hz</a:t>
            </a:r>
            <a:r>
              <a:rPr lang="ko-KR" altLang="en-US" sz="800" dirty="0"/>
              <a:t>로 세팅</a:t>
            </a:r>
          </a:p>
          <a:p>
            <a:pPr lvl="1"/>
            <a:r>
              <a:rPr lang="en-US" altLang="ko-KR" sz="800" dirty="0" err="1"/>
              <a:t>HAL_Delay</a:t>
            </a:r>
            <a:r>
              <a:rPr lang="en-US" altLang="ko-KR" sz="800" dirty="0"/>
              <a:t>(70);</a:t>
            </a:r>
          </a:p>
          <a:p>
            <a:pPr lvl="1"/>
            <a:r>
              <a:rPr lang="en-US" altLang="ko-KR" sz="800" dirty="0" err="1"/>
              <a:t>setBuzzer</a:t>
            </a:r>
            <a:r>
              <a:rPr lang="en-US" altLang="ko-KR" sz="800" dirty="0"/>
              <a:t>(329); // 329Hz</a:t>
            </a:r>
            <a:r>
              <a:rPr lang="ko-KR" altLang="en-US" sz="800" dirty="0"/>
              <a:t>로 세팅</a:t>
            </a:r>
          </a:p>
          <a:p>
            <a:pPr lvl="1"/>
            <a:r>
              <a:rPr lang="en-US" altLang="ko-KR" sz="800" dirty="0" err="1"/>
              <a:t>HAL_Delay</a:t>
            </a:r>
            <a:r>
              <a:rPr lang="en-US" altLang="ko-KR" sz="800" dirty="0"/>
              <a:t>(70);</a:t>
            </a:r>
          </a:p>
          <a:p>
            <a:pPr lvl="1"/>
            <a:r>
              <a:rPr lang="en-US" altLang="ko-KR" sz="800" dirty="0" err="1"/>
              <a:t>setBuzzer</a:t>
            </a:r>
            <a:r>
              <a:rPr lang="en-US" altLang="ko-KR" sz="800" dirty="0"/>
              <a:t>(392); // 392Hz</a:t>
            </a:r>
            <a:r>
              <a:rPr lang="ko-KR" altLang="en-US" sz="800" dirty="0"/>
              <a:t>로 세팅</a:t>
            </a:r>
          </a:p>
          <a:p>
            <a:pPr lvl="1"/>
            <a:r>
              <a:rPr lang="en-US" altLang="ko-KR" sz="800" dirty="0" err="1"/>
              <a:t>HAL_Delay</a:t>
            </a:r>
            <a:r>
              <a:rPr lang="en-US" altLang="ko-KR" sz="800" dirty="0"/>
              <a:t>(70);</a:t>
            </a:r>
          </a:p>
          <a:p>
            <a:pPr lvl="1"/>
            <a:r>
              <a:rPr lang="en-US" altLang="ko-KR" sz="800" dirty="0" err="1"/>
              <a:t>setBuzzer</a:t>
            </a:r>
            <a:r>
              <a:rPr lang="en-US" altLang="ko-KR" sz="800" dirty="0"/>
              <a:t>(554); // 554Hz</a:t>
            </a:r>
            <a:r>
              <a:rPr lang="ko-KR" altLang="en-US" sz="800" dirty="0"/>
              <a:t>로 세팅</a:t>
            </a:r>
          </a:p>
          <a:p>
            <a:pPr lvl="1"/>
            <a:r>
              <a:rPr lang="en-US" altLang="ko-KR" sz="800" dirty="0" err="1"/>
              <a:t>HAL_Delay</a:t>
            </a:r>
            <a:r>
              <a:rPr lang="en-US" altLang="ko-KR" sz="800" dirty="0"/>
              <a:t>(70);</a:t>
            </a:r>
          </a:p>
          <a:p>
            <a:pPr lvl="1"/>
            <a:r>
              <a:rPr lang="en-US" altLang="ko-KR" sz="800" dirty="0"/>
              <a:t/>
            </a:r>
            <a:br>
              <a:rPr lang="en-US" altLang="ko-KR" sz="800" dirty="0"/>
            </a:br>
            <a:endParaRPr lang="en-US" altLang="ko-KR" sz="800" dirty="0"/>
          </a:p>
          <a:p>
            <a:pPr lvl="1"/>
            <a:r>
              <a:rPr lang="en-US" altLang="ko-KR" sz="800" dirty="0" err="1"/>
              <a:t>HAL_TIM_PWM_Stop</a:t>
            </a:r>
            <a:r>
              <a:rPr lang="en-US" altLang="ko-KR" sz="800" dirty="0"/>
              <a:t>(&amp;htim1, TIM_CHANNEL_1);</a:t>
            </a:r>
          </a:p>
          <a:p>
            <a:r>
              <a:rPr lang="en-US" altLang="ko-KR" sz="800" dirty="0" smtClean="0"/>
              <a:t>}</a:t>
            </a:r>
            <a:endParaRPr lang="en-US" altLang="ko-KR" sz="800" dirty="0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128572"/>
            <a:ext cx="9297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ea typeface="Pretendard Variable"/>
              </a:rPr>
              <a:t>.</a:t>
            </a: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retendard Variable"/>
              </a:rPr>
              <a:t> 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3239" y="759971"/>
            <a:ext cx="113054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altLang="ko-KR" dirty="0" smtClean="0"/>
          </a:p>
          <a:p>
            <a:pPr fontAlgn="base"/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352784" y="858713"/>
            <a:ext cx="5934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 smtClean="0"/>
              <a:t> </a:t>
            </a:r>
            <a:endParaRPr lang="en-US" altLang="ko-KR" sz="1000" dirty="0"/>
          </a:p>
          <a:p>
            <a:r>
              <a:rPr lang="en-US" altLang="ko-KR" sz="1200" dirty="0" smtClean="0"/>
              <a:t>   </a:t>
            </a:r>
            <a:r>
              <a:rPr lang="en-US" altLang="ko-KR" dirty="0" smtClean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72507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5036</TotalTime>
  <Words>1515</Words>
  <Application>Microsoft Office PowerPoint</Application>
  <PresentationFormat>와이드스크린</PresentationFormat>
  <Paragraphs>876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2" baseType="lpstr">
      <vt:lpstr>inherit</vt:lpstr>
      <vt:lpstr>Noto Sans KR</vt:lpstr>
      <vt:lpstr>Pretendard Variable</vt:lpstr>
      <vt:lpstr>se-nanumgothic</vt:lpstr>
      <vt:lpstr>Source Code Pro</vt:lpstr>
      <vt:lpstr>TT Norms Pro</vt:lpstr>
      <vt:lpstr>돋움</vt:lpstr>
      <vt:lpstr>맑은 고딕</vt:lpstr>
      <vt:lpstr>Arial</vt:lpstr>
      <vt:lpstr>Office 테마</vt:lpstr>
      <vt:lpstr>PowerPoint 프레젠테이션</vt:lpstr>
      <vt:lpstr>PowerPoint 프레젠테이션</vt:lpstr>
      <vt:lpstr>구형파 생성 방법 (1번/3번 타이머/카운터 사용)</vt:lpstr>
      <vt:lpstr>음과 주파수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kccistc</dc:creator>
  <cp:lastModifiedBy>user</cp:lastModifiedBy>
  <cp:revision>541</cp:revision>
  <dcterms:created xsi:type="dcterms:W3CDTF">2021-09-16T07:35:26Z</dcterms:created>
  <dcterms:modified xsi:type="dcterms:W3CDTF">2026-06-24T12:32:33Z</dcterms:modified>
</cp:coreProperties>
</file>