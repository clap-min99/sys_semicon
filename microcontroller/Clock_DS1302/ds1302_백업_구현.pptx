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57" r:id="rId4"/>
    <p:sldId id="264" r:id="rId5"/>
    <p:sldId id="268" r:id="rId6"/>
    <p:sldId id="269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Noto Sans CJK KR Bold" panose="020B0600000101010101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4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12" y="723900"/>
            <a:ext cx="18288000" cy="11607800"/>
          </a:xfrm>
          <a:prstGeom prst="rect">
            <a:avLst/>
          </a:prstGeom>
          <a:effectLst>
            <a:outerShdw blurRad="1342904" dist="178647" dir="16020000">
              <a:srgbClr val="000000">
                <a:alpha val="19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1100" y="3987800"/>
            <a:ext cx="698500" cy="101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28800" y="3454400"/>
            <a:ext cx="9944100" cy="198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spc="-100" dirty="0">
                <a:solidFill>
                  <a:srgbClr val="424835"/>
                </a:solidFill>
                <a:latin typeface="Noto Sans CJK KR Bold"/>
              </a:rPr>
              <a:t>DS1302 DATASHEET </a:t>
            </a:r>
            <a:r>
              <a:rPr lang="ko-KR" sz="6000" b="0" i="0" u="none" strike="noStrike" spc="-100" dirty="0">
                <a:solidFill>
                  <a:srgbClr val="424835"/>
                </a:solidFill>
                <a:ea typeface="Noto Sans CJK KR Bold"/>
              </a:rPr>
              <a:t>분석</a:t>
            </a:r>
            <a:r>
              <a:rPr lang="en-US" sz="6000" b="0" i="0" u="none" strike="noStrike" spc="-100" dirty="0">
                <a:solidFill>
                  <a:srgbClr val="424835"/>
                </a:solidFill>
                <a:latin typeface="Noto Sans CJK KR Bold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en-US" sz="6000" b="0" i="0" u="none" strike="noStrike" spc="-100" dirty="0" smtClean="0">
                <a:solidFill>
                  <a:srgbClr val="424835"/>
                </a:solidFill>
                <a:latin typeface="Noto Sans CJK KR Bold"/>
              </a:rPr>
              <a:t> </a:t>
            </a:r>
            <a:endParaRPr lang="ko-KR" sz="6000" b="0" i="0" u="none" strike="noStrike" spc="-100" dirty="0">
              <a:solidFill>
                <a:srgbClr val="424835"/>
              </a:solidFill>
              <a:ea typeface="Noto Sans CJK K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8C23A-BED0-6B8B-8171-EB378931B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CC45689-31BB-93A4-E434-911AF3B57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100"/>
            <a:ext cx="18288000" cy="7023100"/>
          </a:xfrm>
          <a:prstGeom prst="rect">
            <a:avLst/>
          </a:prstGeom>
          <a:effectLst>
            <a:outerShdw blurRad="491667" dir="5400000">
              <a:srgbClr val="000000">
                <a:alpha val="19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FA2D6F8-E353-0590-D536-E3F642E19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698750"/>
            <a:ext cx="13017500" cy="50038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B4563E8-64D8-9BC2-267C-DA74A943B30F}"/>
              </a:ext>
            </a:extLst>
          </p:cNvPr>
          <p:cNvSpPr/>
          <p:nvPr/>
        </p:nvSpPr>
        <p:spPr>
          <a:xfrm>
            <a:off x="3048000" y="3238500"/>
            <a:ext cx="990600" cy="421005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97DE62-6689-1103-44D7-74B5A17DB14C}"/>
              </a:ext>
            </a:extLst>
          </p:cNvPr>
          <p:cNvSpPr/>
          <p:nvPr/>
        </p:nvSpPr>
        <p:spPr>
          <a:xfrm>
            <a:off x="4191000" y="3238500"/>
            <a:ext cx="990600" cy="4210050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CADC5-ECB2-603E-0FC3-F5D8D318446D}"/>
              </a:ext>
            </a:extLst>
          </p:cNvPr>
          <p:cNvSpPr txBox="1"/>
          <p:nvPr/>
        </p:nvSpPr>
        <p:spPr>
          <a:xfrm>
            <a:off x="3048000" y="7574471"/>
            <a:ext cx="390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READ</a:t>
            </a:r>
            <a:r>
              <a:rPr lang="ko-KR" altLang="en-US" b="1" dirty="0">
                <a:solidFill>
                  <a:srgbClr val="FF0000"/>
                </a:solidFill>
              </a:rPr>
              <a:t>를 하기위해 사용해야 하는 주소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1F95C-56CC-84C5-98B7-9A838BEAEB83}"/>
              </a:ext>
            </a:extLst>
          </p:cNvPr>
          <p:cNvSpPr txBox="1"/>
          <p:nvPr/>
        </p:nvSpPr>
        <p:spPr>
          <a:xfrm>
            <a:off x="3048000" y="7988300"/>
            <a:ext cx="400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WRITE</a:t>
            </a:r>
            <a:r>
              <a:rPr lang="ko-KR" altLang="en-US" b="1" dirty="0">
                <a:solidFill>
                  <a:srgbClr val="0070C0"/>
                </a:solidFill>
              </a:rPr>
              <a:t>를 하기위해 사용해야 하는 주소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964D72BF-B108-1DE6-1879-A991EF2E5CAD}"/>
              </a:ext>
            </a:extLst>
          </p:cNvPr>
          <p:cNvSpPr txBox="1"/>
          <p:nvPr/>
        </p:nvSpPr>
        <p:spPr>
          <a:xfrm>
            <a:off x="6102350" y="749157"/>
            <a:ext cx="60833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DS1302</a:t>
            </a:r>
            <a:r>
              <a:rPr lang="ko-KR" altLang="en-US" sz="3800" spc="-100" dirty="0">
                <a:solidFill>
                  <a:srgbClr val="424835"/>
                </a:solidFill>
                <a:ea typeface="Noto Sans CJK KR Bold"/>
              </a:rPr>
              <a:t>의 </a:t>
            </a: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ADDRESS</a:t>
            </a:r>
            <a:endParaRPr lang="ko-KR" altLang="en-US" sz="3800" b="1" spc="-100" dirty="0">
              <a:solidFill>
                <a:srgbClr val="424835"/>
              </a:solidFill>
              <a:ea typeface="Noto Sans CJK KR Bold"/>
            </a:endParaRPr>
          </a:p>
        </p:txBody>
      </p:sp>
    </p:spTree>
    <p:extLst>
      <p:ext uri="{BB962C8B-B14F-4D97-AF65-F5344CB8AC3E}">
        <p14:creationId xmlns:p14="http://schemas.microsoft.com/office/powerpoint/2010/main" val="134342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100"/>
            <a:ext cx="18288000" cy="7023100"/>
          </a:xfrm>
          <a:prstGeom prst="rect">
            <a:avLst/>
          </a:prstGeom>
          <a:effectLst>
            <a:outerShdw blurRad="491667" dir="5400000">
              <a:srgbClr val="000000">
                <a:alpha val="19000"/>
              </a:srgbClr>
            </a:outerShdw>
          </a:effectLst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CE3A3712-62F3-AC3E-122B-6A044C8213D0}"/>
              </a:ext>
            </a:extLst>
          </p:cNvPr>
          <p:cNvSpPr txBox="1"/>
          <p:nvPr/>
        </p:nvSpPr>
        <p:spPr>
          <a:xfrm>
            <a:off x="6102350" y="749157"/>
            <a:ext cx="60833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DS1302 READ DATA </a:t>
            </a:r>
            <a:endParaRPr lang="ko-KR" altLang="en-US" sz="3800" b="1" spc="-100" dirty="0">
              <a:solidFill>
                <a:srgbClr val="424835"/>
              </a:solidFill>
              <a:ea typeface="Noto Sans CJK KR Bold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A8B4E25-5946-2849-ED21-FD4ACB737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090780"/>
            <a:ext cx="15197922" cy="4219739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382DEA6-9234-DFB0-14F8-2CD488DF8226}"/>
              </a:ext>
            </a:extLst>
          </p:cNvPr>
          <p:cNvCxnSpPr>
            <a:cxnSpLocks/>
          </p:cNvCxnSpPr>
          <p:nvPr/>
        </p:nvCxnSpPr>
        <p:spPr>
          <a:xfrm flipV="1">
            <a:off x="3352800" y="4476751"/>
            <a:ext cx="0" cy="6667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6905D6E-E5DF-59AE-23D1-A2FC794A38A7}"/>
              </a:ext>
            </a:extLst>
          </p:cNvPr>
          <p:cNvSpPr txBox="1"/>
          <p:nvPr/>
        </p:nvSpPr>
        <p:spPr>
          <a:xfrm>
            <a:off x="3048000" y="4158664"/>
            <a:ext cx="379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CLK</a:t>
            </a:r>
            <a:r>
              <a:rPr lang="ko-KR" altLang="en-US" b="1" dirty="0">
                <a:solidFill>
                  <a:srgbClr val="FF0000"/>
                </a:solidFill>
              </a:rPr>
              <a:t>의 상승 </a:t>
            </a:r>
            <a:r>
              <a:rPr lang="ko-KR" altLang="en-US" b="1" dirty="0" err="1">
                <a:solidFill>
                  <a:srgbClr val="FF0000"/>
                </a:solidFill>
              </a:rPr>
              <a:t>엣지에</a:t>
            </a:r>
            <a:r>
              <a:rPr lang="ko-KR" altLang="en-US" b="1" dirty="0">
                <a:solidFill>
                  <a:srgbClr val="FF0000"/>
                </a:solidFill>
              </a:rPr>
              <a:t> 맞춰 비트를 전송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4B051A-6593-EC20-281F-9DAA089281D0}"/>
              </a:ext>
            </a:extLst>
          </p:cNvPr>
          <p:cNvSpPr txBox="1"/>
          <p:nvPr/>
        </p:nvSpPr>
        <p:spPr>
          <a:xfrm>
            <a:off x="3048000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CB5DE2-5276-9E36-3364-E32E51573EFD}"/>
              </a:ext>
            </a:extLst>
          </p:cNvPr>
          <p:cNvSpPr txBox="1"/>
          <p:nvPr/>
        </p:nvSpPr>
        <p:spPr>
          <a:xfrm>
            <a:off x="3791599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3FDA61-D85A-CD80-B6F6-9B0611C4B511}"/>
              </a:ext>
            </a:extLst>
          </p:cNvPr>
          <p:cNvSpPr txBox="1"/>
          <p:nvPr/>
        </p:nvSpPr>
        <p:spPr>
          <a:xfrm>
            <a:off x="4535198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EBEFAC-97DD-A10F-9AF6-390757377578}"/>
              </a:ext>
            </a:extLst>
          </p:cNvPr>
          <p:cNvSpPr txBox="1"/>
          <p:nvPr/>
        </p:nvSpPr>
        <p:spPr>
          <a:xfrm>
            <a:off x="5278797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CA3323-48E0-C8B3-BE4D-03850CFA2839}"/>
              </a:ext>
            </a:extLst>
          </p:cNvPr>
          <p:cNvSpPr txBox="1"/>
          <p:nvPr/>
        </p:nvSpPr>
        <p:spPr>
          <a:xfrm>
            <a:off x="6022396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9FA561-7601-C1EA-4B57-920D8A832C49}"/>
              </a:ext>
            </a:extLst>
          </p:cNvPr>
          <p:cNvSpPr txBox="1"/>
          <p:nvPr/>
        </p:nvSpPr>
        <p:spPr>
          <a:xfrm>
            <a:off x="6765995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9DB4B3-E57A-7BAA-6F5E-289D8BC9A0DA}"/>
              </a:ext>
            </a:extLst>
          </p:cNvPr>
          <p:cNvSpPr txBox="1"/>
          <p:nvPr/>
        </p:nvSpPr>
        <p:spPr>
          <a:xfrm>
            <a:off x="7509594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1F1FC8-6A27-96F7-71EF-2BA5C1D0AD8E}"/>
              </a:ext>
            </a:extLst>
          </p:cNvPr>
          <p:cNvSpPr txBox="1"/>
          <p:nvPr/>
        </p:nvSpPr>
        <p:spPr>
          <a:xfrm>
            <a:off x="8253193" y="6778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74D35D3-6D79-34CE-A60E-B52E3F7DEAB5}"/>
              </a:ext>
            </a:extLst>
          </p:cNvPr>
          <p:cNvCxnSpPr>
            <a:cxnSpLocks/>
          </p:cNvCxnSpPr>
          <p:nvPr/>
        </p:nvCxnSpPr>
        <p:spPr>
          <a:xfrm flipH="1">
            <a:off x="2895600" y="7513841"/>
            <a:ext cx="565927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E097D59-3EB0-95E0-5AE8-49CB4B1C07BC}"/>
              </a:ext>
            </a:extLst>
          </p:cNvPr>
          <p:cNvSpPr txBox="1"/>
          <p:nvPr/>
        </p:nvSpPr>
        <p:spPr>
          <a:xfrm>
            <a:off x="5292925" y="7074659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7030A0"/>
                </a:solidFill>
              </a:rPr>
              <a:t>읽는 방향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D4F1AC-B912-BEF9-FFF5-27E891CDD470}"/>
              </a:ext>
            </a:extLst>
          </p:cNvPr>
          <p:cNvSpPr txBox="1"/>
          <p:nvPr/>
        </p:nvSpPr>
        <p:spPr>
          <a:xfrm>
            <a:off x="4227184" y="7743689"/>
            <a:ext cx="3239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0x81=READ_SECONDS ADDRESS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AA19603-26CE-ED0E-944A-FF1BDA88EB83}"/>
              </a:ext>
            </a:extLst>
          </p:cNvPr>
          <p:cNvCxnSpPr>
            <a:cxnSpLocks/>
          </p:cNvCxnSpPr>
          <p:nvPr/>
        </p:nvCxnSpPr>
        <p:spPr>
          <a:xfrm flipV="1">
            <a:off x="8836276" y="4425506"/>
            <a:ext cx="0" cy="66674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3223515-B263-E8D2-6065-0D90A2BD9F29}"/>
              </a:ext>
            </a:extLst>
          </p:cNvPr>
          <p:cNvSpPr txBox="1"/>
          <p:nvPr/>
        </p:nvSpPr>
        <p:spPr>
          <a:xfrm>
            <a:off x="7258852" y="4010993"/>
            <a:ext cx="3796232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CLK</a:t>
            </a:r>
            <a:r>
              <a:rPr lang="ko-KR" altLang="en-US" b="1" dirty="0">
                <a:solidFill>
                  <a:srgbClr val="0070C0"/>
                </a:solidFill>
              </a:rPr>
              <a:t>의 하강 </a:t>
            </a:r>
            <a:r>
              <a:rPr lang="ko-KR" altLang="en-US" b="1" dirty="0" err="1">
                <a:solidFill>
                  <a:srgbClr val="0070C0"/>
                </a:solidFill>
              </a:rPr>
              <a:t>엣지에</a:t>
            </a:r>
            <a:r>
              <a:rPr lang="ko-KR" altLang="en-US" b="1" dirty="0">
                <a:solidFill>
                  <a:srgbClr val="0070C0"/>
                </a:solidFill>
              </a:rPr>
              <a:t> 맞춰 비트를 전송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AAA549F-4BF7-1098-D682-3FB693B4447E}"/>
              </a:ext>
            </a:extLst>
          </p:cNvPr>
          <p:cNvSpPr/>
          <p:nvPr/>
        </p:nvSpPr>
        <p:spPr>
          <a:xfrm>
            <a:off x="9141077" y="4896236"/>
            <a:ext cx="5178673" cy="950883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569724-BC65-43CE-5DB0-C7630A1D564C}"/>
              </a:ext>
            </a:extLst>
          </p:cNvPr>
          <p:cNvSpPr txBox="1"/>
          <p:nvPr/>
        </p:nvSpPr>
        <p:spPr>
          <a:xfrm>
            <a:off x="9023566" y="5847119"/>
            <a:ext cx="632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총 </a:t>
            </a:r>
            <a:r>
              <a:rPr lang="en-US" altLang="ko-KR" b="1" dirty="0">
                <a:solidFill>
                  <a:srgbClr val="0070C0"/>
                </a:solidFill>
              </a:rPr>
              <a:t>7</a:t>
            </a:r>
            <a:r>
              <a:rPr lang="ko-KR" altLang="en-US" b="1" dirty="0">
                <a:solidFill>
                  <a:srgbClr val="0070C0"/>
                </a:solidFill>
              </a:rPr>
              <a:t>번의 </a:t>
            </a:r>
            <a:r>
              <a:rPr lang="en-US" altLang="ko-KR" b="1" dirty="0">
                <a:solidFill>
                  <a:srgbClr val="0070C0"/>
                </a:solidFill>
              </a:rPr>
              <a:t>CLK </a:t>
            </a:r>
            <a:r>
              <a:rPr lang="ko-KR" altLang="en-US" b="1" dirty="0">
                <a:solidFill>
                  <a:srgbClr val="0070C0"/>
                </a:solidFill>
              </a:rPr>
              <a:t>전송 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하강 </a:t>
            </a:r>
            <a:r>
              <a:rPr lang="ko-KR" altLang="en-US" b="1" dirty="0" err="1">
                <a:solidFill>
                  <a:srgbClr val="0070C0"/>
                </a:solidFill>
                <a:sym typeface="Wingdings" panose="05000000000000000000" pitchFamily="2" charset="2"/>
              </a:rPr>
              <a:t>엣지에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 맞춰 데이터를 읽기 때문에 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BFB09-CBC1-885D-7EFB-F7F12B88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94BEF49-448C-46A9-D3A5-E49BF13978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100"/>
            <a:ext cx="18288000" cy="7023100"/>
          </a:xfrm>
          <a:prstGeom prst="rect">
            <a:avLst/>
          </a:prstGeom>
          <a:effectLst>
            <a:outerShdw blurRad="491667" dir="5400000">
              <a:srgbClr val="000000">
                <a:alpha val="19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974D3BC-E75D-A396-FBDF-0710FAC2300C}"/>
              </a:ext>
            </a:extLst>
          </p:cNvPr>
          <p:cNvSpPr/>
          <p:nvPr/>
        </p:nvSpPr>
        <p:spPr>
          <a:xfrm>
            <a:off x="12409943" y="2484023"/>
            <a:ext cx="1751773" cy="533400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DS1302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59FECF-1389-AA2F-9B8E-D2FBAF4EF1A5}"/>
              </a:ext>
            </a:extLst>
          </p:cNvPr>
          <p:cNvSpPr/>
          <p:nvPr/>
        </p:nvSpPr>
        <p:spPr>
          <a:xfrm>
            <a:off x="9590544" y="2484023"/>
            <a:ext cx="1751773" cy="533400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STM32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4AFA8DA-73BF-A638-258A-AE22CBEA0BB3}"/>
              </a:ext>
            </a:extLst>
          </p:cNvPr>
          <p:cNvCxnSpPr>
            <a:cxnSpLocks/>
          </p:cNvCxnSpPr>
          <p:nvPr/>
        </p:nvCxnSpPr>
        <p:spPr>
          <a:xfrm>
            <a:off x="10466430" y="3017423"/>
            <a:ext cx="30198" cy="4571999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270050B-0566-9A67-7D19-40D69D509CF9}"/>
              </a:ext>
            </a:extLst>
          </p:cNvPr>
          <p:cNvCxnSpPr>
            <a:cxnSpLocks/>
          </p:cNvCxnSpPr>
          <p:nvPr/>
        </p:nvCxnSpPr>
        <p:spPr>
          <a:xfrm flipH="1">
            <a:off x="13398267" y="3017422"/>
            <a:ext cx="2277" cy="4648200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D3E8EA1-D25E-C0C6-883C-04A7FC07F572}"/>
              </a:ext>
            </a:extLst>
          </p:cNvPr>
          <p:cNvCxnSpPr/>
          <p:nvPr/>
        </p:nvCxnSpPr>
        <p:spPr>
          <a:xfrm>
            <a:off x="10466430" y="3322222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2FA4272-F778-2683-9B7B-F59AD2DB71D3}"/>
              </a:ext>
            </a:extLst>
          </p:cNvPr>
          <p:cNvSpPr txBox="1"/>
          <p:nvPr/>
        </p:nvSpPr>
        <p:spPr>
          <a:xfrm rot="621768">
            <a:off x="11202832" y="3254143"/>
            <a:ext cx="182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CE,DATA,I/0 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EDB5267-BD15-ADC1-7C26-5181D7365B7B}"/>
              </a:ext>
            </a:extLst>
          </p:cNvPr>
          <p:cNvCxnSpPr/>
          <p:nvPr/>
        </p:nvCxnSpPr>
        <p:spPr>
          <a:xfrm>
            <a:off x="10464154" y="3794850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977DC2B-F4F8-F035-812B-6B3D18D27EE2}"/>
              </a:ext>
            </a:extLst>
          </p:cNvPr>
          <p:cNvSpPr txBox="1"/>
          <p:nvPr/>
        </p:nvSpPr>
        <p:spPr>
          <a:xfrm rot="621768">
            <a:off x="11626602" y="3726771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CE HIGH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741FBA0-70AA-743A-D156-CB5C7E6002E4}"/>
              </a:ext>
            </a:extLst>
          </p:cNvPr>
          <p:cNvCxnSpPr/>
          <p:nvPr/>
        </p:nvCxnSpPr>
        <p:spPr>
          <a:xfrm>
            <a:off x="10464153" y="4222015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70E746-CE78-7FE2-9265-7A0CE0C21163}"/>
              </a:ext>
            </a:extLst>
          </p:cNvPr>
          <p:cNvSpPr txBox="1"/>
          <p:nvPr/>
        </p:nvSpPr>
        <p:spPr>
          <a:xfrm rot="621768">
            <a:off x="11042311" y="4153936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Command bit I/O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TX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6671AA3-A7D0-D28B-036E-20075B9B9046}"/>
              </a:ext>
            </a:extLst>
          </p:cNvPr>
          <p:cNvCxnSpPr/>
          <p:nvPr/>
        </p:nvCxnSpPr>
        <p:spPr>
          <a:xfrm>
            <a:off x="10501689" y="4675922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73002C2-6498-C972-985D-21081D1071D3}"/>
              </a:ext>
            </a:extLst>
          </p:cNvPr>
          <p:cNvSpPr txBox="1"/>
          <p:nvPr/>
        </p:nvSpPr>
        <p:spPr>
          <a:xfrm rot="621768">
            <a:off x="11266819" y="4607843"/>
            <a:ext cx="1766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CLK HIGH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EAD5F8-282E-C1FD-A815-917020A3E728}"/>
              </a:ext>
            </a:extLst>
          </p:cNvPr>
          <p:cNvSpPr txBox="1"/>
          <p:nvPr/>
        </p:nvSpPr>
        <p:spPr>
          <a:xfrm>
            <a:off x="9425819" y="3826586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8</a:t>
            </a:r>
            <a:r>
              <a:rPr lang="ko-KR" altLang="en-US" b="1" dirty="0">
                <a:solidFill>
                  <a:srgbClr val="FF0000"/>
                </a:solidFill>
              </a:rPr>
              <a:t>번 반복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E78EDD4-4426-1F67-B20A-D2C2285649F8}"/>
              </a:ext>
            </a:extLst>
          </p:cNvPr>
          <p:cNvCxnSpPr/>
          <p:nvPr/>
        </p:nvCxnSpPr>
        <p:spPr>
          <a:xfrm>
            <a:off x="10464153" y="6179733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D829CD5-784B-4BAC-3C5C-8D1A51856463}"/>
              </a:ext>
            </a:extLst>
          </p:cNvPr>
          <p:cNvSpPr txBox="1"/>
          <p:nvPr/>
        </p:nvSpPr>
        <p:spPr>
          <a:xfrm rot="621768">
            <a:off x="11249325" y="6111654"/>
            <a:ext cx="1726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CLK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HIGH-&gt;LOW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AB1503D-C9FC-3A7D-458A-CED3400C0B13}"/>
              </a:ext>
            </a:extLst>
          </p:cNvPr>
          <p:cNvCxnSpPr/>
          <p:nvPr/>
        </p:nvCxnSpPr>
        <p:spPr>
          <a:xfrm>
            <a:off x="10496628" y="6583077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1D53912-A7A2-F6CE-94B3-AB55E3BE0C02}"/>
              </a:ext>
            </a:extLst>
          </p:cNvPr>
          <p:cNvSpPr txBox="1"/>
          <p:nvPr/>
        </p:nvSpPr>
        <p:spPr>
          <a:xfrm rot="621768">
            <a:off x="11680944" y="6514998"/>
            <a:ext cx="92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CE 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6EB5AB-6F7B-AA1D-4605-63AC59A1CF2F}"/>
              </a:ext>
            </a:extLst>
          </p:cNvPr>
          <p:cNvSpPr txBox="1"/>
          <p:nvPr/>
        </p:nvSpPr>
        <p:spPr>
          <a:xfrm rot="21309347">
            <a:off x="11281077" y="5371117"/>
            <a:ext cx="1670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DATA</a:t>
            </a:r>
            <a:r>
              <a:rPr lang="ko-KR" altLang="en-US" b="1" dirty="0">
                <a:solidFill>
                  <a:srgbClr val="00B0F0"/>
                </a:solidFill>
              </a:rPr>
              <a:t> </a:t>
            </a:r>
            <a:r>
              <a:rPr lang="en-US" altLang="ko-KR" b="1" dirty="0">
                <a:solidFill>
                  <a:srgbClr val="00B0F0"/>
                </a:solidFill>
              </a:rPr>
              <a:t>1BIT</a:t>
            </a:r>
            <a:r>
              <a:rPr lang="ko-KR" altLang="en-US" b="1" dirty="0">
                <a:solidFill>
                  <a:srgbClr val="00B0F0"/>
                </a:solidFill>
              </a:rPr>
              <a:t> 읽기</a:t>
            </a: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208CE4C-1EBE-A447-8DA7-4F2B46295EDC}"/>
              </a:ext>
            </a:extLst>
          </p:cNvPr>
          <p:cNvCxnSpPr/>
          <p:nvPr/>
        </p:nvCxnSpPr>
        <p:spPr>
          <a:xfrm flipH="1">
            <a:off x="10464152" y="5629621"/>
            <a:ext cx="2949333" cy="200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원호 84">
            <a:extLst>
              <a:ext uri="{FF2B5EF4-FFF2-40B4-BE49-F238E27FC236}">
                <a16:creationId xmlns:a16="http://schemas.microsoft.com/office/drawing/2014/main" id="{DF705AED-7F26-C6E4-DD7B-41225898A4BE}"/>
              </a:ext>
            </a:extLst>
          </p:cNvPr>
          <p:cNvSpPr/>
          <p:nvPr/>
        </p:nvSpPr>
        <p:spPr>
          <a:xfrm flipH="1">
            <a:off x="9855820" y="4180490"/>
            <a:ext cx="1104807" cy="533400"/>
          </a:xfrm>
          <a:prstGeom prst="arc">
            <a:avLst>
              <a:gd name="adj1" fmla="val 16200000"/>
              <a:gd name="adj2" fmla="val 5050419"/>
            </a:avLst>
          </a:prstGeom>
          <a:solidFill>
            <a:srgbClr val="FCFBF4"/>
          </a:solidFill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원호 85">
            <a:extLst>
              <a:ext uri="{FF2B5EF4-FFF2-40B4-BE49-F238E27FC236}">
                <a16:creationId xmlns:a16="http://schemas.microsoft.com/office/drawing/2014/main" id="{F3EEF6EF-7CAB-24F1-DDFA-2949904EBE2D}"/>
              </a:ext>
            </a:extLst>
          </p:cNvPr>
          <p:cNvSpPr/>
          <p:nvPr/>
        </p:nvSpPr>
        <p:spPr>
          <a:xfrm>
            <a:off x="13106400" y="5629621"/>
            <a:ext cx="660101" cy="1018484"/>
          </a:xfrm>
          <a:prstGeom prst="arc">
            <a:avLst>
              <a:gd name="adj1" fmla="val 16200000"/>
              <a:gd name="adj2" fmla="val 5050419"/>
            </a:avLst>
          </a:prstGeom>
          <a:solidFill>
            <a:srgbClr val="FCFBF4"/>
          </a:solidFill>
          <a:ln w="38100">
            <a:solidFill>
              <a:srgbClr val="0070C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6FE2F5-A79E-AB95-2A2C-E0EFE38C8DDA}"/>
              </a:ext>
            </a:extLst>
          </p:cNvPr>
          <p:cNvSpPr txBox="1"/>
          <p:nvPr/>
        </p:nvSpPr>
        <p:spPr>
          <a:xfrm>
            <a:off x="13525115" y="525768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7</a:t>
            </a:r>
            <a:r>
              <a:rPr lang="ko-KR" altLang="en-US" b="1" dirty="0">
                <a:solidFill>
                  <a:srgbClr val="00B0F0"/>
                </a:solidFill>
              </a:rPr>
              <a:t>번 반복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9C7A9D-C12E-CCFD-51C3-47C181A90B77}"/>
              </a:ext>
            </a:extLst>
          </p:cNvPr>
          <p:cNvSpPr txBox="1"/>
          <p:nvPr/>
        </p:nvSpPr>
        <p:spPr>
          <a:xfrm>
            <a:off x="10960880" y="7693166"/>
            <a:ext cx="203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&lt;SQUENCE CHART&gt;</a:t>
            </a:r>
            <a:endParaRPr lang="ko-KR" altLang="en-US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414E9D4-1641-F2E6-FD90-1555894CDF96}"/>
              </a:ext>
            </a:extLst>
          </p:cNvPr>
          <p:cNvSpPr txBox="1"/>
          <p:nvPr/>
        </p:nvSpPr>
        <p:spPr>
          <a:xfrm>
            <a:off x="1684438" y="2948830"/>
            <a:ext cx="562564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 sz="2300" b="1" dirty="0"/>
              <a:t>GPIO CE SCK IO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LOW</a:t>
            </a:r>
            <a:r>
              <a:rPr lang="ko-KR" altLang="en-US" sz="2300" b="1" dirty="0"/>
              <a:t>로 설정</a:t>
            </a:r>
          </a:p>
          <a:p>
            <a:pPr>
              <a:buFont typeface="+mj-lt"/>
              <a:buAutoNum type="arabicPeriod"/>
            </a:pPr>
            <a:r>
              <a:rPr lang="en-US" altLang="ko-KR" sz="2300" b="1" dirty="0"/>
              <a:t>CE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HIGH</a:t>
            </a:r>
            <a:r>
              <a:rPr lang="ko-KR" altLang="en-US" sz="2300" b="1" dirty="0"/>
              <a:t>로 설정</a:t>
            </a:r>
          </a:p>
          <a:p>
            <a:pPr>
              <a:buFont typeface="+mj-lt"/>
              <a:buAutoNum type="arabicPeriod"/>
            </a:pPr>
            <a:r>
              <a:rPr lang="en-US" altLang="ko-KR" sz="2300" b="1" dirty="0"/>
              <a:t>COMMAND BIT 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I/O</a:t>
            </a:r>
            <a:r>
              <a:rPr lang="ko-KR" altLang="en-US" sz="2300" b="1" dirty="0"/>
              <a:t>로 </a:t>
            </a:r>
            <a:r>
              <a:rPr lang="en-US" altLang="ko-KR" sz="2300" b="1" dirty="0"/>
              <a:t>WRITE</a:t>
            </a:r>
            <a:r>
              <a:rPr lang="ko-KR" altLang="en-US" sz="2300" b="1" dirty="0"/>
              <a:t>한다</a:t>
            </a:r>
          </a:p>
          <a:p>
            <a:pPr>
              <a:buFont typeface="+mj-lt"/>
              <a:buAutoNum type="arabicPeriod"/>
            </a:pPr>
            <a:r>
              <a:rPr lang="en-US" altLang="ko-KR" sz="2300" b="1" dirty="0"/>
              <a:t>CLK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1</a:t>
            </a:r>
            <a:r>
              <a:rPr lang="ko-KR" altLang="en-US" sz="2300" b="1" dirty="0"/>
              <a:t>번 </a:t>
            </a:r>
            <a:r>
              <a:rPr lang="en-US" altLang="ko-KR" sz="2300" b="1" dirty="0"/>
              <a:t>UP DOWN</a:t>
            </a:r>
            <a:r>
              <a:rPr lang="ko-KR" altLang="en-US" sz="2300" b="1" dirty="0"/>
              <a:t>을 시킨다</a:t>
            </a:r>
            <a:endParaRPr lang="en-US" altLang="ko-KR" sz="2300" b="1" dirty="0"/>
          </a:p>
          <a:p>
            <a:pPr>
              <a:buFont typeface="+mj-lt"/>
              <a:buAutoNum type="arabicPeriod"/>
            </a:pPr>
            <a:endParaRPr lang="ko-KR" altLang="en-US" sz="2300" b="1" dirty="0"/>
          </a:p>
          <a:p>
            <a:r>
              <a:rPr lang="en-US" altLang="ko-KR" sz="2300" b="1" dirty="0">
                <a:solidFill>
                  <a:srgbClr val="00B0F0"/>
                </a:solidFill>
              </a:rPr>
              <a:t>    3</a:t>
            </a:r>
            <a:r>
              <a:rPr lang="ko-KR" altLang="en-US" sz="2300" b="1" dirty="0">
                <a:solidFill>
                  <a:srgbClr val="00B0F0"/>
                </a:solidFill>
              </a:rPr>
              <a:t>번과 </a:t>
            </a:r>
            <a:r>
              <a:rPr lang="en-US" altLang="ko-KR" sz="2300" b="1" dirty="0">
                <a:solidFill>
                  <a:srgbClr val="00B0F0"/>
                </a:solidFill>
              </a:rPr>
              <a:t>4</a:t>
            </a:r>
            <a:r>
              <a:rPr lang="ko-KR" altLang="en-US" sz="2300" b="1" dirty="0">
                <a:solidFill>
                  <a:srgbClr val="00B0F0"/>
                </a:solidFill>
              </a:rPr>
              <a:t>번을 </a:t>
            </a:r>
            <a:r>
              <a:rPr lang="en-US" altLang="ko-KR" sz="2300" b="1" dirty="0">
                <a:solidFill>
                  <a:srgbClr val="00B0F0"/>
                </a:solidFill>
              </a:rPr>
              <a:t>8</a:t>
            </a:r>
            <a:r>
              <a:rPr lang="ko-KR" altLang="en-US" sz="2300" b="1" dirty="0">
                <a:solidFill>
                  <a:srgbClr val="00B0F0"/>
                </a:solidFill>
              </a:rPr>
              <a:t>번 반복하게 한다</a:t>
            </a:r>
            <a:r>
              <a:rPr lang="en-US" altLang="ko-KR" sz="2300" b="1" dirty="0">
                <a:solidFill>
                  <a:srgbClr val="00B0F0"/>
                </a:solidFill>
              </a:rPr>
              <a:t>.</a:t>
            </a:r>
          </a:p>
          <a:p>
            <a:endParaRPr lang="en-US" altLang="ko-KR" sz="2300" b="1" dirty="0"/>
          </a:p>
          <a:p>
            <a:pPr marL="457200" indent="-457200">
              <a:buFont typeface="+mj-lt"/>
              <a:buAutoNum type="arabicPeriod" startAt="5"/>
            </a:pPr>
            <a:r>
              <a:rPr lang="en-US" altLang="ko-KR" sz="2300" b="1" dirty="0"/>
              <a:t>I/O PORT INPUT MODE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1</a:t>
            </a:r>
            <a:r>
              <a:rPr lang="ko-KR" altLang="en-US" sz="2300" b="1" dirty="0"/>
              <a:t>로 바꾼다</a:t>
            </a:r>
          </a:p>
          <a:p>
            <a:pPr>
              <a:buFont typeface="+mj-lt"/>
              <a:buAutoNum type="arabicPeriod" startAt="5"/>
            </a:pPr>
            <a:r>
              <a:rPr lang="en-US" altLang="ko-KR" sz="2300" b="1" dirty="0"/>
              <a:t>DATA 1BIT</a:t>
            </a:r>
            <a:r>
              <a:rPr lang="ko-KR" altLang="en-US" sz="2300" b="1" dirty="0"/>
              <a:t>를 읽는다</a:t>
            </a:r>
          </a:p>
          <a:p>
            <a:pPr>
              <a:buFont typeface="+mj-lt"/>
              <a:buAutoNum type="arabicPeriod" startAt="5"/>
            </a:pPr>
            <a:r>
              <a:rPr lang="en-US" altLang="ko-KR" sz="2300" b="1" dirty="0"/>
              <a:t>CLK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UP DOWN </a:t>
            </a:r>
            <a:r>
              <a:rPr lang="ko-KR" altLang="en-US" sz="2300" b="1" dirty="0"/>
              <a:t>시킨다</a:t>
            </a:r>
            <a:r>
              <a:rPr lang="en-US" altLang="ko-KR" sz="2300" b="1" dirty="0"/>
              <a:t>.</a:t>
            </a:r>
          </a:p>
          <a:p>
            <a:pPr>
              <a:buFont typeface="+mj-lt"/>
              <a:buAutoNum type="arabicPeriod" startAt="5"/>
            </a:pPr>
            <a:endParaRPr lang="en-US" altLang="ko-KR" sz="2300" b="1" dirty="0"/>
          </a:p>
          <a:p>
            <a:pPr lvl="1"/>
            <a:r>
              <a:rPr lang="en-US" altLang="ko-KR" sz="2300" b="1" dirty="0">
                <a:solidFill>
                  <a:srgbClr val="00B0F0"/>
                </a:solidFill>
              </a:rPr>
              <a:t>6</a:t>
            </a:r>
            <a:r>
              <a:rPr lang="ko-KR" altLang="en-US" sz="2300" b="1" dirty="0">
                <a:solidFill>
                  <a:srgbClr val="00B0F0"/>
                </a:solidFill>
              </a:rPr>
              <a:t>번과 </a:t>
            </a:r>
            <a:r>
              <a:rPr lang="en-US" altLang="ko-KR" sz="2300" b="1" dirty="0">
                <a:solidFill>
                  <a:srgbClr val="00B0F0"/>
                </a:solidFill>
              </a:rPr>
              <a:t>7</a:t>
            </a:r>
            <a:r>
              <a:rPr lang="ko-KR" altLang="en-US" sz="2300" b="1" dirty="0">
                <a:solidFill>
                  <a:srgbClr val="00B0F0"/>
                </a:solidFill>
              </a:rPr>
              <a:t>번을 </a:t>
            </a:r>
            <a:r>
              <a:rPr lang="en-US" altLang="ko-KR" sz="2300" b="1" dirty="0">
                <a:solidFill>
                  <a:srgbClr val="00B0F0"/>
                </a:solidFill>
              </a:rPr>
              <a:t>7</a:t>
            </a:r>
            <a:r>
              <a:rPr lang="ko-KR" altLang="en-US" sz="2300" b="1" dirty="0">
                <a:solidFill>
                  <a:srgbClr val="00B0F0"/>
                </a:solidFill>
              </a:rPr>
              <a:t>번 반복한다</a:t>
            </a:r>
            <a:r>
              <a:rPr lang="en-US" altLang="ko-KR" sz="2300" b="1" dirty="0">
                <a:solidFill>
                  <a:srgbClr val="00B0F0"/>
                </a:solidFill>
              </a:rPr>
              <a:t>.</a:t>
            </a:r>
          </a:p>
          <a:p>
            <a:pPr>
              <a:buFont typeface="+mj-lt"/>
              <a:buAutoNum type="arabicPeriod" startAt="5"/>
            </a:pPr>
            <a:endParaRPr lang="en-US" altLang="ko-KR" sz="2300" b="1" dirty="0"/>
          </a:p>
          <a:p>
            <a:pPr>
              <a:buFont typeface="+mj-lt"/>
              <a:buAutoNum type="arabicPeriod" startAt="5"/>
            </a:pPr>
            <a:r>
              <a:rPr lang="en-US" altLang="ko-KR" sz="2300" b="1" dirty="0"/>
              <a:t>CE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HIGH</a:t>
            </a:r>
            <a:r>
              <a:rPr lang="ko-KR" altLang="en-US" sz="2300" b="1" dirty="0"/>
              <a:t>로 설정</a:t>
            </a:r>
            <a:endParaRPr lang="en-US" altLang="ko-KR" sz="2300" b="1" dirty="0"/>
          </a:p>
          <a:p>
            <a:endParaRPr lang="en-US" altLang="ko-KR" sz="2300" b="1" dirty="0"/>
          </a:p>
          <a:p>
            <a:endParaRPr lang="ko-KR" altLang="en-US" sz="2300" b="1" dirty="0"/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AE08988F-B0AB-5ECB-303F-024FE96C3F34}"/>
              </a:ext>
            </a:extLst>
          </p:cNvPr>
          <p:cNvSpPr txBox="1"/>
          <p:nvPr/>
        </p:nvSpPr>
        <p:spPr>
          <a:xfrm>
            <a:off x="5039602" y="711201"/>
            <a:ext cx="738505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DS1302 READ OPERATION PRINCIPLE</a:t>
            </a:r>
            <a:r>
              <a:rPr lang="ko-KR" altLang="en-US" sz="3800" b="1" spc="-100" dirty="0">
                <a:solidFill>
                  <a:srgbClr val="424835"/>
                </a:solidFill>
                <a:ea typeface="Noto Sans CJK KR Bold"/>
              </a:rPr>
              <a:t> </a:t>
            </a: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 </a:t>
            </a:r>
            <a:endParaRPr lang="ko-KR" altLang="en-US" sz="3800" b="1" spc="-100" dirty="0">
              <a:solidFill>
                <a:srgbClr val="424835"/>
              </a:solidFill>
              <a:ea typeface="Noto Sans CJK KR Bold"/>
            </a:endParaRPr>
          </a:p>
        </p:txBody>
      </p:sp>
    </p:spTree>
    <p:extLst>
      <p:ext uri="{BB962C8B-B14F-4D97-AF65-F5344CB8AC3E}">
        <p14:creationId xmlns:p14="http://schemas.microsoft.com/office/powerpoint/2010/main" val="269844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DB442-0D9D-6E60-913F-568A9600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05F7BCF-D7E8-5363-4201-99A5E00B0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9100"/>
            <a:ext cx="18288000" cy="7023100"/>
          </a:xfrm>
          <a:prstGeom prst="rect">
            <a:avLst/>
          </a:prstGeom>
          <a:effectLst>
            <a:outerShdw blurRad="491667" dir="5400000">
              <a:srgbClr val="000000">
                <a:alpha val="19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CDB8861-8A3E-7177-E21F-D17403ACD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035404"/>
            <a:ext cx="14097000" cy="3584804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818EC70B-BAFF-74A4-25ED-B3E0ECADFE0C}"/>
              </a:ext>
            </a:extLst>
          </p:cNvPr>
          <p:cNvSpPr txBox="1"/>
          <p:nvPr/>
        </p:nvSpPr>
        <p:spPr>
          <a:xfrm>
            <a:off x="6102350" y="749157"/>
            <a:ext cx="60833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DS1302 WRITE DATA </a:t>
            </a:r>
            <a:endParaRPr lang="ko-KR" altLang="en-US" sz="3800" b="1" spc="-100" dirty="0">
              <a:solidFill>
                <a:srgbClr val="424835"/>
              </a:solidFill>
              <a:ea typeface="Noto Sans CJK KR Bold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C9FFB9B-FA51-9A7B-FFBD-191A129E219A}"/>
              </a:ext>
            </a:extLst>
          </p:cNvPr>
          <p:cNvCxnSpPr>
            <a:cxnSpLocks/>
          </p:cNvCxnSpPr>
          <p:nvPr/>
        </p:nvCxnSpPr>
        <p:spPr>
          <a:xfrm flipV="1">
            <a:off x="2900186" y="4191613"/>
            <a:ext cx="0" cy="6667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F8E767-8549-D17A-A040-C003D52932ED}"/>
              </a:ext>
            </a:extLst>
          </p:cNvPr>
          <p:cNvSpPr txBox="1"/>
          <p:nvPr/>
        </p:nvSpPr>
        <p:spPr>
          <a:xfrm>
            <a:off x="2595386" y="3873526"/>
            <a:ext cx="379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CLK</a:t>
            </a:r>
            <a:r>
              <a:rPr lang="ko-KR" altLang="en-US" b="1" dirty="0">
                <a:solidFill>
                  <a:srgbClr val="FF0000"/>
                </a:solidFill>
              </a:rPr>
              <a:t>의 상승 </a:t>
            </a:r>
            <a:r>
              <a:rPr lang="ko-KR" altLang="en-US" b="1" dirty="0" err="1">
                <a:solidFill>
                  <a:srgbClr val="FF0000"/>
                </a:solidFill>
              </a:rPr>
              <a:t>엣지에</a:t>
            </a:r>
            <a:r>
              <a:rPr lang="ko-KR" altLang="en-US" b="1" dirty="0">
                <a:solidFill>
                  <a:srgbClr val="FF0000"/>
                </a:solidFill>
              </a:rPr>
              <a:t> 맞춰 비트를 전송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A864CA-0574-140A-ACDD-0F5AD9034733}"/>
              </a:ext>
            </a:extLst>
          </p:cNvPr>
          <p:cNvSpPr txBox="1"/>
          <p:nvPr/>
        </p:nvSpPr>
        <p:spPr>
          <a:xfrm>
            <a:off x="2971800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9CF692-FB17-14DF-D05D-21AF5020E716}"/>
              </a:ext>
            </a:extLst>
          </p:cNvPr>
          <p:cNvSpPr txBox="1"/>
          <p:nvPr/>
        </p:nvSpPr>
        <p:spPr>
          <a:xfrm>
            <a:off x="3715399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B3BA13-FAAB-2331-5E83-CBE7D33A7A58}"/>
              </a:ext>
            </a:extLst>
          </p:cNvPr>
          <p:cNvSpPr txBox="1"/>
          <p:nvPr/>
        </p:nvSpPr>
        <p:spPr>
          <a:xfrm>
            <a:off x="4458998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9FDE6B-00B5-F285-393D-10166C5667B4}"/>
              </a:ext>
            </a:extLst>
          </p:cNvPr>
          <p:cNvSpPr txBox="1"/>
          <p:nvPr/>
        </p:nvSpPr>
        <p:spPr>
          <a:xfrm>
            <a:off x="5202597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9578D6-E807-E4C1-2DF7-9E08927F79E2}"/>
              </a:ext>
            </a:extLst>
          </p:cNvPr>
          <p:cNvSpPr txBox="1"/>
          <p:nvPr/>
        </p:nvSpPr>
        <p:spPr>
          <a:xfrm>
            <a:off x="5946196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14B44F-BAC4-8238-2BCB-D5AC1611AEA5}"/>
              </a:ext>
            </a:extLst>
          </p:cNvPr>
          <p:cNvSpPr txBox="1"/>
          <p:nvPr/>
        </p:nvSpPr>
        <p:spPr>
          <a:xfrm>
            <a:off x="6689795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D78159-6445-2C7E-2491-85B4B4EBDFFD}"/>
              </a:ext>
            </a:extLst>
          </p:cNvPr>
          <p:cNvSpPr txBox="1"/>
          <p:nvPr/>
        </p:nvSpPr>
        <p:spPr>
          <a:xfrm>
            <a:off x="7433394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E70DA0-8407-8C2F-583A-43FC800E83F8}"/>
              </a:ext>
            </a:extLst>
          </p:cNvPr>
          <p:cNvSpPr txBox="1"/>
          <p:nvPr/>
        </p:nvSpPr>
        <p:spPr>
          <a:xfrm>
            <a:off x="8176993" y="64566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6B82AF1-A3B1-3C1D-B86B-6CB705E2C2E0}"/>
              </a:ext>
            </a:extLst>
          </p:cNvPr>
          <p:cNvCxnSpPr>
            <a:cxnSpLocks/>
          </p:cNvCxnSpPr>
          <p:nvPr/>
        </p:nvCxnSpPr>
        <p:spPr>
          <a:xfrm flipH="1">
            <a:off x="2819400" y="7191708"/>
            <a:ext cx="565927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4E3CA80-FA6B-6F47-8F46-3F649AAA38EE}"/>
              </a:ext>
            </a:extLst>
          </p:cNvPr>
          <p:cNvSpPr txBox="1"/>
          <p:nvPr/>
        </p:nvSpPr>
        <p:spPr>
          <a:xfrm>
            <a:off x="5216725" y="675252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7030A0"/>
                </a:solidFill>
              </a:rPr>
              <a:t>읽는 방향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9927DA-9732-C9E2-9C93-DAB8DB5F32F9}"/>
              </a:ext>
            </a:extLst>
          </p:cNvPr>
          <p:cNvSpPr txBox="1"/>
          <p:nvPr/>
        </p:nvSpPr>
        <p:spPr>
          <a:xfrm>
            <a:off x="8455276" y="703750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MSB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5E47D4-AE28-9DCD-FFDB-C20B708B2CEA}"/>
              </a:ext>
            </a:extLst>
          </p:cNvPr>
          <p:cNvSpPr txBox="1"/>
          <p:nvPr/>
        </p:nvSpPr>
        <p:spPr>
          <a:xfrm>
            <a:off x="2193677" y="703750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LSB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8CDB8B-A63A-9D23-8274-CC9E52924CE6}"/>
              </a:ext>
            </a:extLst>
          </p:cNvPr>
          <p:cNvSpPr txBox="1"/>
          <p:nvPr/>
        </p:nvSpPr>
        <p:spPr>
          <a:xfrm>
            <a:off x="4150984" y="7421556"/>
            <a:ext cx="3022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0x84=WRITE_HOUR ADDRESS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0D65E82-03EA-0288-D518-C346931C4394}"/>
              </a:ext>
            </a:extLst>
          </p:cNvPr>
          <p:cNvCxnSpPr>
            <a:cxnSpLocks/>
          </p:cNvCxnSpPr>
          <p:nvPr/>
        </p:nvCxnSpPr>
        <p:spPr>
          <a:xfrm flipV="1">
            <a:off x="8760076" y="4103373"/>
            <a:ext cx="0" cy="66674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852FB02-81F7-3088-D7D3-CA3156014A05}"/>
              </a:ext>
            </a:extLst>
          </p:cNvPr>
          <p:cNvSpPr txBox="1"/>
          <p:nvPr/>
        </p:nvSpPr>
        <p:spPr>
          <a:xfrm>
            <a:off x="7182652" y="3688860"/>
            <a:ext cx="3796232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CLK</a:t>
            </a:r>
            <a:r>
              <a:rPr lang="ko-KR" altLang="en-US" b="1" dirty="0">
                <a:solidFill>
                  <a:srgbClr val="0070C0"/>
                </a:solidFill>
              </a:rPr>
              <a:t>의 상승 </a:t>
            </a:r>
            <a:r>
              <a:rPr lang="ko-KR" altLang="en-US" b="1" dirty="0" err="1">
                <a:solidFill>
                  <a:srgbClr val="0070C0"/>
                </a:solidFill>
              </a:rPr>
              <a:t>엣지에</a:t>
            </a:r>
            <a:r>
              <a:rPr lang="ko-KR" altLang="en-US" b="1" dirty="0">
                <a:solidFill>
                  <a:srgbClr val="0070C0"/>
                </a:solidFill>
              </a:rPr>
              <a:t> 맞춰 비트를 전송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DAB5307-C1C9-693B-5B23-23B1CE79F04E}"/>
              </a:ext>
            </a:extLst>
          </p:cNvPr>
          <p:cNvSpPr/>
          <p:nvPr/>
        </p:nvSpPr>
        <p:spPr>
          <a:xfrm>
            <a:off x="8521699" y="4574103"/>
            <a:ext cx="5721851" cy="950883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CC6B27-ADC3-DB1A-8544-DA1FDC54A282}"/>
              </a:ext>
            </a:extLst>
          </p:cNvPr>
          <p:cNvSpPr txBox="1"/>
          <p:nvPr/>
        </p:nvSpPr>
        <p:spPr>
          <a:xfrm>
            <a:off x="8340536" y="5549354"/>
            <a:ext cx="632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총 </a:t>
            </a:r>
            <a:r>
              <a:rPr lang="en-US" altLang="ko-KR" b="1" dirty="0">
                <a:solidFill>
                  <a:srgbClr val="0070C0"/>
                </a:solidFill>
              </a:rPr>
              <a:t>8</a:t>
            </a:r>
            <a:r>
              <a:rPr lang="ko-KR" altLang="en-US" b="1" dirty="0">
                <a:solidFill>
                  <a:srgbClr val="0070C0"/>
                </a:solidFill>
              </a:rPr>
              <a:t>번의 </a:t>
            </a:r>
            <a:r>
              <a:rPr lang="en-US" altLang="ko-KR" b="1" dirty="0">
                <a:solidFill>
                  <a:srgbClr val="0070C0"/>
                </a:solidFill>
              </a:rPr>
              <a:t>CLK </a:t>
            </a:r>
            <a:r>
              <a:rPr lang="ko-KR" altLang="en-US" b="1" dirty="0">
                <a:solidFill>
                  <a:srgbClr val="0070C0"/>
                </a:solidFill>
              </a:rPr>
              <a:t>전송 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상승 </a:t>
            </a:r>
            <a:r>
              <a:rPr lang="ko-KR" altLang="en-US" b="1" dirty="0" err="1">
                <a:solidFill>
                  <a:srgbClr val="0070C0"/>
                </a:solidFill>
                <a:sym typeface="Wingdings" panose="05000000000000000000" pitchFamily="2" charset="2"/>
              </a:rPr>
              <a:t>엣지에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 맞춰 데이터를 읽기 때문에 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191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7BF86-1C2A-8494-C007-2B0BDFC7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473CFC1-FF3A-31CC-6364-49E6EB87C4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9100"/>
            <a:ext cx="18288000" cy="7023100"/>
          </a:xfrm>
          <a:prstGeom prst="rect">
            <a:avLst/>
          </a:prstGeom>
          <a:effectLst>
            <a:outerShdw blurRad="491667" dir="5400000">
              <a:srgbClr val="000000">
                <a:alpha val="19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BE6161D-95C1-4AB4-B2A7-F4A97C59AD21}"/>
              </a:ext>
            </a:extLst>
          </p:cNvPr>
          <p:cNvSpPr/>
          <p:nvPr/>
        </p:nvSpPr>
        <p:spPr>
          <a:xfrm>
            <a:off x="12409943" y="2484023"/>
            <a:ext cx="1751773" cy="533400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DS1302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A04F938-C7EF-2924-5A84-8E7C3EA99F93}"/>
              </a:ext>
            </a:extLst>
          </p:cNvPr>
          <p:cNvSpPr/>
          <p:nvPr/>
        </p:nvSpPr>
        <p:spPr>
          <a:xfrm>
            <a:off x="9590544" y="2484023"/>
            <a:ext cx="1751773" cy="533400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STM32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5FC301E-8556-04E5-C341-8685DAB03FFF}"/>
              </a:ext>
            </a:extLst>
          </p:cNvPr>
          <p:cNvCxnSpPr>
            <a:cxnSpLocks/>
          </p:cNvCxnSpPr>
          <p:nvPr/>
        </p:nvCxnSpPr>
        <p:spPr>
          <a:xfrm>
            <a:off x="10466430" y="3017423"/>
            <a:ext cx="30198" cy="4571999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BB761C3-DECC-A89B-D4C4-655F73EEBA6B}"/>
              </a:ext>
            </a:extLst>
          </p:cNvPr>
          <p:cNvCxnSpPr>
            <a:cxnSpLocks/>
          </p:cNvCxnSpPr>
          <p:nvPr/>
        </p:nvCxnSpPr>
        <p:spPr>
          <a:xfrm flipH="1">
            <a:off x="13398267" y="3017422"/>
            <a:ext cx="2277" cy="4648200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7682210-7917-F40F-AA1C-5B7BF4A72BB2}"/>
              </a:ext>
            </a:extLst>
          </p:cNvPr>
          <p:cNvCxnSpPr/>
          <p:nvPr/>
        </p:nvCxnSpPr>
        <p:spPr>
          <a:xfrm>
            <a:off x="10466430" y="3322222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CC3F05-9DDB-2A69-3A5E-5B142394919E}"/>
              </a:ext>
            </a:extLst>
          </p:cNvPr>
          <p:cNvSpPr txBox="1"/>
          <p:nvPr/>
        </p:nvSpPr>
        <p:spPr>
          <a:xfrm rot="621768">
            <a:off x="11202832" y="3254143"/>
            <a:ext cx="182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CE,DATA,I/0 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2E3D103-D48A-BE42-B139-AC41FDE2AC54}"/>
              </a:ext>
            </a:extLst>
          </p:cNvPr>
          <p:cNvCxnSpPr/>
          <p:nvPr/>
        </p:nvCxnSpPr>
        <p:spPr>
          <a:xfrm>
            <a:off x="10464154" y="3794850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02784C9-24E3-A20E-5E44-0C4C4546D433}"/>
              </a:ext>
            </a:extLst>
          </p:cNvPr>
          <p:cNvSpPr txBox="1"/>
          <p:nvPr/>
        </p:nvSpPr>
        <p:spPr>
          <a:xfrm rot="621768">
            <a:off x="11626602" y="3726771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CE HIGH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089DEEC-97CF-29E9-E9F1-C1B78F53D233}"/>
              </a:ext>
            </a:extLst>
          </p:cNvPr>
          <p:cNvCxnSpPr/>
          <p:nvPr/>
        </p:nvCxnSpPr>
        <p:spPr>
          <a:xfrm>
            <a:off x="10464153" y="4222015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DF80AE7-4A7F-65F9-F560-C7F22A642CC0}"/>
              </a:ext>
            </a:extLst>
          </p:cNvPr>
          <p:cNvSpPr txBox="1"/>
          <p:nvPr/>
        </p:nvSpPr>
        <p:spPr>
          <a:xfrm rot="621768">
            <a:off x="11042311" y="4153936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Command bit I/O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TX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47E3079-FB0A-BDAF-1094-94DEC17FFF2F}"/>
              </a:ext>
            </a:extLst>
          </p:cNvPr>
          <p:cNvCxnSpPr/>
          <p:nvPr/>
        </p:nvCxnSpPr>
        <p:spPr>
          <a:xfrm>
            <a:off x="10501689" y="4675922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F13C753-3D33-96AE-489B-47200E30E143}"/>
              </a:ext>
            </a:extLst>
          </p:cNvPr>
          <p:cNvSpPr txBox="1"/>
          <p:nvPr/>
        </p:nvSpPr>
        <p:spPr>
          <a:xfrm rot="621768">
            <a:off x="11266819" y="4607843"/>
            <a:ext cx="1766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CLK HIGH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22761E-A82A-EC33-CE33-4688814485A6}"/>
              </a:ext>
            </a:extLst>
          </p:cNvPr>
          <p:cNvSpPr txBox="1"/>
          <p:nvPr/>
        </p:nvSpPr>
        <p:spPr>
          <a:xfrm>
            <a:off x="9425819" y="3826586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8</a:t>
            </a:r>
            <a:r>
              <a:rPr lang="ko-KR" altLang="en-US" b="1" dirty="0">
                <a:solidFill>
                  <a:srgbClr val="FF0000"/>
                </a:solidFill>
              </a:rPr>
              <a:t>번 반복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EE4ED11-E6F9-9688-1B36-64B7763AA886}"/>
              </a:ext>
            </a:extLst>
          </p:cNvPr>
          <p:cNvCxnSpPr/>
          <p:nvPr/>
        </p:nvCxnSpPr>
        <p:spPr>
          <a:xfrm>
            <a:off x="10481391" y="5896321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A2E9DD6-1E85-E58D-24DE-D5EE5265179C}"/>
              </a:ext>
            </a:extLst>
          </p:cNvPr>
          <p:cNvSpPr txBox="1"/>
          <p:nvPr/>
        </p:nvSpPr>
        <p:spPr>
          <a:xfrm rot="621768">
            <a:off x="11266563" y="5828242"/>
            <a:ext cx="1726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CLK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HIGH-&gt;LOW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980548A-B5D6-C703-00AF-B859F69C24FC}"/>
              </a:ext>
            </a:extLst>
          </p:cNvPr>
          <p:cNvCxnSpPr/>
          <p:nvPr/>
        </p:nvCxnSpPr>
        <p:spPr>
          <a:xfrm>
            <a:off x="10513866" y="6299665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4B7287C-E0BD-E3E2-9D8F-6F212AF87F17}"/>
              </a:ext>
            </a:extLst>
          </p:cNvPr>
          <p:cNvSpPr txBox="1"/>
          <p:nvPr/>
        </p:nvSpPr>
        <p:spPr>
          <a:xfrm rot="621768">
            <a:off x="11698182" y="6231586"/>
            <a:ext cx="92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CE 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5" name="원호 84">
            <a:extLst>
              <a:ext uri="{FF2B5EF4-FFF2-40B4-BE49-F238E27FC236}">
                <a16:creationId xmlns:a16="http://schemas.microsoft.com/office/drawing/2014/main" id="{2559FF91-28A4-65E8-7B65-43CA395CF1CF}"/>
              </a:ext>
            </a:extLst>
          </p:cNvPr>
          <p:cNvSpPr/>
          <p:nvPr/>
        </p:nvSpPr>
        <p:spPr>
          <a:xfrm flipH="1">
            <a:off x="9855820" y="4180490"/>
            <a:ext cx="1104807" cy="533400"/>
          </a:xfrm>
          <a:prstGeom prst="arc">
            <a:avLst>
              <a:gd name="adj1" fmla="val 16200000"/>
              <a:gd name="adj2" fmla="val 5050419"/>
            </a:avLst>
          </a:prstGeom>
          <a:solidFill>
            <a:srgbClr val="FCFBF4"/>
          </a:solidFill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원호 85">
            <a:extLst>
              <a:ext uri="{FF2B5EF4-FFF2-40B4-BE49-F238E27FC236}">
                <a16:creationId xmlns:a16="http://schemas.microsoft.com/office/drawing/2014/main" id="{F1BF3928-6568-8290-F051-91631F1D9B4A}"/>
              </a:ext>
            </a:extLst>
          </p:cNvPr>
          <p:cNvSpPr/>
          <p:nvPr/>
        </p:nvSpPr>
        <p:spPr>
          <a:xfrm>
            <a:off x="13106401" y="5931815"/>
            <a:ext cx="639165" cy="497905"/>
          </a:xfrm>
          <a:prstGeom prst="arc">
            <a:avLst>
              <a:gd name="adj1" fmla="val 16200000"/>
              <a:gd name="adj2" fmla="val 5705367"/>
            </a:avLst>
          </a:prstGeom>
          <a:solidFill>
            <a:srgbClr val="FCFBF4"/>
          </a:solidFill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D7FE72F-5B9D-4C4F-EF1A-D3646B649FCA}"/>
              </a:ext>
            </a:extLst>
          </p:cNvPr>
          <p:cNvSpPr txBox="1"/>
          <p:nvPr/>
        </p:nvSpPr>
        <p:spPr>
          <a:xfrm>
            <a:off x="13576979" y="556488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8</a:t>
            </a:r>
            <a:r>
              <a:rPr lang="ko-KR" altLang="en-US" b="1" dirty="0">
                <a:solidFill>
                  <a:srgbClr val="FF0000"/>
                </a:solidFill>
              </a:rPr>
              <a:t>번 반복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456012-DBF2-F7BA-3EA6-1A41EE159306}"/>
              </a:ext>
            </a:extLst>
          </p:cNvPr>
          <p:cNvSpPr txBox="1"/>
          <p:nvPr/>
        </p:nvSpPr>
        <p:spPr>
          <a:xfrm>
            <a:off x="10960880" y="7693166"/>
            <a:ext cx="203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&lt;SQUENCE CHART&gt;</a:t>
            </a:r>
            <a:endParaRPr lang="ko-KR" altLang="en-US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7062CF7-62EC-12E4-0E99-DA45A254478B}"/>
              </a:ext>
            </a:extLst>
          </p:cNvPr>
          <p:cNvSpPr txBox="1"/>
          <p:nvPr/>
        </p:nvSpPr>
        <p:spPr>
          <a:xfrm>
            <a:off x="1684438" y="2948830"/>
            <a:ext cx="5625647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 sz="2300" b="1" dirty="0"/>
              <a:t>GPIO CE SCK IO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LOW</a:t>
            </a:r>
            <a:r>
              <a:rPr lang="ko-KR" altLang="en-US" sz="2300" b="1" dirty="0"/>
              <a:t>로 설정</a:t>
            </a:r>
          </a:p>
          <a:p>
            <a:pPr>
              <a:buFont typeface="+mj-lt"/>
              <a:buAutoNum type="arabicPeriod"/>
            </a:pPr>
            <a:r>
              <a:rPr lang="en-US" altLang="ko-KR" sz="2300" b="1" dirty="0"/>
              <a:t>CE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HIGH</a:t>
            </a:r>
            <a:r>
              <a:rPr lang="ko-KR" altLang="en-US" sz="2300" b="1" dirty="0"/>
              <a:t>로 설정</a:t>
            </a:r>
          </a:p>
          <a:p>
            <a:pPr>
              <a:buFont typeface="+mj-lt"/>
              <a:buAutoNum type="arabicPeriod"/>
            </a:pPr>
            <a:r>
              <a:rPr lang="en-US" altLang="ko-KR" sz="2300" b="1" dirty="0"/>
              <a:t>COMMAND BIT 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I/O</a:t>
            </a:r>
            <a:r>
              <a:rPr lang="ko-KR" altLang="en-US" sz="2300" b="1" dirty="0"/>
              <a:t>로 </a:t>
            </a:r>
            <a:r>
              <a:rPr lang="en-US" altLang="ko-KR" sz="2300" b="1" dirty="0"/>
              <a:t>WRITE</a:t>
            </a:r>
            <a:r>
              <a:rPr lang="ko-KR" altLang="en-US" sz="2300" b="1" dirty="0"/>
              <a:t>한다</a:t>
            </a:r>
          </a:p>
          <a:p>
            <a:pPr>
              <a:buFont typeface="+mj-lt"/>
              <a:buAutoNum type="arabicPeriod"/>
            </a:pPr>
            <a:r>
              <a:rPr lang="en-US" altLang="ko-KR" sz="2300" b="1" dirty="0"/>
              <a:t>CLK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1</a:t>
            </a:r>
            <a:r>
              <a:rPr lang="ko-KR" altLang="en-US" sz="2300" b="1" dirty="0"/>
              <a:t>번 </a:t>
            </a:r>
            <a:r>
              <a:rPr lang="en-US" altLang="ko-KR" sz="2300" b="1" dirty="0"/>
              <a:t>UP DOWN</a:t>
            </a:r>
            <a:r>
              <a:rPr lang="ko-KR" altLang="en-US" sz="2300" b="1" dirty="0"/>
              <a:t>을 시킨다</a:t>
            </a:r>
            <a:endParaRPr lang="en-US" altLang="ko-KR" sz="2300" b="1" dirty="0"/>
          </a:p>
          <a:p>
            <a:pPr>
              <a:buFont typeface="+mj-lt"/>
              <a:buAutoNum type="arabicPeriod"/>
            </a:pPr>
            <a:endParaRPr lang="ko-KR" altLang="en-US" sz="2300" b="1" dirty="0"/>
          </a:p>
          <a:p>
            <a:r>
              <a:rPr lang="en-US" altLang="ko-KR" sz="2300" b="1" dirty="0">
                <a:solidFill>
                  <a:srgbClr val="00B0F0"/>
                </a:solidFill>
              </a:rPr>
              <a:t>    3</a:t>
            </a:r>
            <a:r>
              <a:rPr lang="ko-KR" altLang="en-US" sz="2300" b="1" dirty="0">
                <a:solidFill>
                  <a:srgbClr val="00B0F0"/>
                </a:solidFill>
              </a:rPr>
              <a:t>번과 </a:t>
            </a:r>
            <a:r>
              <a:rPr lang="en-US" altLang="ko-KR" sz="2300" b="1" dirty="0">
                <a:solidFill>
                  <a:srgbClr val="00B0F0"/>
                </a:solidFill>
              </a:rPr>
              <a:t>4</a:t>
            </a:r>
            <a:r>
              <a:rPr lang="ko-KR" altLang="en-US" sz="2300" b="1" dirty="0">
                <a:solidFill>
                  <a:srgbClr val="00B0F0"/>
                </a:solidFill>
              </a:rPr>
              <a:t>번을 </a:t>
            </a:r>
            <a:r>
              <a:rPr lang="en-US" altLang="ko-KR" sz="2300" b="1" dirty="0">
                <a:solidFill>
                  <a:srgbClr val="00B0F0"/>
                </a:solidFill>
              </a:rPr>
              <a:t>8</a:t>
            </a:r>
            <a:r>
              <a:rPr lang="ko-KR" altLang="en-US" sz="2300" b="1" dirty="0">
                <a:solidFill>
                  <a:srgbClr val="00B0F0"/>
                </a:solidFill>
              </a:rPr>
              <a:t>번 반복하게 한다</a:t>
            </a:r>
            <a:r>
              <a:rPr lang="en-US" altLang="ko-KR" sz="2300" b="1" dirty="0">
                <a:solidFill>
                  <a:srgbClr val="00B0F0"/>
                </a:solidFill>
              </a:rPr>
              <a:t>.</a:t>
            </a:r>
          </a:p>
          <a:p>
            <a:pPr>
              <a:buFont typeface="+mj-lt"/>
              <a:buAutoNum type="arabicPeriod" startAt="5"/>
            </a:pPr>
            <a:endParaRPr lang="en-US" altLang="ko-KR" sz="2300" b="1" dirty="0"/>
          </a:p>
          <a:p>
            <a:pPr>
              <a:buFont typeface="+mj-lt"/>
              <a:buAutoNum type="arabicPeriod" startAt="5"/>
            </a:pPr>
            <a:r>
              <a:rPr lang="en-US" altLang="ko-KR" sz="2300" b="1" dirty="0"/>
              <a:t>DATA</a:t>
            </a:r>
            <a:r>
              <a:rPr lang="ko-KR" altLang="en-US" sz="2300" b="1" dirty="0"/>
              <a:t> </a:t>
            </a:r>
            <a:r>
              <a:rPr lang="en-US" altLang="ko-KR" sz="2300" b="1" dirty="0"/>
              <a:t>1BIT</a:t>
            </a:r>
            <a:r>
              <a:rPr lang="ko-KR" altLang="en-US" sz="2300" b="1" dirty="0"/>
              <a:t>를</a:t>
            </a:r>
            <a:r>
              <a:rPr lang="en-US" altLang="ko-KR" sz="2300" b="1" dirty="0"/>
              <a:t> </a:t>
            </a:r>
            <a:r>
              <a:rPr lang="ko-KR" altLang="en-US" sz="2300" b="1" dirty="0"/>
              <a:t>전송한다</a:t>
            </a:r>
          </a:p>
          <a:p>
            <a:pPr>
              <a:buFont typeface="+mj-lt"/>
              <a:buAutoNum type="arabicPeriod" startAt="5"/>
            </a:pPr>
            <a:r>
              <a:rPr lang="en-US" altLang="ko-KR" sz="2300" b="1" dirty="0"/>
              <a:t>CLK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UP DOWN </a:t>
            </a:r>
            <a:r>
              <a:rPr lang="ko-KR" altLang="en-US" sz="2300" b="1" dirty="0"/>
              <a:t>시킨다</a:t>
            </a:r>
            <a:r>
              <a:rPr lang="en-US" altLang="ko-KR" sz="2300" b="1" dirty="0"/>
              <a:t>.</a:t>
            </a:r>
          </a:p>
          <a:p>
            <a:pPr>
              <a:buFont typeface="+mj-lt"/>
              <a:buAutoNum type="arabicPeriod" startAt="5"/>
            </a:pPr>
            <a:endParaRPr lang="en-US" altLang="ko-KR" sz="2300" b="1" dirty="0"/>
          </a:p>
          <a:p>
            <a:pPr lvl="1"/>
            <a:r>
              <a:rPr lang="en-US" altLang="ko-KR" sz="2300" b="1" dirty="0">
                <a:solidFill>
                  <a:srgbClr val="00B0F0"/>
                </a:solidFill>
              </a:rPr>
              <a:t>6</a:t>
            </a:r>
            <a:r>
              <a:rPr lang="ko-KR" altLang="en-US" sz="2300" b="1" dirty="0">
                <a:solidFill>
                  <a:srgbClr val="00B0F0"/>
                </a:solidFill>
              </a:rPr>
              <a:t>번과 </a:t>
            </a:r>
            <a:r>
              <a:rPr lang="en-US" altLang="ko-KR" sz="2300" b="1" dirty="0">
                <a:solidFill>
                  <a:srgbClr val="00B0F0"/>
                </a:solidFill>
              </a:rPr>
              <a:t>7</a:t>
            </a:r>
            <a:r>
              <a:rPr lang="ko-KR" altLang="en-US" sz="2300" b="1" dirty="0">
                <a:solidFill>
                  <a:srgbClr val="00B0F0"/>
                </a:solidFill>
              </a:rPr>
              <a:t>번을 </a:t>
            </a:r>
            <a:r>
              <a:rPr lang="en-US" altLang="ko-KR" sz="2300" b="1" dirty="0">
                <a:solidFill>
                  <a:srgbClr val="00B0F0"/>
                </a:solidFill>
              </a:rPr>
              <a:t>8</a:t>
            </a:r>
            <a:r>
              <a:rPr lang="ko-KR" altLang="en-US" sz="2300" b="1" dirty="0">
                <a:solidFill>
                  <a:srgbClr val="00B0F0"/>
                </a:solidFill>
              </a:rPr>
              <a:t>번 반복한다</a:t>
            </a:r>
            <a:r>
              <a:rPr lang="en-US" altLang="ko-KR" sz="2300" b="1" dirty="0">
                <a:solidFill>
                  <a:srgbClr val="00B0F0"/>
                </a:solidFill>
              </a:rPr>
              <a:t>.</a:t>
            </a:r>
          </a:p>
          <a:p>
            <a:pPr>
              <a:buFont typeface="+mj-lt"/>
              <a:buAutoNum type="arabicPeriod" startAt="5"/>
            </a:pPr>
            <a:endParaRPr lang="en-US" altLang="ko-KR" sz="2300" b="1" dirty="0"/>
          </a:p>
          <a:p>
            <a:pPr>
              <a:buFont typeface="+mj-lt"/>
              <a:buAutoNum type="arabicPeriod" startAt="5"/>
            </a:pPr>
            <a:r>
              <a:rPr lang="en-US" altLang="ko-KR" sz="2300" b="1" dirty="0"/>
              <a:t>CE</a:t>
            </a:r>
            <a:r>
              <a:rPr lang="ko-KR" altLang="en-US" sz="2300" b="1" dirty="0"/>
              <a:t>를 </a:t>
            </a:r>
            <a:r>
              <a:rPr lang="en-US" altLang="ko-KR" sz="2300" b="1" dirty="0"/>
              <a:t>LOW</a:t>
            </a:r>
            <a:r>
              <a:rPr lang="ko-KR" altLang="en-US" sz="2300" b="1" dirty="0"/>
              <a:t>로 설정</a:t>
            </a:r>
            <a:endParaRPr lang="en-US" altLang="ko-KR" sz="2300" b="1" dirty="0"/>
          </a:p>
          <a:p>
            <a:endParaRPr lang="en-US" altLang="ko-KR" sz="2300" b="1" dirty="0"/>
          </a:p>
          <a:p>
            <a:endParaRPr lang="ko-KR" altLang="en-US" sz="2300" b="1" dirty="0"/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7E977B2F-6963-B5F0-E4B2-02A0A6111065}"/>
              </a:ext>
            </a:extLst>
          </p:cNvPr>
          <p:cNvSpPr txBox="1"/>
          <p:nvPr/>
        </p:nvSpPr>
        <p:spPr>
          <a:xfrm>
            <a:off x="5039602" y="711201"/>
            <a:ext cx="738505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DS1302 WRITE OPERATION PRINCIPLE</a:t>
            </a:r>
            <a:r>
              <a:rPr lang="ko-KR" altLang="en-US" sz="3800" b="1" spc="-100" dirty="0">
                <a:solidFill>
                  <a:srgbClr val="424835"/>
                </a:solidFill>
                <a:ea typeface="Noto Sans CJK KR Bold"/>
              </a:rPr>
              <a:t> </a:t>
            </a:r>
            <a:r>
              <a:rPr lang="en-US" altLang="ko-KR" sz="3800" b="1" spc="-100" dirty="0">
                <a:solidFill>
                  <a:srgbClr val="424835"/>
                </a:solidFill>
                <a:ea typeface="Noto Sans CJK KR Bold"/>
              </a:rPr>
              <a:t> </a:t>
            </a:r>
            <a:endParaRPr lang="ko-KR" altLang="en-US" sz="3800" b="1" spc="-100" dirty="0">
              <a:solidFill>
                <a:srgbClr val="424835"/>
              </a:solidFill>
              <a:ea typeface="Noto Sans CJK KR Bold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E135363-BFFD-4FCC-AD7C-13E541D69EC1}"/>
              </a:ext>
            </a:extLst>
          </p:cNvPr>
          <p:cNvCxnSpPr/>
          <p:nvPr/>
        </p:nvCxnSpPr>
        <p:spPr>
          <a:xfrm>
            <a:off x="10506750" y="5417140"/>
            <a:ext cx="2934114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E759AD-8D6E-C0D3-CF1D-B1331E94B7BF}"/>
              </a:ext>
            </a:extLst>
          </p:cNvPr>
          <p:cNvSpPr txBox="1"/>
          <p:nvPr/>
        </p:nvSpPr>
        <p:spPr>
          <a:xfrm rot="621768">
            <a:off x="11430294" y="5349061"/>
            <a:ext cx="144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DATA 1BIT TX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9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306</Words>
  <Application>Microsoft Office PowerPoint</Application>
  <PresentationFormat>사용자 지정</PresentationFormat>
  <Paragraphs>88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Calibri</vt:lpstr>
      <vt:lpstr>Wingdings</vt:lpstr>
      <vt:lpstr>Noto Sans CJK KR Bold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qaxc9</dc:creator>
  <cp:lastModifiedBy>user</cp:lastModifiedBy>
  <cp:revision>6</cp:revision>
  <dcterms:created xsi:type="dcterms:W3CDTF">2006-08-16T00:00:00Z</dcterms:created>
  <dcterms:modified xsi:type="dcterms:W3CDTF">2026-06-26T02:31:22Z</dcterms:modified>
</cp:coreProperties>
</file>